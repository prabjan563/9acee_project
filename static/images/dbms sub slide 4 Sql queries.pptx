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2"/>
  </p:notesMasterIdLst>
  <p:sldIdLst>
    <p:sldId id="303" r:id="rId2"/>
    <p:sldId id="304" r:id="rId3"/>
    <p:sldId id="357" r:id="rId4"/>
    <p:sldId id="305" r:id="rId5"/>
    <p:sldId id="306" r:id="rId6"/>
    <p:sldId id="307" r:id="rId7"/>
    <p:sldId id="308" r:id="rId8"/>
    <p:sldId id="358" r:id="rId9"/>
    <p:sldId id="309" r:id="rId10"/>
    <p:sldId id="356" r:id="rId11"/>
    <p:sldId id="310" r:id="rId12"/>
    <p:sldId id="353" r:id="rId13"/>
    <p:sldId id="256" r:id="rId14"/>
    <p:sldId id="284" r:id="rId15"/>
    <p:sldId id="285" r:id="rId16"/>
    <p:sldId id="286" r:id="rId17"/>
    <p:sldId id="290" r:id="rId18"/>
    <p:sldId id="291" r:id="rId19"/>
    <p:sldId id="287" r:id="rId20"/>
    <p:sldId id="289" r:id="rId21"/>
    <p:sldId id="288" r:id="rId22"/>
    <p:sldId id="258" r:id="rId23"/>
    <p:sldId id="259" r:id="rId24"/>
    <p:sldId id="260" r:id="rId25"/>
    <p:sldId id="261" r:id="rId26"/>
    <p:sldId id="262" r:id="rId27"/>
    <p:sldId id="266" r:id="rId28"/>
    <p:sldId id="265" r:id="rId29"/>
    <p:sldId id="267" r:id="rId30"/>
    <p:sldId id="268" r:id="rId31"/>
    <p:sldId id="269" r:id="rId32"/>
    <p:sldId id="263" r:id="rId33"/>
    <p:sldId id="264" r:id="rId34"/>
    <p:sldId id="272" r:id="rId35"/>
    <p:sldId id="273" r:id="rId36"/>
    <p:sldId id="274" r:id="rId37"/>
    <p:sldId id="275" r:id="rId38"/>
    <p:sldId id="354" r:id="rId39"/>
    <p:sldId id="355" r:id="rId40"/>
    <p:sldId id="276" r:id="rId41"/>
    <p:sldId id="277" r:id="rId42"/>
    <p:sldId id="278" r:id="rId43"/>
    <p:sldId id="279" r:id="rId44"/>
    <p:sldId id="281" r:id="rId45"/>
    <p:sldId id="282" r:id="rId46"/>
    <p:sldId id="283" r:id="rId47"/>
    <p:sldId id="292" r:id="rId48"/>
    <p:sldId id="293" r:id="rId49"/>
    <p:sldId id="323" r:id="rId50"/>
    <p:sldId id="300" r:id="rId51"/>
    <p:sldId id="301" r:id="rId52"/>
    <p:sldId id="294" r:id="rId53"/>
    <p:sldId id="297" r:id="rId54"/>
    <p:sldId id="313" r:id="rId55"/>
    <p:sldId id="298" r:id="rId56"/>
    <p:sldId id="314" r:id="rId57"/>
    <p:sldId id="299" r:id="rId58"/>
    <p:sldId id="315" r:id="rId59"/>
    <p:sldId id="318" r:id="rId60"/>
    <p:sldId id="312" r:id="rId61"/>
    <p:sldId id="322" r:id="rId62"/>
    <p:sldId id="319" r:id="rId63"/>
    <p:sldId id="320" r:id="rId64"/>
    <p:sldId id="327" r:id="rId65"/>
    <p:sldId id="341" r:id="rId66"/>
    <p:sldId id="329" r:id="rId67"/>
    <p:sldId id="326" r:id="rId68"/>
    <p:sldId id="339" r:id="rId69"/>
    <p:sldId id="324" r:id="rId70"/>
    <p:sldId id="332" r:id="rId71"/>
    <p:sldId id="330" r:id="rId72"/>
    <p:sldId id="344" r:id="rId73"/>
    <p:sldId id="345" r:id="rId74"/>
    <p:sldId id="346" r:id="rId75"/>
    <p:sldId id="325" r:id="rId76"/>
    <p:sldId id="340" r:id="rId77"/>
    <p:sldId id="334" r:id="rId78"/>
    <p:sldId id="343" r:id="rId79"/>
    <p:sldId id="347" r:id="rId80"/>
    <p:sldId id="348" r:id="rId81"/>
    <p:sldId id="335" r:id="rId82"/>
    <p:sldId id="337" r:id="rId83"/>
    <p:sldId id="338" r:id="rId84"/>
    <p:sldId id="349" r:id="rId85"/>
    <p:sldId id="350" r:id="rId86"/>
    <p:sldId id="351" r:id="rId87"/>
    <p:sldId id="352" r:id="rId88"/>
    <p:sldId id="333" r:id="rId89"/>
    <p:sldId id="336" r:id="rId90"/>
    <p:sldId id="342"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660"/>
  </p:normalViewPr>
  <p:slideViewPr>
    <p:cSldViewPr snapToGrid="0">
      <p:cViewPr varScale="1">
        <p:scale>
          <a:sx n="73" d="100"/>
          <a:sy n="73" d="100"/>
        </p:scale>
        <p:origin x="5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168A8-4DED-4AC5-A025-3BCB24337E64}"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C93D2-3C6D-49ED-97EA-38BD9ECD93E8}" type="slidenum">
              <a:rPr lang="en-US" smtClean="0"/>
              <a:t>‹#›</a:t>
            </a:fld>
            <a:endParaRPr lang="en-US"/>
          </a:p>
        </p:txBody>
      </p:sp>
    </p:spTree>
    <p:extLst>
      <p:ext uri="{BB962C8B-B14F-4D97-AF65-F5344CB8AC3E}">
        <p14:creationId xmlns:p14="http://schemas.microsoft.com/office/powerpoint/2010/main" val="851465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0C3AA79-837D-47CE-A6F5-F41E9A8CD05F}" type="datetime1">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1490488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7EFC429-5E51-46A2-823A-477593FC1FFC}" type="datetime1">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1797050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A2F5B8A-308D-4F9E-A23A-AE785716E3D7}" type="datetime1">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816996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3B5D137-9789-4C29-8B14-53A8E4DAC8EE}" type="datetime1">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1255556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9E19C8-82E7-47C6-A168-7903B43F01F1}" type="datetime1">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3991431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15E1F35-41CE-475F-BF1D-90DF15740419}" type="datetime1">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2359754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DD73BE-B0C3-401F-9538-F8564F440CF5}" type="datetime1">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745747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AB7085-FFE6-4AA9-829B-A4D4715DDA4D}" type="datetime1">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2708160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60F5A-F277-417F-AE33-F7B4BCCB35E5}" type="datetime1">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3010473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C438A5-76F2-4269-9119-68D8527D029A}" type="datetime1">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672159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F250CB-A076-4E4A-AC49-6FAF23A6D453}" type="datetime1">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2AE8BD-B2ED-4107-811B-DAE9CC0E64B8}" type="slidenum">
              <a:rPr lang="en-US" smtClean="0"/>
              <a:t>‹#›</a:t>
            </a:fld>
            <a:endParaRPr lang="en-US"/>
          </a:p>
        </p:txBody>
      </p:sp>
    </p:spTree>
    <p:extLst>
      <p:ext uri="{BB962C8B-B14F-4D97-AF65-F5344CB8AC3E}">
        <p14:creationId xmlns:p14="http://schemas.microsoft.com/office/powerpoint/2010/main" val="181963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E062F3-66FA-4D06-8502-AA8A35CFE7A9}" type="datetime1">
              <a:rPr lang="en-US" smtClean="0"/>
              <a:t>11/23/2025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2AE8BD-B2ED-4107-811B-DAE9CC0E64B8}" type="slidenum">
              <a:rPr lang="en-US" smtClean="0"/>
              <a:t>‹#›</a:t>
            </a:fld>
            <a:endParaRPr lang="en-US"/>
          </a:p>
        </p:txBody>
      </p:sp>
    </p:spTree>
    <p:extLst>
      <p:ext uri="{BB962C8B-B14F-4D97-AF65-F5344CB8AC3E}">
        <p14:creationId xmlns:p14="http://schemas.microsoft.com/office/powerpoint/2010/main" val="29229755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w3schools.com/sql/sql_unique.asp" TargetMode="External"/><Relationship Id="rId7" Type="http://schemas.openxmlformats.org/officeDocument/2006/relationships/hyperlink" Target="https://www.w3schools.com/sql/sql_default.asp" TargetMode="External"/><Relationship Id="rId2" Type="http://schemas.openxmlformats.org/officeDocument/2006/relationships/hyperlink" Target="https://www.w3schools.com/sql/sql_notnull.asp" TargetMode="External"/><Relationship Id="rId1" Type="http://schemas.openxmlformats.org/officeDocument/2006/relationships/slideLayout" Target="../slideLayouts/slideLayout2.xml"/><Relationship Id="rId6" Type="http://schemas.openxmlformats.org/officeDocument/2006/relationships/hyperlink" Target="https://www.w3schools.com/sql/sql_check.asp" TargetMode="External"/><Relationship Id="rId5" Type="http://schemas.openxmlformats.org/officeDocument/2006/relationships/hyperlink" Target="https://www.w3schools.com/sql/sql_foreignkey.asp" TargetMode="External"/><Relationship Id="rId4" Type="http://schemas.openxmlformats.org/officeDocument/2006/relationships/hyperlink" Target="https://www.w3schools.com/sql/sql_primarykey.as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79.xml.rels><?xml version="1.0" encoding="UTF-8" standalone="yes"?>
<Relationships xmlns="http://schemas.openxmlformats.org/package/2006/relationships"><Relationship Id="rId2" Type="http://schemas.openxmlformats.org/officeDocument/2006/relationships/hyperlink" Target="https://www.sqltutorial.org/sql-select/"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8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latin typeface="Times New Roman" panose="02020603050405020304" pitchFamily="18" charset="0"/>
                <a:cs typeface="Times New Roman" panose="02020603050405020304" pitchFamily="18" charset="0"/>
              </a:rPr>
              <a:t>Integrity constraints</a:t>
            </a: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9300" y="1589088"/>
            <a:ext cx="10515600" cy="4351338"/>
          </a:xfrm>
          <a:ln w="28575">
            <a:solidFill>
              <a:schemeClr val="tx1"/>
            </a:solidFill>
          </a:ln>
        </p:spPr>
        <p:txBody>
          <a:bodyPr>
            <a:normAutofit/>
          </a:bodyPr>
          <a:lstStyle/>
          <a:p>
            <a:pPr>
              <a:lnSpc>
                <a:spcPct val="100000"/>
              </a:lnSpc>
            </a:pPr>
            <a:r>
              <a:rPr lang="en-US" sz="2400" dirty="0">
                <a:latin typeface="Times New Roman" panose="02020603050405020304" pitchFamily="18" charset="0"/>
                <a:cs typeface="Times New Roman" panose="02020603050405020304" pitchFamily="18" charset="0"/>
              </a:rPr>
              <a:t>Integrity constraints are a set of rules. It is used to maintain the quality of information</a:t>
            </a:r>
            <a:r>
              <a:rPr lang="en-US" sz="2400" dirty="0" smtClean="0">
                <a:latin typeface="Times New Roman" panose="02020603050405020304" pitchFamily="18" charset="0"/>
                <a:cs typeface="Times New Roman" panose="02020603050405020304" pitchFamily="18" charset="0"/>
              </a:rPr>
              <a:t>.</a:t>
            </a:r>
          </a:p>
          <a:p>
            <a:pPr marL="0" indent="0">
              <a:lnSpc>
                <a:spcPct val="100000"/>
              </a:lnSpc>
              <a:buNone/>
            </a:pPr>
            <a:endParaRPr lang="en-US" sz="2400" dirty="0">
              <a:latin typeface="Times New Roman" panose="02020603050405020304" pitchFamily="18" charset="0"/>
              <a:cs typeface="Times New Roman" panose="02020603050405020304" pitchFamily="18" charset="0"/>
            </a:endParaRPr>
          </a:p>
          <a:p>
            <a:pPr>
              <a:lnSpc>
                <a:spcPct val="100000"/>
              </a:lnSpc>
            </a:pPr>
            <a:r>
              <a:rPr lang="en-US" sz="2400" dirty="0">
                <a:latin typeface="Times New Roman" panose="02020603050405020304" pitchFamily="18" charset="0"/>
                <a:cs typeface="Times New Roman" panose="02020603050405020304" pitchFamily="18" charset="0"/>
              </a:rPr>
              <a:t>Integrity constraints ensure that the data insertion, updating, and other processes have to be performed in such a way that data integrity is not affected.</a:t>
            </a:r>
          </a:p>
          <a:p>
            <a:pPr>
              <a:lnSpc>
                <a:spcPct val="10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93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89355"/>
          </a:xfrm>
        </p:spPr>
        <p:txBody>
          <a:bodyPr>
            <a:normAutofit/>
          </a:bodyPr>
          <a:lstStyle/>
          <a:p>
            <a:r>
              <a:rPr lang="en-US" sz="2800" b="1" dirty="0" smtClean="0">
                <a:latin typeface="Times New Roman" panose="02020603050405020304" pitchFamily="18" charset="0"/>
                <a:cs typeface="Times New Roman" panose="02020603050405020304" pitchFamily="18" charset="0"/>
              </a:rPr>
              <a:t>Types of integrity constraints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7300"/>
            <a:ext cx="10515600" cy="4919663"/>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1. Domain constraints</a:t>
            </a:r>
          </a:p>
          <a:p>
            <a:r>
              <a:rPr lang="en-US" sz="2400" dirty="0">
                <a:latin typeface="Times New Roman" panose="02020603050405020304" pitchFamily="18" charset="0"/>
                <a:cs typeface="Times New Roman" panose="02020603050405020304" pitchFamily="18" charset="0"/>
              </a:rPr>
              <a:t>Domain constraints can be defined as the definition of a valid set of values for an attribute</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Like phone number should be of 10 digits ,age is integer.</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170622" y="3402330"/>
            <a:ext cx="6924675" cy="3162300"/>
          </a:xfrm>
          <a:prstGeom prst="rect">
            <a:avLst/>
          </a:prstGeom>
        </p:spPr>
      </p:pic>
    </p:spTree>
    <p:extLst>
      <p:ext uri="{BB962C8B-B14F-4D97-AF65-F5344CB8AC3E}">
        <p14:creationId xmlns:p14="http://schemas.microsoft.com/office/powerpoint/2010/main" val="7368714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3</a:t>
            </a:fld>
            <a:endParaRPr lang="en-US"/>
          </a:p>
        </p:txBody>
      </p:sp>
      <p:pic>
        <p:nvPicPr>
          <p:cNvPr id="3" name="Picture 2"/>
          <p:cNvPicPr>
            <a:picLocks noChangeAspect="1"/>
          </p:cNvPicPr>
          <p:nvPr/>
        </p:nvPicPr>
        <p:blipFill>
          <a:blip r:embed="rId2"/>
          <a:stretch>
            <a:fillRect/>
          </a:stretch>
        </p:blipFill>
        <p:spPr>
          <a:xfrm>
            <a:off x="736600" y="619125"/>
            <a:ext cx="6934200" cy="2495550"/>
          </a:xfrm>
          <a:prstGeom prst="rect">
            <a:avLst/>
          </a:prstGeom>
        </p:spPr>
      </p:pic>
      <p:pic>
        <p:nvPicPr>
          <p:cNvPr id="4" name="Picture 3"/>
          <p:cNvPicPr>
            <a:picLocks noChangeAspect="1"/>
          </p:cNvPicPr>
          <p:nvPr/>
        </p:nvPicPr>
        <p:blipFill>
          <a:blip r:embed="rId3"/>
          <a:stretch>
            <a:fillRect/>
          </a:stretch>
        </p:blipFill>
        <p:spPr>
          <a:xfrm>
            <a:off x="736600" y="3526835"/>
            <a:ext cx="4721951" cy="2390775"/>
          </a:xfrm>
          <a:prstGeom prst="rect">
            <a:avLst/>
          </a:prstGeom>
        </p:spPr>
      </p:pic>
      <p:pic>
        <p:nvPicPr>
          <p:cNvPr id="5" name="Picture 4"/>
          <p:cNvPicPr>
            <a:picLocks noChangeAspect="1"/>
          </p:cNvPicPr>
          <p:nvPr/>
        </p:nvPicPr>
        <p:blipFill>
          <a:blip r:embed="rId4"/>
          <a:stretch>
            <a:fillRect/>
          </a:stretch>
        </p:blipFill>
        <p:spPr>
          <a:xfrm>
            <a:off x="5846445" y="3918313"/>
            <a:ext cx="4705350" cy="1790700"/>
          </a:xfrm>
          <a:prstGeom prst="rect">
            <a:avLst/>
          </a:prstGeom>
        </p:spPr>
      </p:pic>
      <p:pic>
        <p:nvPicPr>
          <p:cNvPr id="6" name="Picture 5"/>
          <p:cNvPicPr>
            <a:picLocks noChangeAspect="1"/>
          </p:cNvPicPr>
          <p:nvPr/>
        </p:nvPicPr>
        <p:blipFill>
          <a:blip r:embed="rId5"/>
          <a:stretch>
            <a:fillRect/>
          </a:stretch>
        </p:blipFill>
        <p:spPr>
          <a:xfrm>
            <a:off x="7158446" y="619125"/>
            <a:ext cx="4545874" cy="2495550"/>
          </a:xfrm>
          <a:prstGeom prst="rect">
            <a:avLst/>
          </a:prstGeom>
        </p:spPr>
      </p:pic>
    </p:spTree>
    <p:extLst>
      <p:ext uri="{BB962C8B-B14F-4D97-AF65-F5344CB8AC3E}">
        <p14:creationId xmlns:p14="http://schemas.microsoft.com/office/powerpoint/2010/main" val="985169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8531"/>
            <a:ext cx="10515600" cy="5027432"/>
          </a:xfrm>
        </p:spPr>
        <p:txBody>
          <a:bodyPr/>
          <a:lstStyle/>
          <a:p>
            <a:pPr marL="0" indent="0">
              <a:buNone/>
            </a:pPr>
            <a:r>
              <a:rPr lang="en-US"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Entity integrity </a:t>
            </a:r>
            <a:r>
              <a:rPr lang="en-US" b="1" dirty="0" smtClean="0">
                <a:latin typeface="Times New Roman" panose="02020603050405020304" pitchFamily="18" charset="0"/>
                <a:cs typeface="Times New Roman" panose="02020603050405020304" pitchFamily="18" charset="0"/>
              </a:rPr>
              <a:t>constraints</a:t>
            </a:r>
          </a:p>
          <a:p>
            <a:pPr marL="0" indent="0">
              <a:buNone/>
            </a:pPr>
            <a:endParaRPr lang="en-US" b="1" dirty="0">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entity integrity constraint states that primary key value can't be null.</a:t>
            </a:r>
          </a:p>
          <a:p>
            <a:pPr>
              <a:lnSpc>
                <a:spcPct val="20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This is because the primary key value is used to identify individual rows in relation and if the primary key has a null value, then we can't identify those rows.</a:t>
            </a:r>
          </a:p>
          <a:p>
            <a:pPr>
              <a:lnSpc>
                <a:spcPct val="20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 table can contain a null value other than the primary key field</a:t>
            </a: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26334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37806" y="1201783"/>
            <a:ext cx="7929154" cy="3503567"/>
          </a:xfrm>
          <a:prstGeom prst="rect">
            <a:avLst/>
          </a:prstGeom>
        </p:spPr>
      </p:pic>
    </p:spTree>
    <p:extLst>
      <p:ext uri="{BB962C8B-B14F-4D97-AF65-F5344CB8AC3E}">
        <p14:creationId xmlns:p14="http://schemas.microsoft.com/office/powerpoint/2010/main" val="27813978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4583"/>
            <a:ext cx="10515600" cy="5432380"/>
          </a:xfrm>
          <a:ln w="28575">
            <a:solidFill>
              <a:schemeClr val="tx1"/>
            </a:solidFill>
          </a:ln>
        </p:spPr>
        <p:txBody>
          <a:bodyPr/>
          <a:lstStyle/>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Referential Integrity </a:t>
            </a:r>
            <a:r>
              <a:rPr lang="en-US" b="1" dirty="0" smtClean="0">
                <a:latin typeface="Times New Roman" panose="02020603050405020304" pitchFamily="18" charset="0"/>
                <a:cs typeface="Times New Roman" panose="02020603050405020304" pitchFamily="18" charset="0"/>
              </a:rPr>
              <a:t>Constraints</a:t>
            </a:r>
          </a:p>
          <a:p>
            <a:pPr marL="0" indent="0">
              <a:buNone/>
            </a:pP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referential integrity constraint is specified between two tables.</a:t>
            </a:r>
          </a:p>
          <a:p>
            <a:r>
              <a:rPr lang="en-US" dirty="0">
                <a:latin typeface="Times New Roman" panose="02020603050405020304" pitchFamily="18" charset="0"/>
                <a:cs typeface="Times New Roman" panose="02020603050405020304" pitchFamily="18" charset="0"/>
              </a:rPr>
              <a:t>In the Referential integrity constraints, if a foreign key in Table 1 refers to the Primary Key of Table 2, then every value of the Foreign Key in Table 1 must be null or be available in Table 2.</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59759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045029" y="339635"/>
            <a:ext cx="9966959" cy="6348548"/>
          </a:xfrm>
          <a:prstGeom prst="rect">
            <a:avLst/>
          </a:prstGeom>
        </p:spPr>
      </p:pic>
    </p:spTree>
    <p:extLst>
      <p:ext uri="{BB962C8B-B14F-4D97-AF65-F5344CB8AC3E}">
        <p14:creationId xmlns:p14="http://schemas.microsoft.com/office/powerpoint/2010/main" val="13473670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22AE8BD-B2ED-4107-811B-DAE9CC0E64B8}" type="slidenum">
              <a:rPr lang="en-US" smtClean="0"/>
              <a:t>8</a:t>
            </a:fld>
            <a:endParaRPr lang="en-US"/>
          </a:p>
        </p:txBody>
      </p:sp>
      <p:pic>
        <p:nvPicPr>
          <p:cNvPr id="5" name="Picture 4"/>
          <p:cNvPicPr>
            <a:picLocks noChangeAspect="1"/>
          </p:cNvPicPr>
          <p:nvPr/>
        </p:nvPicPr>
        <p:blipFill>
          <a:blip r:embed="rId2"/>
          <a:stretch>
            <a:fillRect/>
          </a:stretch>
        </p:blipFill>
        <p:spPr>
          <a:xfrm>
            <a:off x="1282699" y="749300"/>
            <a:ext cx="8540569" cy="4222750"/>
          </a:xfrm>
          <a:prstGeom prst="rect">
            <a:avLst/>
          </a:prstGeom>
        </p:spPr>
      </p:pic>
    </p:spTree>
    <p:extLst>
      <p:ext uri="{BB962C8B-B14F-4D97-AF65-F5344CB8AC3E}">
        <p14:creationId xmlns:p14="http://schemas.microsoft.com/office/powerpoint/2010/main" val="917734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2960"/>
            <a:ext cx="10515600" cy="5354003"/>
          </a:xfrm>
        </p:spPr>
        <p:txBody>
          <a:bodyPr/>
          <a:lstStyle/>
          <a:p>
            <a:pPr marL="0" indent="0">
              <a:buNone/>
            </a:pPr>
            <a:r>
              <a:rPr lang="en-US" sz="2400" b="1" dirty="0">
                <a:latin typeface="Times New Roman" panose="02020603050405020304" pitchFamily="18" charset="0"/>
                <a:cs typeface="Times New Roman" panose="02020603050405020304" pitchFamily="18" charset="0"/>
              </a:rPr>
              <a:t>4. Key constraints</a:t>
            </a:r>
          </a:p>
          <a:p>
            <a:pPr>
              <a:lnSpc>
                <a:spcPct val="150000"/>
              </a:lnSpc>
            </a:pPr>
            <a:r>
              <a:rPr lang="en-US" sz="2400" dirty="0">
                <a:latin typeface="Times New Roman" panose="02020603050405020304" pitchFamily="18" charset="0"/>
                <a:cs typeface="Times New Roman" panose="02020603050405020304" pitchFamily="18" charset="0"/>
              </a:rPr>
              <a:t>An </a:t>
            </a:r>
            <a:r>
              <a:rPr lang="en-US" sz="2400" dirty="0" smtClean="0">
                <a:latin typeface="Times New Roman" panose="02020603050405020304" pitchFamily="18" charset="0"/>
                <a:cs typeface="Times New Roman" panose="02020603050405020304" pitchFamily="18" charset="0"/>
              </a:rPr>
              <a:t>table can have multiple keys, </a:t>
            </a:r>
            <a:r>
              <a:rPr lang="en-US" sz="2400" dirty="0">
                <a:latin typeface="Times New Roman" panose="02020603050405020304" pitchFamily="18" charset="0"/>
                <a:cs typeface="Times New Roman" panose="02020603050405020304" pitchFamily="18" charset="0"/>
              </a:rPr>
              <a:t>but out of which one key will be the primary key. A primary key can contain a unique </a:t>
            </a:r>
            <a:r>
              <a:rPr lang="en-US" sz="2400" dirty="0" smtClean="0">
                <a:latin typeface="Times New Roman" panose="02020603050405020304" pitchFamily="18" charset="0"/>
                <a:cs typeface="Times New Roman" panose="02020603050405020304" pitchFamily="18" charset="0"/>
              </a:rPr>
              <a:t>value </a:t>
            </a:r>
            <a:r>
              <a:rPr lang="en-US" sz="2400" dirty="0">
                <a:latin typeface="Times New Roman" panose="02020603050405020304" pitchFamily="18" charset="0"/>
                <a:cs typeface="Times New Roman" panose="02020603050405020304" pitchFamily="18" charset="0"/>
              </a:rPr>
              <a:t>in the relational table.</a:t>
            </a:r>
          </a:p>
          <a:p>
            <a:pPr marL="0" indent="0">
              <a:buNone/>
            </a:pPr>
            <a:endParaRPr lang="en-US" dirty="0"/>
          </a:p>
        </p:txBody>
      </p:sp>
      <p:pic>
        <p:nvPicPr>
          <p:cNvPr id="4" name="Picture 3"/>
          <p:cNvPicPr>
            <a:picLocks noChangeAspect="1"/>
          </p:cNvPicPr>
          <p:nvPr/>
        </p:nvPicPr>
        <p:blipFill>
          <a:blip r:embed="rId2"/>
          <a:stretch>
            <a:fillRect/>
          </a:stretch>
        </p:blipFill>
        <p:spPr>
          <a:xfrm>
            <a:off x="1110343" y="2612571"/>
            <a:ext cx="8164286" cy="2941683"/>
          </a:xfrm>
          <a:prstGeom prst="rect">
            <a:avLst/>
          </a:prstGeom>
        </p:spPr>
      </p:pic>
    </p:spTree>
    <p:extLst>
      <p:ext uri="{BB962C8B-B14F-4D97-AF65-F5344CB8AC3E}">
        <p14:creationId xmlns:p14="http://schemas.microsoft.com/office/powerpoint/2010/main" val="26474483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10</a:t>
            </a:fld>
            <a:endParaRPr lang="en-US"/>
          </a:p>
        </p:txBody>
      </p:sp>
      <p:pic>
        <p:nvPicPr>
          <p:cNvPr id="3" name="Picture 2"/>
          <p:cNvPicPr>
            <a:picLocks noChangeAspect="1"/>
          </p:cNvPicPr>
          <p:nvPr/>
        </p:nvPicPr>
        <p:blipFill>
          <a:blip r:embed="rId2"/>
          <a:stretch>
            <a:fillRect/>
          </a:stretch>
        </p:blipFill>
        <p:spPr>
          <a:xfrm>
            <a:off x="622300" y="901700"/>
            <a:ext cx="9385300" cy="4046537"/>
          </a:xfrm>
          <a:prstGeom prst="rect">
            <a:avLst/>
          </a:prstGeom>
        </p:spPr>
      </p:pic>
    </p:spTree>
    <p:extLst>
      <p:ext uri="{BB962C8B-B14F-4D97-AF65-F5344CB8AC3E}">
        <p14:creationId xmlns:p14="http://schemas.microsoft.com/office/powerpoint/2010/main" val="1688335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4046" y="2173014"/>
            <a:ext cx="6096000" cy="1754326"/>
          </a:xfrm>
          <a:prstGeom prst="rect">
            <a:avLst/>
          </a:prstGeom>
        </p:spPr>
        <p:txBody>
          <a:bodyPr>
            <a:spAutoFit/>
          </a:bodyPr>
          <a:lstStyle/>
          <a:p>
            <a:r>
              <a:rPr lang="en-US" dirty="0">
                <a:solidFill>
                  <a:srgbClr val="0000CD"/>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TABLE</a:t>
            </a:r>
            <a:r>
              <a:rPr lang="en-US" dirty="0">
                <a:solidFill>
                  <a:srgbClr val="000000"/>
                </a:solidFill>
                <a:latin typeface="Consolas" panose="020B0609020204030204" pitchFamily="49" charset="0"/>
              </a:rPr>
              <a:t> Persons (</a:t>
            </a:r>
            <a:r>
              <a:rPr lang="en-US" dirty="0"/>
              <a:t/>
            </a:r>
            <a:br>
              <a:rPr lang="en-US" dirty="0"/>
            </a:br>
            <a:r>
              <a:rPr lang="en-US" dirty="0">
                <a:solidFill>
                  <a:srgbClr val="000000"/>
                </a:solidFill>
                <a:latin typeface="Consolas" panose="020B0609020204030204" pitchFamily="49" charset="0"/>
              </a:rPr>
              <a:t>    ID </a:t>
            </a:r>
            <a:r>
              <a:rPr lang="en-US" dirty="0" err="1">
                <a:solidFill>
                  <a:srgbClr val="000000"/>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NOT</a:t>
            </a: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NULL</a:t>
            </a: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PRIMARY</a:t>
            </a: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KEY</a:t>
            </a:r>
            <a:r>
              <a:rPr lang="en-US" dirty="0">
                <a:solidFill>
                  <a:srgbClr val="000000"/>
                </a:solidFill>
                <a:latin typeface="Consolas" panose="020B0609020204030204" pitchFamily="49" charset="0"/>
              </a:rPr>
              <a:t>,</a:t>
            </a:r>
            <a:r>
              <a:rPr lang="en-US" dirty="0"/>
              <a:t/>
            </a:r>
            <a:br>
              <a:rPr lang="en-US" dirty="0"/>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LastName</a:t>
            </a:r>
            <a:r>
              <a:rPr lang="en-US" dirty="0">
                <a:solidFill>
                  <a:srgbClr val="000000"/>
                </a:solidFill>
                <a:latin typeface="Consolas" panose="020B0609020204030204" pitchFamily="49" charset="0"/>
              </a:rPr>
              <a:t> varchar(</a:t>
            </a:r>
            <a:r>
              <a:rPr lang="en-US" dirty="0">
                <a:solidFill>
                  <a:srgbClr val="FF0000"/>
                </a:solidFill>
                <a:latin typeface="Consolas" panose="020B0609020204030204" pitchFamily="49" charset="0"/>
              </a:rPr>
              <a:t>255</a:t>
            </a: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NOT</a:t>
            </a: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NULL</a:t>
            </a:r>
            <a:r>
              <a:rPr lang="en-US" dirty="0">
                <a:solidFill>
                  <a:srgbClr val="000000"/>
                </a:solidFill>
                <a:latin typeface="Consolas" panose="020B0609020204030204" pitchFamily="49" charset="0"/>
              </a:rPr>
              <a:t>,</a:t>
            </a:r>
            <a:r>
              <a:rPr lang="en-US" dirty="0"/>
              <a:t/>
            </a:r>
            <a:br>
              <a:rPr lang="en-US" dirty="0"/>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FirstName</a:t>
            </a:r>
            <a:r>
              <a:rPr lang="en-US" dirty="0">
                <a:solidFill>
                  <a:srgbClr val="000000"/>
                </a:solidFill>
                <a:latin typeface="Consolas" panose="020B0609020204030204" pitchFamily="49" charset="0"/>
              </a:rPr>
              <a:t> varchar(</a:t>
            </a:r>
            <a:r>
              <a:rPr lang="en-US" dirty="0">
                <a:solidFill>
                  <a:srgbClr val="FF0000"/>
                </a:solidFill>
                <a:latin typeface="Consolas" panose="020B0609020204030204" pitchFamily="49" charset="0"/>
              </a:rPr>
              <a:t>255</a:t>
            </a:r>
            <a:r>
              <a:rPr lang="en-US" dirty="0">
                <a:solidFill>
                  <a:srgbClr val="000000"/>
                </a:solidFill>
                <a:latin typeface="Consolas" panose="020B0609020204030204" pitchFamily="49" charset="0"/>
              </a:rPr>
              <a:t>),</a:t>
            </a:r>
            <a:r>
              <a:rPr lang="en-US" dirty="0"/>
              <a:t/>
            </a:r>
            <a:br>
              <a:rPr lang="en-US" dirty="0"/>
            </a:br>
            <a:r>
              <a:rPr lang="en-US" dirty="0">
                <a:solidFill>
                  <a:srgbClr val="000000"/>
                </a:solidFill>
                <a:latin typeface="Consolas" panose="020B0609020204030204" pitchFamily="49" charset="0"/>
              </a:rPr>
              <a:t>    Age </a:t>
            </a:r>
            <a:r>
              <a:rPr lang="en-US" dirty="0" err="1">
                <a:solidFill>
                  <a:srgbClr val="000000"/>
                </a:solidFill>
                <a:latin typeface="Consolas" panose="020B0609020204030204" pitchFamily="49" charset="0"/>
              </a:rPr>
              <a:t>int</a:t>
            </a:r>
            <a:r>
              <a:rPr lang="en-US" dirty="0"/>
              <a:t/>
            </a:r>
            <a:br>
              <a:rPr lang="en-US" dirty="0"/>
            </a:br>
            <a:r>
              <a:rPr lang="en-US" dirty="0">
                <a:solidFill>
                  <a:srgbClr val="000000"/>
                </a:solidFill>
                <a:latin typeface="Consolas" panose="020B0609020204030204" pitchFamily="49" charset="0"/>
              </a:rPr>
              <a:t>);</a:t>
            </a:r>
            <a:endParaRPr lang="en-US" dirty="0"/>
          </a:p>
        </p:txBody>
      </p:sp>
    </p:spTree>
    <p:extLst>
      <p:ext uri="{BB962C8B-B14F-4D97-AF65-F5344CB8AC3E}">
        <p14:creationId xmlns:p14="http://schemas.microsoft.com/office/powerpoint/2010/main" val="6665902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12</a:t>
            </a:fld>
            <a:endParaRPr lang="en-US"/>
          </a:p>
        </p:txBody>
      </p:sp>
      <p:pic>
        <p:nvPicPr>
          <p:cNvPr id="3" name="Picture 2"/>
          <p:cNvPicPr>
            <a:picLocks noChangeAspect="1"/>
          </p:cNvPicPr>
          <p:nvPr/>
        </p:nvPicPr>
        <p:blipFill>
          <a:blip r:embed="rId2"/>
          <a:stretch>
            <a:fillRect/>
          </a:stretch>
        </p:blipFill>
        <p:spPr>
          <a:xfrm>
            <a:off x="836023" y="499290"/>
            <a:ext cx="10032274" cy="5215709"/>
          </a:xfrm>
          <a:prstGeom prst="rect">
            <a:avLst/>
          </a:prstGeom>
        </p:spPr>
      </p:pic>
    </p:spTree>
    <p:extLst>
      <p:ext uri="{BB962C8B-B14F-4D97-AF65-F5344CB8AC3E}">
        <p14:creationId xmlns:p14="http://schemas.microsoft.com/office/powerpoint/2010/main" val="4124249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Sql</a:t>
            </a:r>
            <a:r>
              <a:rPr lang="en-US" dirty="0" smtClean="0"/>
              <a:t> queries</a:t>
            </a:r>
            <a:endParaRPr lang="en-US" dirty="0"/>
          </a:p>
        </p:txBody>
      </p:sp>
      <p:sp>
        <p:nvSpPr>
          <p:cNvPr id="3" name="Subtitle 2"/>
          <p:cNvSpPr>
            <a:spLocks noGrp="1"/>
          </p:cNvSpPr>
          <p:nvPr>
            <p:ph type="subTitle" idx="1"/>
          </p:nvPr>
        </p:nvSpPr>
        <p:spPr/>
        <p:txBody>
          <a:bodyPr/>
          <a:lstStyle/>
          <a:p>
            <a:r>
              <a:rPr lang="en-US" dirty="0" smtClean="0"/>
              <a:t>Chapter   4</a:t>
            </a: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13</a:t>
            </a:fld>
            <a:endParaRPr lang="en-US"/>
          </a:p>
        </p:txBody>
      </p:sp>
    </p:spTree>
    <p:extLst>
      <p:ext uri="{BB962C8B-B14F-4D97-AF65-F5344CB8AC3E}">
        <p14:creationId xmlns:p14="http://schemas.microsoft.com/office/powerpoint/2010/main" val="21311001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58875"/>
          </a:xfrm>
          <a:solidFill>
            <a:schemeClr val="accent1">
              <a:lumMod val="20000"/>
              <a:lumOff val="80000"/>
            </a:schemeClr>
          </a:solidFill>
        </p:spPr>
        <p:txBody>
          <a:bodyPr>
            <a:normAutofit fontScale="90000"/>
          </a:bodyPr>
          <a:lstStyle/>
          <a:p>
            <a:r>
              <a:rPr lang="en-US" dirty="0">
                <a:latin typeface="Times New Roman" panose="02020603050405020304" pitchFamily="18" charset="0"/>
                <a:cs typeface="Times New Roman" panose="02020603050405020304" pitchFamily="18" charset="0"/>
              </a:rPr>
              <a:t>What is SQL?</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ln w="38100">
            <a:solidFill>
              <a:schemeClr val="accent2"/>
            </a:solidFill>
          </a:ln>
        </p:spPr>
        <p:txBody>
          <a:bodyPr/>
          <a:lstStyle/>
          <a:p>
            <a:pPr>
              <a:lnSpc>
                <a:spcPct val="200000"/>
              </a:lnSpc>
            </a:pPr>
            <a:r>
              <a:rPr lang="en-US" sz="2400" dirty="0">
                <a:latin typeface="Times New Roman" panose="02020603050405020304" pitchFamily="18" charset="0"/>
                <a:cs typeface="Times New Roman" panose="02020603050405020304" pitchFamily="18" charset="0"/>
              </a:rPr>
              <a:t>SQL stands for Structured Query </a:t>
            </a:r>
            <a:r>
              <a:rPr lang="en-US" sz="2400" dirty="0" smtClean="0">
                <a:latin typeface="Times New Roman" panose="02020603050405020304" pitchFamily="18" charset="0"/>
                <a:cs typeface="Times New Roman" panose="02020603050405020304" pitchFamily="18" charset="0"/>
              </a:rPr>
              <a:t>Language.</a:t>
            </a:r>
            <a:endParaRPr lang="en-US" sz="2400" dirty="0">
              <a:latin typeface="Times New Roman" panose="02020603050405020304" pitchFamily="18" charset="0"/>
              <a:cs typeface="Times New Roman" panose="02020603050405020304" pitchFamily="18" charset="0"/>
            </a:endParaRPr>
          </a:p>
          <a:p>
            <a:pPr>
              <a:lnSpc>
                <a:spcPct val="200000"/>
              </a:lnSpc>
            </a:pPr>
            <a:r>
              <a:rPr lang="en-US" sz="2400" dirty="0">
                <a:latin typeface="Times New Roman" panose="02020603050405020304" pitchFamily="18" charset="0"/>
                <a:cs typeface="Times New Roman" panose="02020603050405020304" pitchFamily="18" charset="0"/>
              </a:rPr>
              <a:t>SQL lets you access and manipulate </a:t>
            </a:r>
            <a:r>
              <a:rPr lang="en-US" sz="2400" dirty="0" smtClean="0">
                <a:latin typeface="Times New Roman" panose="02020603050405020304" pitchFamily="18" charset="0"/>
                <a:cs typeface="Times New Roman" panose="02020603050405020304" pitchFamily="18" charset="0"/>
              </a:rPr>
              <a:t>databases.</a:t>
            </a:r>
            <a:endParaRPr lang="en-US" sz="2400" dirty="0">
              <a:latin typeface="Times New Roman" panose="02020603050405020304" pitchFamily="18" charset="0"/>
              <a:cs typeface="Times New Roman" panose="02020603050405020304" pitchFamily="18" charset="0"/>
            </a:endParaRPr>
          </a:p>
          <a:p>
            <a:pPr>
              <a:lnSpc>
                <a:spcPct val="200000"/>
              </a:lnSpc>
            </a:pPr>
            <a:r>
              <a:rPr lang="en-US" sz="2400" dirty="0">
                <a:latin typeface="Times New Roman" panose="02020603050405020304" pitchFamily="18" charset="0"/>
                <a:cs typeface="Times New Roman" panose="02020603050405020304" pitchFamily="18" charset="0"/>
              </a:rPr>
              <a:t>SQL became a standard of the American National Standards Institute (ANSI) in 1986, and of the International Organization for Standardization (ISO) in </a:t>
            </a:r>
            <a:r>
              <a:rPr lang="en-US" sz="2400" dirty="0" smtClean="0">
                <a:latin typeface="Times New Roman" panose="02020603050405020304" pitchFamily="18" charset="0"/>
                <a:cs typeface="Times New Roman" panose="02020603050405020304" pitchFamily="18" charset="0"/>
              </a:rPr>
              <a:t>1987.</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14</a:t>
            </a:fld>
            <a:endParaRPr lang="en-US"/>
          </a:p>
        </p:txBody>
      </p:sp>
    </p:spTree>
    <p:extLst>
      <p:ext uri="{BB962C8B-B14F-4D97-AF65-F5344CB8AC3E}">
        <p14:creationId xmlns:p14="http://schemas.microsoft.com/office/powerpoint/2010/main" val="36477482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5598"/>
          </a:xfrm>
          <a:solidFill>
            <a:srgbClr val="99FF99"/>
          </a:solidFill>
        </p:spPr>
        <p:txBody>
          <a:bodyPr>
            <a:normAutofit fontScale="90000"/>
          </a:bodyPr>
          <a:lstStyle/>
          <a:p>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What </a:t>
            </a:r>
            <a:r>
              <a:rPr lang="en-US" sz="2400" dirty="0">
                <a:latin typeface="Times New Roman" panose="02020603050405020304" pitchFamily="18" charset="0"/>
                <a:cs typeface="Times New Roman" panose="02020603050405020304" pitchFamily="18" charset="0"/>
              </a:rPr>
              <a:t>Can SQL do?</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68383" y="1263286"/>
            <a:ext cx="10515600" cy="5275626"/>
          </a:xfrm>
          <a:ln w="38100">
            <a:solidFill>
              <a:schemeClr val="tx1"/>
            </a:solidFill>
          </a:ln>
        </p:spPr>
        <p:txBody>
          <a:bodyPr>
            <a:noAutofit/>
          </a:bodyPr>
          <a:lstStyle/>
          <a:p>
            <a:r>
              <a:rPr lang="en-US" sz="2400" dirty="0">
                <a:latin typeface="Times New Roman" panose="02020603050405020304" pitchFamily="18" charset="0"/>
                <a:cs typeface="Times New Roman" panose="02020603050405020304" pitchFamily="18" charset="0"/>
              </a:rPr>
              <a:t>SQL can execute queries against a database</a:t>
            </a:r>
          </a:p>
          <a:p>
            <a:r>
              <a:rPr lang="en-US" sz="2400" dirty="0">
                <a:latin typeface="Times New Roman" panose="02020603050405020304" pitchFamily="18" charset="0"/>
                <a:cs typeface="Times New Roman" panose="02020603050405020304" pitchFamily="18" charset="0"/>
              </a:rPr>
              <a:t>SQL can retrieve data from a database</a:t>
            </a:r>
          </a:p>
          <a:p>
            <a:r>
              <a:rPr lang="en-US" sz="2400" dirty="0">
                <a:latin typeface="Times New Roman" panose="02020603050405020304" pitchFamily="18" charset="0"/>
                <a:cs typeface="Times New Roman" panose="02020603050405020304" pitchFamily="18" charset="0"/>
              </a:rPr>
              <a:t>SQL can insert records in a database</a:t>
            </a:r>
          </a:p>
          <a:p>
            <a:r>
              <a:rPr lang="en-US" sz="2400" dirty="0">
                <a:latin typeface="Times New Roman" panose="02020603050405020304" pitchFamily="18" charset="0"/>
                <a:cs typeface="Times New Roman" panose="02020603050405020304" pitchFamily="18" charset="0"/>
              </a:rPr>
              <a:t>SQL can update records in a database</a:t>
            </a:r>
          </a:p>
          <a:p>
            <a:r>
              <a:rPr lang="en-US" sz="2400" dirty="0">
                <a:latin typeface="Times New Roman" panose="02020603050405020304" pitchFamily="18" charset="0"/>
                <a:cs typeface="Times New Roman" panose="02020603050405020304" pitchFamily="18" charset="0"/>
              </a:rPr>
              <a:t>SQL can delete records from a database</a:t>
            </a:r>
          </a:p>
          <a:p>
            <a:r>
              <a:rPr lang="en-US" sz="2400" dirty="0">
                <a:latin typeface="Times New Roman" panose="02020603050405020304" pitchFamily="18" charset="0"/>
                <a:cs typeface="Times New Roman" panose="02020603050405020304" pitchFamily="18" charset="0"/>
              </a:rPr>
              <a:t>SQL can create new databases</a:t>
            </a:r>
          </a:p>
          <a:p>
            <a:r>
              <a:rPr lang="en-US" sz="2400" dirty="0">
                <a:latin typeface="Times New Roman" panose="02020603050405020304" pitchFamily="18" charset="0"/>
                <a:cs typeface="Times New Roman" panose="02020603050405020304" pitchFamily="18" charset="0"/>
              </a:rPr>
              <a:t>SQL can create new tables in a database</a:t>
            </a:r>
          </a:p>
          <a:p>
            <a:r>
              <a:rPr lang="en-US" sz="2400" dirty="0">
                <a:latin typeface="Times New Roman" panose="02020603050405020304" pitchFamily="18" charset="0"/>
                <a:cs typeface="Times New Roman" panose="02020603050405020304" pitchFamily="18" charset="0"/>
              </a:rPr>
              <a:t>SQL can create stored procedures in a database</a:t>
            </a:r>
          </a:p>
          <a:p>
            <a:r>
              <a:rPr lang="en-US" sz="2400" dirty="0">
                <a:latin typeface="Times New Roman" panose="02020603050405020304" pitchFamily="18" charset="0"/>
                <a:cs typeface="Times New Roman" panose="02020603050405020304" pitchFamily="18" charset="0"/>
              </a:rPr>
              <a:t>SQL can create views in a database</a:t>
            </a:r>
          </a:p>
          <a:p>
            <a:r>
              <a:rPr lang="en-US" sz="2400" dirty="0">
                <a:latin typeface="Times New Roman" panose="02020603050405020304" pitchFamily="18" charset="0"/>
                <a:cs typeface="Times New Roman" panose="02020603050405020304" pitchFamily="18" charset="0"/>
              </a:rPr>
              <a:t>SQL can set permissions on tables, procedures, and views</a:t>
            </a:r>
          </a:p>
          <a:p>
            <a:pPr marL="0" indent="0">
              <a:buNone/>
            </a:pP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15</a:t>
            </a:fld>
            <a:endParaRPr lang="en-US"/>
          </a:p>
        </p:txBody>
      </p:sp>
    </p:spTree>
    <p:extLst>
      <p:ext uri="{BB962C8B-B14F-4D97-AF65-F5344CB8AC3E}">
        <p14:creationId xmlns:p14="http://schemas.microsoft.com/office/powerpoint/2010/main" val="17976065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SQL CREATE TABLE Statement</a:t>
            </a:r>
            <a:br>
              <a:rPr lang="en-US" dirty="0"/>
            </a:br>
            <a:endParaRPr lang="en-US" dirty="0"/>
          </a:p>
        </p:txBody>
      </p:sp>
      <p:sp>
        <p:nvSpPr>
          <p:cNvPr id="5" name="Rectangle 1"/>
          <p:cNvSpPr>
            <a:spLocks noGrp="1" noChangeArrowheads="1"/>
          </p:cNvSpPr>
          <p:nvPr>
            <p:ph idx="1"/>
          </p:nvPr>
        </p:nvSpPr>
        <p:spPr bwMode="auto">
          <a:xfrm>
            <a:off x="859760" y="1521411"/>
            <a:ext cx="77508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Verdana" panose="020B0604030504040204" pitchFamily="34" charset="0"/>
              </a:rPr>
              <a:t>The </a:t>
            </a:r>
            <a:r>
              <a:rPr kumimoji="0" lang="en-US" altLang="en-US" sz="1600" b="0" i="0" u="none" strike="noStrike" cap="none" normalizeH="0" baseline="0" dirty="0" smtClean="0">
                <a:ln>
                  <a:noFill/>
                </a:ln>
                <a:solidFill>
                  <a:srgbClr val="DC143C"/>
                </a:solidFill>
                <a:effectLst/>
                <a:latin typeface="Consolas" panose="020B0609020204030204" pitchFamily="49" charset="0"/>
              </a:rPr>
              <a:t>CREATE TABLE</a:t>
            </a:r>
            <a:r>
              <a:rPr kumimoji="0" lang="en-US" altLang="en-US" sz="1600" b="0" i="0" u="none" strike="noStrike" cap="none" normalizeH="0" baseline="0" dirty="0" smtClean="0">
                <a:ln>
                  <a:noFill/>
                </a:ln>
                <a:solidFill>
                  <a:srgbClr val="000000"/>
                </a:solidFill>
                <a:effectLst/>
                <a:latin typeface="Verdana" panose="020B0604030504040204" pitchFamily="34" charset="0"/>
              </a:rPr>
              <a:t> statement is used to create a new table in a database.</a:t>
            </a:r>
            <a:r>
              <a:rPr kumimoji="0" lang="en-US" altLang="en-US" sz="1600" b="0" i="0" u="none" strike="noStrike" cap="none" normalizeH="0" baseline="0" dirty="0" smtClean="0">
                <a:ln>
                  <a:noFill/>
                </a:ln>
                <a:solidFill>
                  <a:schemeClr val="tx1"/>
                </a:solidFill>
                <a:effectLst/>
                <a:latin typeface="Times New Roman" panose="02020603050405020304" pitchFamily="18" charset="0"/>
              </a:rPr>
              <a:t> </a:t>
            </a:r>
            <a:endParaRPr kumimoji="0" lang="en-US" altLang="en-US" b="0" i="0" u="none" strike="noStrike" cap="none" normalizeH="0" baseline="0" dirty="0" smtClean="0">
              <a:ln>
                <a:noFill/>
              </a:ln>
              <a:solidFill>
                <a:schemeClr val="tx1"/>
              </a:solidFill>
              <a:effectLst/>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16</a:t>
            </a:fld>
            <a:endParaRPr lang="en-US"/>
          </a:p>
        </p:txBody>
      </p:sp>
      <p:sp>
        <p:nvSpPr>
          <p:cNvPr id="6" name="TextBox 5"/>
          <p:cNvSpPr txBox="1"/>
          <p:nvPr/>
        </p:nvSpPr>
        <p:spPr>
          <a:xfrm>
            <a:off x="1267097" y="2481943"/>
            <a:ext cx="5425803" cy="2031325"/>
          </a:xfrm>
          <a:prstGeom prst="rect">
            <a:avLst/>
          </a:prstGeom>
          <a:noFill/>
        </p:spPr>
        <p:txBody>
          <a:bodyPr wrap="square" rtlCol="0">
            <a:spAutoFit/>
          </a:bodyPr>
          <a:lstStyle/>
          <a:p>
            <a:r>
              <a:rPr lang="en-US" dirty="0"/>
              <a:t>CREATE TABLE Persons (</a:t>
            </a:r>
            <a:r>
              <a:rPr lang="en-US" dirty="0" smtClean="0"/>
              <a:t/>
            </a:r>
            <a:br>
              <a:rPr lang="en-US" dirty="0" smtClean="0"/>
            </a:br>
            <a:r>
              <a:rPr lang="en-US" dirty="0"/>
              <a:t>    </a:t>
            </a:r>
            <a:r>
              <a:rPr lang="en-US" dirty="0" err="1"/>
              <a:t>PersonID</a:t>
            </a:r>
            <a:r>
              <a:rPr lang="en-US" dirty="0"/>
              <a:t> </a:t>
            </a:r>
            <a:r>
              <a:rPr lang="en-US" dirty="0" err="1" smtClean="0"/>
              <a:t>int</a:t>
            </a:r>
            <a:r>
              <a:rPr lang="en-US" dirty="0" smtClean="0"/>
              <a:t>  primary key,</a:t>
            </a:r>
            <a:br>
              <a:rPr lang="en-US" dirty="0" smtClean="0"/>
            </a:br>
            <a:r>
              <a:rPr lang="en-US" dirty="0"/>
              <a:t>    </a:t>
            </a:r>
            <a:r>
              <a:rPr lang="en-US" dirty="0" err="1"/>
              <a:t>LastName</a:t>
            </a:r>
            <a:r>
              <a:rPr lang="en-US" dirty="0"/>
              <a:t> varchar(255),</a:t>
            </a:r>
            <a:r>
              <a:rPr lang="en-US" dirty="0" smtClean="0"/>
              <a:t/>
            </a:r>
            <a:br>
              <a:rPr lang="en-US" dirty="0" smtClean="0"/>
            </a:br>
            <a:r>
              <a:rPr lang="en-US" dirty="0"/>
              <a:t>    </a:t>
            </a:r>
            <a:r>
              <a:rPr lang="en-US" dirty="0" err="1"/>
              <a:t>FirstName</a:t>
            </a:r>
            <a:r>
              <a:rPr lang="en-US" dirty="0"/>
              <a:t> varchar(255</a:t>
            </a:r>
            <a:r>
              <a:rPr lang="en-US" dirty="0" smtClean="0"/>
              <a:t>) not null,</a:t>
            </a:r>
            <a:br>
              <a:rPr lang="en-US" dirty="0" smtClean="0"/>
            </a:br>
            <a:r>
              <a:rPr lang="en-US" dirty="0"/>
              <a:t>    Address varchar(255),</a:t>
            </a:r>
            <a:r>
              <a:rPr lang="en-US" dirty="0" smtClean="0"/>
              <a:t/>
            </a:r>
            <a:br>
              <a:rPr lang="en-US" dirty="0" smtClean="0"/>
            </a:br>
            <a:r>
              <a:rPr lang="en-US" dirty="0"/>
              <a:t>    City varchar(255)</a:t>
            </a:r>
            <a:r>
              <a:rPr lang="en-US" dirty="0" smtClean="0"/>
              <a:t/>
            </a:r>
            <a:br>
              <a:rPr lang="en-US" dirty="0" smtClean="0"/>
            </a:br>
            <a:r>
              <a:rPr lang="en-US" dirty="0"/>
              <a:t>);</a:t>
            </a:r>
          </a:p>
        </p:txBody>
      </p:sp>
    </p:spTree>
    <p:extLst>
      <p:ext uri="{BB962C8B-B14F-4D97-AF65-F5344CB8AC3E}">
        <p14:creationId xmlns:p14="http://schemas.microsoft.com/office/powerpoint/2010/main" val="40767235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3251" y="412846"/>
            <a:ext cx="11323319" cy="846220"/>
          </a:xfrm>
          <a:solidFill>
            <a:srgbClr val="99FF99"/>
          </a:solidFill>
        </p:spPr>
        <p:txBody>
          <a:bodyPr>
            <a:normAutofit fontScale="92500" lnSpcReduction="10000"/>
          </a:bodyPr>
          <a:lstStyle/>
          <a:p>
            <a:pPr marL="0" indent="0">
              <a:buNone/>
            </a:pPr>
            <a:endParaRPr lang="en-US" dirty="0" smtClean="0"/>
          </a:p>
          <a:p>
            <a:pPr marL="0" indent="0">
              <a:buNone/>
            </a:pPr>
            <a:r>
              <a:rPr lang="en-US" sz="2600" b="1" dirty="0" smtClean="0">
                <a:latin typeface="Times New Roman" panose="02020603050405020304" pitchFamily="18" charset="0"/>
                <a:cs typeface="Times New Roman" panose="02020603050405020304" pitchFamily="18" charset="0"/>
              </a:rPr>
              <a:t>SQL </a:t>
            </a:r>
            <a:r>
              <a:rPr lang="en-US" sz="2600" b="1" dirty="0">
                <a:latin typeface="Times New Roman" panose="02020603050405020304" pitchFamily="18" charset="0"/>
                <a:cs typeface="Times New Roman" panose="02020603050405020304" pitchFamily="18" charset="0"/>
              </a:rPr>
              <a:t>Constraints</a:t>
            </a:r>
          </a:p>
          <a:p>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17</a:t>
            </a:fld>
            <a:endParaRPr lang="en-US"/>
          </a:p>
        </p:txBody>
      </p:sp>
      <p:sp>
        <p:nvSpPr>
          <p:cNvPr id="7" name="Rectangle 2"/>
          <p:cNvSpPr>
            <a:spLocks noChangeArrowheads="1"/>
          </p:cNvSpPr>
          <p:nvPr/>
        </p:nvSpPr>
        <p:spPr bwMode="auto">
          <a:xfrm>
            <a:off x="433252" y="1259066"/>
            <a:ext cx="11323319" cy="440120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endParaRPr lang="en-US" sz="2000" dirty="0" smtClean="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000" dirty="0" smtClean="0">
                <a:latin typeface="Times New Roman" panose="02020603050405020304" pitchFamily="18" charset="0"/>
                <a:cs typeface="Times New Roman" panose="02020603050405020304" pitchFamily="18" charset="0"/>
              </a:rPr>
              <a:t>SQL </a:t>
            </a:r>
            <a:r>
              <a:rPr lang="en-US" sz="2000" dirty="0">
                <a:latin typeface="Times New Roman" panose="02020603050405020304" pitchFamily="18" charset="0"/>
                <a:cs typeface="Times New Roman" panose="02020603050405020304" pitchFamily="18" charset="0"/>
              </a:rPr>
              <a:t>constraints are used to specify rules for the data in a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hlinkClick r:id="rId2"/>
              </a:rPr>
              <a:t>NOT NULL</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 Ensures that a column cannot have a NULL value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hlinkClick r:id="rId3"/>
              </a:rPr>
              <a:t>UNIQUE</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 Ensures that all values in a column are different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hlinkClick r:id="rId4"/>
              </a:rPr>
              <a:t>PRIMARY KEY</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 A combination of a </a:t>
            </a: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NOT NULL</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UNIQUE</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Uniquely identifies each row in a table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hlinkClick r:id="rId5"/>
              </a:rPr>
              <a:t>FOREIGN KEY</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 Prevents actions that would destroy links between tables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hlinkClick r:id="rId6"/>
              </a:rPr>
              <a:t>CHECK</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 Ensures that the values in a column satisfies a specific condition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hlinkClick r:id="rId7"/>
              </a:rPr>
              <a:t>DEFAULT</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 Sets a default value for a column if no value is specified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92753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18</a:t>
            </a:fld>
            <a:endParaRPr lang="en-US"/>
          </a:p>
        </p:txBody>
      </p:sp>
      <p:sp>
        <p:nvSpPr>
          <p:cNvPr id="3" name="TextBox 2"/>
          <p:cNvSpPr txBox="1"/>
          <p:nvPr/>
        </p:nvSpPr>
        <p:spPr>
          <a:xfrm>
            <a:off x="979713" y="1436913"/>
            <a:ext cx="6792686" cy="3046988"/>
          </a:xfrm>
          <a:prstGeom prst="rect">
            <a:avLst/>
          </a:prstGeom>
          <a:noFill/>
        </p:spPr>
        <p:txBody>
          <a:bodyPr wrap="square" rtlCol="0">
            <a:spAutoFit/>
          </a:bodyPr>
          <a:lstStyle/>
          <a:p>
            <a:r>
              <a:rPr lang="en-US" sz="2400" dirty="0"/>
              <a:t>CREATE TABLE Orders (</a:t>
            </a:r>
            <a:r>
              <a:rPr lang="en-US" sz="2400" dirty="0" smtClean="0"/>
              <a:t/>
            </a:r>
            <a:br>
              <a:rPr lang="en-US" sz="2400" dirty="0" smtClean="0"/>
            </a:br>
            <a:r>
              <a:rPr lang="en-US" sz="2400" dirty="0"/>
              <a:t>    </a:t>
            </a:r>
            <a:r>
              <a:rPr lang="en-US" sz="2400" dirty="0" err="1"/>
              <a:t>OrderID</a:t>
            </a:r>
            <a:r>
              <a:rPr lang="en-US" sz="2400" dirty="0"/>
              <a:t> </a:t>
            </a:r>
            <a:r>
              <a:rPr lang="en-US" sz="2400" dirty="0" err="1"/>
              <a:t>int</a:t>
            </a:r>
            <a:r>
              <a:rPr lang="en-US" sz="2400" dirty="0"/>
              <a:t> NOT NULL,</a:t>
            </a:r>
            <a:r>
              <a:rPr lang="en-US" sz="2400" dirty="0" smtClean="0"/>
              <a:t/>
            </a:r>
            <a:br>
              <a:rPr lang="en-US" sz="2400" dirty="0" smtClean="0"/>
            </a:br>
            <a:r>
              <a:rPr lang="en-US" sz="2400" dirty="0"/>
              <a:t>    </a:t>
            </a:r>
            <a:r>
              <a:rPr lang="en-US" sz="2400" dirty="0" err="1"/>
              <a:t>OrderNumber</a:t>
            </a:r>
            <a:r>
              <a:rPr lang="en-US" sz="2400" dirty="0"/>
              <a:t> </a:t>
            </a:r>
            <a:r>
              <a:rPr lang="en-US" sz="2400" dirty="0" err="1"/>
              <a:t>int</a:t>
            </a:r>
            <a:r>
              <a:rPr lang="en-US" sz="2400" dirty="0"/>
              <a:t> NOT NULL,</a:t>
            </a:r>
            <a:r>
              <a:rPr lang="en-US" sz="2400" dirty="0" smtClean="0"/>
              <a:t/>
            </a:r>
            <a:br>
              <a:rPr lang="en-US" sz="2400" dirty="0" smtClean="0"/>
            </a:br>
            <a:r>
              <a:rPr lang="en-US" sz="2400" dirty="0"/>
              <a:t>    </a:t>
            </a:r>
            <a:r>
              <a:rPr lang="en-US" sz="2400" dirty="0" err="1"/>
              <a:t>PersonID</a:t>
            </a:r>
            <a:r>
              <a:rPr lang="en-US" sz="2400" dirty="0"/>
              <a:t> </a:t>
            </a:r>
            <a:r>
              <a:rPr lang="en-US" sz="2400" dirty="0" err="1"/>
              <a:t>int</a:t>
            </a:r>
            <a:r>
              <a:rPr lang="en-US" sz="2400" dirty="0"/>
              <a:t>,</a:t>
            </a:r>
            <a:r>
              <a:rPr lang="en-US" sz="2400" dirty="0" smtClean="0"/>
              <a:t/>
            </a:r>
            <a:br>
              <a:rPr lang="en-US" sz="2400" dirty="0" smtClean="0"/>
            </a:br>
            <a:r>
              <a:rPr lang="en-US" sz="2400" dirty="0"/>
              <a:t>    PRIMARY KEY (</a:t>
            </a:r>
            <a:r>
              <a:rPr lang="en-US" sz="2400" dirty="0" err="1"/>
              <a:t>OrderID</a:t>
            </a:r>
            <a:r>
              <a:rPr lang="en-US" sz="2400" dirty="0"/>
              <a:t>),</a:t>
            </a:r>
            <a:r>
              <a:rPr lang="en-US" sz="2400" dirty="0" smtClean="0"/>
              <a:t/>
            </a:r>
            <a:br>
              <a:rPr lang="en-US" sz="2400" dirty="0" smtClean="0"/>
            </a:br>
            <a:r>
              <a:rPr lang="en-US" sz="2400" dirty="0"/>
              <a:t>    FOREIGN KEY (</a:t>
            </a:r>
            <a:r>
              <a:rPr lang="en-US" sz="2400" dirty="0" err="1"/>
              <a:t>PersonID</a:t>
            </a:r>
            <a:r>
              <a:rPr lang="en-US" sz="2400" dirty="0"/>
              <a:t>) REFERENCES Persons(</a:t>
            </a:r>
            <a:r>
              <a:rPr lang="en-US" sz="2400" dirty="0" err="1"/>
              <a:t>PersonID</a:t>
            </a:r>
            <a:r>
              <a:rPr lang="en-US" sz="2400" dirty="0"/>
              <a:t>)</a:t>
            </a:r>
            <a:r>
              <a:rPr lang="en-US" sz="2400" dirty="0" smtClean="0"/>
              <a:t/>
            </a:r>
            <a:br>
              <a:rPr lang="en-US" sz="2400" dirty="0" smtClean="0"/>
            </a:br>
            <a:r>
              <a:rPr lang="en-US" sz="2400" dirty="0"/>
              <a:t>);</a:t>
            </a:r>
          </a:p>
        </p:txBody>
      </p:sp>
    </p:spTree>
    <p:extLst>
      <p:ext uri="{BB962C8B-B14F-4D97-AF65-F5344CB8AC3E}">
        <p14:creationId xmlns:p14="http://schemas.microsoft.com/office/powerpoint/2010/main" val="11780952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idx="1"/>
          </p:nvPr>
        </p:nvSpPr>
        <p:spPr bwMode="auto">
          <a:xfrm>
            <a:off x="838200" y="748556"/>
            <a:ext cx="4374531" cy="5488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sng" strike="noStrike" cap="none" normalizeH="0" baseline="0" dirty="0" smtClean="0">
                <a:ln>
                  <a:noFill/>
                </a:ln>
                <a:solidFill>
                  <a:srgbClr val="00000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The SQL DROP TABLE Statement</a:t>
            </a:r>
          </a:p>
        </p:txBody>
      </p:sp>
      <p:sp>
        <p:nvSpPr>
          <p:cNvPr id="4" name="Slide Number Placeholder 3"/>
          <p:cNvSpPr>
            <a:spLocks noGrp="1"/>
          </p:cNvSpPr>
          <p:nvPr>
            <p:ph type="sldNum" sz="quarter" idx="12"/>
          </p:nvPr>
        </p:nvSpPr>
        <p:spPr/>
        <p:txBody>
          <a:bodyPr/>
          <a:lstStyle/>
          <a:p>
            <a:fld id="{922AE8BD-B2ED-4107-811B-DAE9CC0E64B8}" type="slidenum">
              <a:rPr lang="en-US" smtClean="0"/>
              <a:t>19</a:t>
            </a:fld>
            <a:endParaRPr lang="en-US"/>
          </a:p>
        </p:txBody>
      </p:sp>
      <p:sp>
        <p:nvSpPr>
          <p:cNvPr id="7" name="Rectangle 2"/>
          <p:cNvSpPr>
            <a:spLocks noChangeArrowheads="1"/>
          </p:cNvSpPr>
          <p:nvPr/>
        </p:nvSpPr>
        <p:spPr bwMode="auto">
          <a:xfrm>
            <a:off x="838200" y="1530773"/>
            <a:ext cx="10515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rPr>
              <a:t>The </a:t>
            </a:r>
            <a:r>
              <a:rPr kumimoji="0" lang="en-US" altLang="en-US" sz="2000" b="0" i="0" u="none" strike="noStrike" cap="none" normalizeH="0" baseline="0" dirty="0" smtClean="0">
                <a:ln>
                  <a:noFill/>
                </a:ln>
                <a:solidFill>
                  <a:srgbClr val="DC143C"/>
                </a:solidFill>
                <a:effectLst/>
                <a:latin typeface="Consolas" panose="020B0609020204030204" pitchFamily="49" charset="0"/>
              </a:rPr>
              <a:t>DROP TABLE</a:t>
            </a:r>
            <a:r>
              <a:rPr kumimoji="0" lang="en-US" altLang="en-US" sz="2000" b="0" i="0" u="none" strike="noStrike" cap="none" normalizeH="0" baseline="0" dirty="0" smtClean="0">
                <a:ln>
                  <a:noFill/>
                </a:ln>
                <a:solidFill>
                  <a:srgbClr val="000000"/>
                </a:solidFill>
                <a:effectLst/>
                <a:latin typeface="Verdana" panose="020B0604030504040204" pitchFamily="34" charset="0"/>
              </a:rPr>
              <a:t> statement is used to drop an existing table in a database.</a:t>
            </a:r>
            <a:r>
              <a:rPr kumimoji="0" lang="en-US" altLang="en-US" sz="2000" b="0" i="0" u="none" strike="noStrike" cap="none" normalizeH="0" baseline="0" dirty="0" smtClean="0">
                <a:ln>
                  <a:noFill/>
                </a:ln>
                <a:solidFill>
                  <a:schemeClr val="tx1"/>
                </a:solidFill>
                <a:effectLst/>
                <a:latin typeface="Times New Roman" panose="02020603050405020304" pitchFamily="18" charset="0"/>
              </a:rPr>
              <a:t> </a:t>
            </a:r>
            <a:endParaRPr kumimoji="0" lang="en-US" altLang="en-US" sz="3600" b="0" i="0" u="none" strike="noStrike" cap="none" normalizeH="0" baseline="0" dirty="0" smtClean="0">
              <a:ln>
                <a:noFill/>
              </a:ln>
              <a:solidFill>
                <a:schemeClr val="tx1"/>
              </a:solidFill>
              <a:effectLst/>
              <a:latin typeface="Times New Roman" panose="02020603050405020304" pitchFamily="18" charset="0"/>
            </a:endParaRPr>
          </a:p>
        </p:txBody>
      </p:sp>
      <p:sp>
        <p:nvSpPr>
          <p:cNvPr id="8" name="TextBox 7"/>
          <p:cNvSpPr txBox="1"/>
          <p:nvPr/>
        </p:nvSpPr>
        <p:spPr>
          <a:xfrm>
            <a:off x="838200" y="2507632"/>
            <a:ext cx="4091615" cy="1200329"/>
          </a:xfrm>
          <a:prstGeom prst="rect">
            <a:avLst/>
          </a:prstGeom>
          <a:noFill/>
        </p:spPr>
        <p:txBody>
          <a:bodyPr wrap="square" rtlCol="0">
            <a:spAutoFit/>
          </a:bodyPr>
          <a:lstStyle/>
          <a:p>
            <a:r>
              <a:rPr lang="en-US" sz="2400" u="sng" dirty="0">
                <a:effectLst>
                  <a:outerShdw blurRad="38100" dist="38100" dir="2700000" algn="tl">
                    <a:srgbClr val="000000">
                      <a:alpha val="43137"/>
                    </a:srgbClr>
                  </a:outerShdw>
                </a:effectLst>
              </a:rPr>
              <a:t>SQL TRUNCATE </a:t>
            </a:r>
            <a:r>
              <a:rPr lang="en-US" sz="2400" u="sng" dirty="0" smtClean="0">
                <a:effectLst>
                  <a:outerShdw blurRad="38100" dist="38100" dir="2700000" algn="tl">
                    <a:srgbClr val="000000">
                      <a:alpha val="43137"/>
                    </a:srgbClr>
                  </a:outerShdw>
                </a:effectLst>
              </a:rPr>
              <a:t>TABLE</a:t>
            </a:r>
          </a:p>
          <a:p>
            <a:endParaRPr lang="en-US" sz="2400" dirty="0"/>
          </a:p>
          <a:p>
            <a:endParaRPr lang="en-US" sz="2400" dirty="0"/>
          </a:p>
        </p:txBody>
      </p:sp>
      <p:sp>
        <p:nvSpPr>
          <p:cNvPr id="9" name="Rectangle 3"/>
          <p:cNvSpPr>
            <a:spLocks noChangeArrowheads="1"/>
          </p:cNvSpPr>
          <p:nvPr/>
        </p:nvSpPr>
        <p:spPr bwMode="auto">
          <a:xfrm>
            <a:off x="642257" y="3356191"/>
            <a:ext cx="79683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Verdana" panose="020B0604030504040204" pitchFamily="34" charset="0"/>
              </a:rPr>
              <a:t>The </a:t>
            </a:r>
            <a:r>
              <a:rPr kumimoji="0" lang="en-US" altLang="en-US" b="0" i="0" u="none" strike="noStrike" cap="none" normalizeH="0" baseline="0" dirty="0" smtClean="0">
                <a:ln>
                  <a:noFill/>
                </a:ln>
                <a:solidFill>
                  <a:srgbClr val="DC143C"/>
                </a:solidFill>
                <a:effectLst/>
                <a:latin typeface="Consolas" panose="020B0609020204030204" pitchFamily="49" charset="0"/>
              </a:rPr>
              <a:t>TRUNCATE TABLE</a:t>
            </a:r>
            <a:r>
              <a:rPr kumimoji="0" lang="en-US" altLang="en-US" b="0" i="0" u="none" strike="noStrike" cap="none" normalizeH="0" baseline="0" dirty="0" smtClean="0">
                <a:ln>
                  <a:noFill/>
                </a:ln>
                <a:solidFill>
                  <a:srgbClr val="000000"/>
                </a:solidFill>
                <a:effectLst/>
                <a:latin typeface="Verdana" panose="020B0604030504040204" pitchFamily="34" charset="0"/>
              </a:rPr>
              <a:t> statement is used to delete the data inside a table, but not the table itself.</a:t>
            </a:r>
            <a:r>
              <a:rPr kumimoji="0" lang="en-US" altLang="en-US" b="0" i="0" u="none" strike="noStrike" cap="none" normalizeH="0" baseline="0" dirty="0" smtClean="0">
                <a:ln>
                  <a:noFill/>
                </a:ln>
                <a:solidFill>
                  <a:schemeClr val="tx1"/>
                </a:solidFill>
                <a:effectLst/>
                <a:latin typeface="Times New Roman" panose="02020603050405020304" pitchFamily="18" charset="0"/>
              </a:rPr>
              <a:t> </a:t>
            </a:r>
            <a:endParaRPr kumimoji="0" lang="en-US" altLang="en-US" sz="3200" b="0" i="0" u="none" strike="noStrike" cap="none" normalizeH="0" baseline="0" dirty="0" smtClean="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11546155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173789" cy="956231"/>
          </a:xfrm>
        </p:spPr>
        <p:txBody>
          <a:bodyPr>
            <a:normAutofit fontScale="90000"/>
          </a:bodyPr>
          <a:lstStyle/>
          <a:p>
            <a:r>
              <a:rPr lang="en-US" dirty="0"/>
              <a:t>SQL Constraints</a:t>
            </a:r>
            <a:br>
              <a:rPr lang="en-US" dirty="0"/>
            </a:br>
            <a:endParaRPr lang="en-US" dirty="0"/>
          </a:p>
        </p:txBody>
      </p:sp>
      <p:sp>
        <p:nvSpPr>
          <p:cNvPr id="5" name="Rectangle 1"/>
          <p:cNvSpPr>
            <a:spLocks noGrp="1" noChangeArrowheads="1"/>
          </p:cNvSpPr>
          <p:nvPr>
            <p:ph idx="1"/>
          </p:nvPr>
        </p:nvSpPr>
        <p:spPr bwMode="auto">
          <a:xfrm>
            <a:off x="711583" y="1525786"/>
            <a:ext cx="104270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erdana" panose="020B0604030504040204" pitchFamily="34" charset="0"/>
              </a:rPr>
              <a:t>Constraints can be specified when the table is created with the </a:t>
            </a:r>
            <a:r>
              <a:rPr kumimoji="0" lang="en-US" altLang="en-US" sz="1800" b="0" i="0" u="none" strike="noStrike" cap="none" normalizeH="0" baseline="0" dirty="0" smtClean="0">
                <a:ln>
                  <a:noFill/>
                </a:ln>
                <a:solidFill>
                  <a:srgbClr val="DC143C"/>
                </a:solidFill>
                <a:effectLst/>
                <a:latin typeface="Consolas" panose="020B0609020204030204" pitchFamily="49" charset="0"/>
              </a:rPr>
              <a:t>CREATE TABLE</a:t>
            </a:r>
            <a:r>
              <a:rPr kumimoji="0" lang="en-US" altLang="en-US" sz="1800" b="0" i="0" u="none" strike="noStrike" cap="none" normalizeH="0" baseline="0" dirty="0" smtClean="0">
                <a:ln>
                  <a:noFill/>
                </a:ln>
                <a:solidFill>
                  <a:srgbClr val="000000"/>
                </a:solidFill>
                <a:effectLst/>
                <a:latin typeface="Verdana" panose="020B0604030504040204" pitchFamily="34" charset="0"/>
              </a:rPr>
              <a:t> statement</a:t>
            </a:r>
            <a:r>
              <a:rPr kumimoji="0" lang="en-US" altLang="en-US" sz="1800" b="0" i="0" u="none" strike="noStrike" cap="none" normalizeH="0" baseline="0" dirty="0" smtClean="0">
                <a:ln>
                  <a:noFill/>
                </a:ln>
                <a:solidFill>
                  <a:schemeClr val="tx1"/>
                </a:solidFill>
                <a:effectLst/>
                <a:latin typeface="Times New Roman" panose="02020603050405020304" pitchFamily="18" charset="0"/>
              </a:rPr>
              <a:t> </a:t>
            </a:r>
            <a:endParaRPr kumimoji="0" lang="en-US" altLang="en-US" sz="3200" b="0" i="0" u="none" strike="noStrike" cap="none" normalizeH="0" baseline="0" dirty="0" smtClean="0">
              <a:ln>
                <a:noFill/>
              </a:ln>
              <a:solidFill>
                <a:schemeClr val="tx1"/>
              </a:solidFill>
              <a:effectLst/>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20</a:t>
            </a:fld>
            <a:endParaRPr lang="en-US"/>
          </a:p>
        </p:txBody>
      </p:sp>
      <p:sp>
        <p:nvSpPr>
          <p:cNvPr id="6" name="TextBox 5"/>
          <p:cNvSpPr txBox="1"/>
          <p:nvPr/>
        </p:nvSpPr>
        <p:spPr>
          <a:xfrm>
            <a:off x="561703" y="2468880"/>
            <a:ext cx="4028301" cy="2400657"/>
          </a:xfrm>
          <a:prstGeom prst="rect">
            <a:avLst/>
          </a:prstGeom>
          <a:noFill/>
        </p:spPr>
        <p:txBody>
          <a:bodyPr wrap="square" rtlCol="0">
            <a:spAutoFit/>
          </a:bodyPr>
          <a:lstStyle/>
          <a:p>
            <a:r>
              <a:rPr lang="en-US" sz="2400" b="1" dirty="0" smtClean="0"/>
              <a:t>Syntax</a:t>
            </a:r>
          </a:p>
          <a:p>
            <a:endParaRPr lang="en-US" dirty="0"/>
          </a:p>
          <a:p>
            <a:r>
              <a:rPr lang="en-US" dirty="0"/>
              <a:t>CREATE TABLE </a:t>
            </a:r>
            <a:r>
              <a:rPr lang="en-US" i="1" dirty="0" err="1"/>
              <a:t>table_name</a:t>
            </a:r>
            <a:r>
              <a:rPr lang="en-US" i="1" dirty="0"/>
              <a:t> </a:t>
            </a:r>
            <a:r>
              <a:rPr lang="en-US" dirty="0"/>
              <a:t>(</a:t>
            </a:r>
            <a:r>
              <a:rPr lang="en-US" dirty="0" smtClean="0"/>
              <a:t/>
            </a:r>
            <a:br>
              <a:rPr lang="en-US" dirty="0" smtClean="0"/>
            </a:br>
            <a:r>
              <a:rPr lang="en-US" i="1" dirty="0"/>
              <a:t>    column1 datatype</a:t>
            </a:r>
            <a:r>
              <a:rPr lang="en-US" dirty="0"/>
              <a:t> </a:t>
            </a:r>
            <a:r>
              <a:rPr lang="en-US" i="1" dirty="0"/>
              <a:t>constraint</a:t>
            </a:r>
            <a:r>
              <a:rPr lang="en-US" dirty="0"/>
              <a:t>,</a:t>
            </a:r>
            <a:r>
              <a:rPr lang="en-US" dirty="0" smtClean="0"/>
              <a:t/>
            </a:r>
            <a:br>
              <a:rPr lang="en-US" dirty="0" smtClean="0"/>
            </a:br>
            <a:r>
              <a:rPr lang="en-US" i="1" dirty="0"/>
              <a:t>    column2 datatype</a:t>
            </a:r>
            <a:r>
              <a:rPr lang="en-US" dirty="0"/>
              <a:t> </a:t>
            </a:r>
            <a:r>
              <a:rPr lang="en-US" i="1" dirty="0"/>
              <a:t>constraint</a:t>
            </a:r>
            <a:r>
              <a:rPr lang="en-US" dirty="0"/>
              <a:t>,</a:t>
            </a:r>
            <a:r>
              <a:rPr lang="en-US" dirty="0" smtClean="0"/>
              <a:t/>
            </a:r>
            <a:br>
              <a:rPr lang="en-US" dirty="0" smtClean="0"/>
            </a:br>
            <a:r>
              <a:rPr lang="en-US" i="1" dirty="0"/>
              <a:t>    column3 datatype</a:t>
            </a:r>
            <a:r>
              <a:rPr lang="en-US" dirty="0"/>
              <a:t> </a:t>
            </a:r>
            <a:r>
              <a:rPr lang="en-US" i="1" dirty="0"/>
              <a:t>constraint</a:t>
            </a:r>
            <a:r>
              <a:rPr lang="en-US" dirty="0"/>
              <a:t>,</a:t>
            </a:r>
            <a:r>
              <a:rPr lang="en-US" dirty="0" smtClean="0"/>
              <a:t/>
            </a:r>
            <a:br>
              <a:rPr lang="en-US" dirty="0" smtClean="0"/>
            </a:br>
            <a:r>
              <a:rPr lang="en-US" dirty="0"/>
              <a:t>    ....</a:t>
            </a:r>
            <a:r>
              <a:rPr lang="en-US" dirty="0" smtClean="0"/>
              <a:t/>
            </a:r>
            <a:br>
              <a:rPr lang="en-US" dirty="0" smtClean="0"/>
            </a:br>
            <a:r>
              <a:rPr lang="en-US" dirty="0"/>
              <a:t>);</a:t>
            </a:r>
          </a:p>
        </p:txBody>
      </p:sp>
    </p:spTree>
    <p:extLst>
      <p:ext uri="{BB962C8B-B14F-4D97-AF65-F5344CB8AC3E}">
        <p14:creationId xmlns:p14="http://schemas.microsoft.com/office/powerpoint/2010/main" val="28793850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ALTER TABLE Statement</a:t>
            </a:r>
            <a:br>
              <a:rPr lang="en-US" dirty="0"/>
            </a:br>
            <a:endParaRPr lang="en-US" dirty="0"/>
          </a:p>
        </p:txBody>
      </p:sp>
      <p:sp>
        <p:nvSpPr>
          <p:cNvPr id="5" name="Rectangle 1"/>
          <p:cNvSpPr>
            <a:spLocks noGrp="1" noChangeArrowheads="1"/>
          </p:cNvSpPr>
          <p:nvPr>
            <p:ph idx="1"/>
          </p:nvPr>
        </p:nvSpPr>
        <p:spPr bwMode="auto">
          <a:xfrm>
            <a:off x="603069" y="1935248"/>
            <a:ext cx="10304417"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US" altLang="en-US" sz="1800" b="0" i="0" u="none" strike="noStrike" cap="none" normalizeH="0" baseline="0" dirty="0" smtClean="0">
                <a:ln>
                  <a:noFill/>
                </a:ln>
                <a:solidFill>
                  <a:srgbClr val="000000"/>
                </a:solidFill>
                <a:effectLst/>
                <a:latin typeface="Verdana" panose="020B0604030504040204" pitchFamily="34" charset="0"/>
              </a:rPr>
              <a:t>The </a:t>
            </a:r>
            <a:r>
              <a:rPr kumimoji="0" lang="en-US" altLang="en-US" sz="1800" b="0" i="0" u="none" strike="noStrike" cap="none" normalizeH="0" baseline="0" dirty="0" smtClean="0">
                <a:ln>
                  <a:noFill/>
                </a:ln>
                <a:solidFill>
                  <a:srgbClr val="DC143C"/>
                </a:solidFill>
                <a:effectLst/>
                <a:latin typeface="Consolas" panose="020B0609020204030204" pitchFamily="49" charset="0"/>
              </a:rPr>
              <a:t>ALTER TABLE</a:t>
            </a:r>
            <a:r>
              <a:rPr kumimoji="0" lang="en-US" altLang="en-US" sz="1800" b="0" i="0" u="none" strike="noStrike" cap="none" normalizeH="0" baseline="0" dirty="0" smtClean="0">
                <a:ln>
                  <a:noFill/>
                </a:ln>
                <a:solidFill>
                  <a:srgbClr val="000000"/>
                </a:solidFill>
                <a:effectLst/>
                <a:latin typeface="Verdana" panose="020B0604030504040204" pitchFamily="34" charset="0"/>
              </a:rPr>
              <a:t> statement is used to add, delete</a:t>
            </a:r>
            <a:r>
              <a:rPr kumimoji="0" lang="en-US" altLang="en-US" sz="1800" b="0" i="0" u="none" strike="noStrike" cap="none" normalizeH="0" dirty="0" smtClean="0">
                <a:ln>
                  <a:noFill/>
                </a:ln>
                <a:solidFill>
                  <a:srgbClr val="000000"/>
                </a:solidFill>
                <a:effectLst/>
                <a:latin typeface="Verdana" panose="020B0604030504040204" pitchFamily="34" charset="0"/>
              </a:rPr>
              <a:t> </a:t>
            </a:r>
            <a:r>
              <a:rPr kumimoji="0" lang="en-US" altLang="en-US" sz="1800" b="0" i="0" u="none" strike="noStrike" cap="none" normalizeH="0" baseline="0" dirty="0" smtClean="0">
                <a:ln>
                  <a:noFill/>
                </a:ln>
                <a:solidFill>
                  <a:srgbClr val="000000"/>
                </a:solidFill>
                <a:effectLst/>
                <a:latin typeface="Verdana" panose="020B0604030504040204" pitchFamily="34" charset="0"/>
              </a:rPr>
              <a:t>in an existing table.</a:t>
            </a:r>
            <a:endParaRPr kumimoji="0" lang="en-US" altLang="en-US" sz="1800" b="0" i="0" u="none" strike="noStrike" cap="none" normalizeH="0" baseline="0" dirty="0" smtClean="0">
              <a:ln>
                <a:noFill/>
              </a:ln>
              <a:solidFill>
                <a:schemeClr val="tx1"/>
              </a:solidFill>
              <a:effectLst/>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21</a:t>
            </a:fld>
            <a:endParaRPr lang="en-US"/>
          </a:p>
        </p:txBody>
      </p:sp>
      <p:sp>
        <p:nvSpPr>
          <p:cNvPr id="6" name="TextBox 5"/>
          <p:cNvSpPr txBox="1"/>
          <p:nvPr/>
        </p:nvSpPr>
        <p:spPr>
          <a:xfrm>
            <a:off x="904653" y="2662920"/>
            <a:ext cx="4491446" cy="646331"/>
          </a:xfrm>
          <a:prstGeom prst="rect">
            <a:avLst/>
          </a:prstGeom>
          <a:noFill/>
        </p:spPr>
        <p:txBody>
          <a:bodyPr wrap="square" rtlCol="0">
            <a:spAutoFit/>
          </a:bodyPr>
          <a:lstStyle/>
          <a:p>
            <a:r>
              <a:rPr lang="en-US" dirty="0"/>
              <a:t>ALTER TABLE Customers</a:t>
            </a:r>
            <a:r>
              <a:rPr lang="en-US" dirty="0" smtClean="0"/>
              <a:t/>
            </a:r>
            <a:br>
              <a:rPr lang="en-US" dirty="0" smtClean="0"/>
            </a:br>
            <a:r>
              <a:rPr lang="en-US" dirty="0"/>
              <a:t>ADD Email varchar(255);</a:t>
            </a:r>
          </a:p>
        </p:txBody>
      </p:sp>
      <p:sp>
        <p:nvSpPr>
          <p:cNvPr id="7" name="TextBox 6"/>
          <p:cNvSpPr txBox="1"/>
          <p:nvPr/>
        </p:nvSpPr>
        <p:spPr>
          <a:xfrm>
            <a:off x="908265" y="3681265"/>
            <a:ext cx="2553391" cy="646331"/>
          </a:xfrm>
          <a:prstGeom prst="rect">
            <a:avLst/>
          </a:prstGeom>
          <a:noFill/>
        </p:spPr>
        <p:txBody>
          <a:bodyPr wrap="square" rtlCol="0">
            <a:spAutoFit/>
          </a:bodyPr>
          <a:lstStyle/>
          <a:p>
            <a:r>
              <a:rPr lang="en-US" dirty="0"/>
              <a:t>ALTER TABLE Customers</a:t>
            </a:r>
            <a:r>
              <a:rPr lang="en-US" dirty="0" smtClean="0"/>
              <a:t/>
            </a:r>
            <a:br>
              <a:rPr lang="en-US" dirty="0" smtClean="0"/>
            </a:br>
            <a:r>
              <a:rPr lang="en-US" dirty="0"/>
              <a:t>DROP COLUMN Email;</a:t>
            </a:r>
          </a:p>
        </p:txBody>
      </p:sp>
    </p:spTree>
    <p:extLst>
      <p:ext uri="{BB962C8B-B14F-4D97-AF65-F5344CB8AC3E}">
        <p14:creationId xmlns:p14="http://schemas.microsoft.com/office/powerpoint/2010/main" val="12924991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Times New Roman" panose="02020603050405020304" pitchFamily="18" charset="0"/>
                <a:cs typeface="Times New Roman" panose="02020603050405020304" pitchFamily="18" charset="0"/>
              </a:rPr>
              <a:t>The SQL SELECT Statement</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6" name="Rectangle 3"/>
          <p:cNvSpPr>
            <a:spLocks noGrp="1" noChangeArrowheads="1"/>
          </p:cNvSpPr>
          <p:nvPr>
            <p:ph idx="1"/>
          </p:nvPr>
        </p:nvSpPr>
        <p:spPr bwMode="auto">
          <a:xfrm>
            <a:off x="838200" y="1792138"/>
            <a:ext cx="8789126"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sz="24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SELECT</a:t>
            </a: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statement is used to select data from a database.</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a:lnSpc>
                <a:spcPct val="100000"/>
              </a:lnSpc>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data returned is stored in a result table, called the result-set.</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922AE8BD-B2ED-4107-811B-DAE9CC0E64B8}" type="slidenum">
              <a:rPr lang="en-US" smtClean="0"/>
              <a:t>22</a:t>
            </a:fld>
            <a:endParaRPr lang="en-US"/>
          </a:p>
        </p:txBody>
      </p:sp>
    </p:spTree>
    <p:extLst>
      <p:ext uri="{BB962C8B-B14F-4D97-AF65-F5344CB8AC3E}">
        <p14:creationId xmlns:p14="http://schemas.microsoft.com/office/powerpoint/2010/main" val="35373984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9922"/>
            <a:ext cx="10515600" cy="879475"/>
          </a:xfrm>
        </p:spPr>
        <p:txBody>
          <a:bodyPr>
            <a:normAutofit fontScale="90000"/>
          </a:bodyPr>
          <a:lstStyle/>
          <a:p>
            <a:r>
              <a:rPr lang="en-US" dirty="0" smtClean="0">
                <a:latin typeface="Times New Roman" panose="02020603050405020304" pitchFamily="18" charset="0"/>
                <a:cs typeface="Times New Roman" panose="02020603050405020304" pitchFamily="18" charset="0"/>
              </a:rPr>
              <a:t>SELECT DISTINCT Examples</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3373297"/>
            <a:ext cx="9259387" cy="1825721"/>
          </a:xfrm>
        </p:spPr>
        <p:txBody>
          <a:bodyPr>
            <a:normAutofit/>
          </a:bodyPr>
          <a:lstStyle/>
          <a:p>
            <a:r>
              <a:rPr lang="en-US" sz="2400" dirty="0">
                <a:latin typeface="Times New Roman" panose="02020603050405020304" pitchFamily="18" charset="0"/>
                <a:cs typeface="Times New Roman" panose="02020603050405020304" pitchFamily="18" charset="0"/>
              </a:rPr>
              <a:t>SELECT DISTINCT Country FROM Customers</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922AE8BD-B2ED-4107-811B-DAE9CC0E64B8}" type="slidenum">
              <a:rPr lang="en-US" smtClean="0"/>
              <a:t>23</a:t>
            </a:fld>
            <a:endParaRPr lang="en-US"/>
          </a:p>
        </p:txBody>
      </p:sp>
      <p:sp>
        <p:nvSpPr>
          <p:cNvPr id="6" name="Rectangle 2"/>
          <p:cNvSpPr>
            <a:spLocks noChangeArrowheads="1"/>
          </p:cNvSpPr>
          <p:nvPr/>
        </p:nvSpPr>
        <p:spPr bwMode="auto">
          <a:xfrm>
            <a:off x="692518" y="1702683"/>
            <a:ext cx="9796956"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sz="20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SELECT DISTINCT</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statement is used to return only distinct (different) values.</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Inside a table, a column often contains many duplicate </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values</a:t>
            </a:r>
            <a:r>
              <a:rPr kumimoji="0" lang="en-US" altLang="en-US" sz="2000" b="0" i="0" u="none" strike="noStrike" cap="none" normalizeH="0" dirty="0" smtClean="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and sometimes you only want to list the different (distinct) values.</a:t>
            </a:r>
            <a:endParaRPr kumimoji="0" lang="en-US" alt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9411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0519"/>
            <a:ext cx="10515600" cy="797469"/>
          </a:xfrm>
        </p:spPr>
        <p:txBody>
          <a:bodyPr>
            <a:noAutofit/>
          </a:bodyPr>
          <a:lstStyle/>
          <a:p>
            <a:pPr algn="ctr"/>
            <a:r>
              <a:rPr lang="en-US" sz="3200" dirty="0">
                <a:latin typeface="Times New Roman" panose="02020603050405020304" pitchFamily="18" charset="0"/>
                <a:cs typeface="Times New Roman" panose="02020603050405020304" pitchFamily="18" charset="0"/>
              </a:rPr>
              <a:t>The SQL WHERE Clause</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2305637"/>
            <a:ext cx="8882560"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sz="24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WHERE</a:t>
            </a: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clause is used to filter records.</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It is used to extract only those records that fulfill a specified condition.</a:t>
            </a:r>
            <a:endParaRPr kumimoji="0" lang="en-US" altLang="en-US" sz="4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22AE8BD-B2ED-4107-811B-DAE9CC0E64B8}" type="slidenum">
              <a:rPr lang="en-US" smtClean="0"/>
              <a:t>24</a:t>
            </a:fld>
            <a:endParaRPr lang="en-US"/>
          </a:p>
        </p:txBody>
      </p:sp>
    </p:spTree>
    <p:extLst>
      <p:ext uri="{BB962C8B-B14F-4D97-AF65-F5344CB8AC3E}">
        <p14:creationId xmlns:p14="http://schemas.microsoft.com/office/powerpoint/2010/main" val="28415726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784"/>
          </a:xfrm>
        </p:spPr>
        <p:txBody>
          <a:bodyPr>
            <a:normAutofit fontScale="90000"/>
          </a:bodyPr>
          <a:lstStyle/>
          <a:p>
            <a:r>
              <a:rPr lang="en-US" dirty="0">
                <a:latin typeface="Times New Roman" panose="02020603050405020304" pitchFamily="18" charset="0"/>
                <a:cs typeface="Times New Roman" panose="02020603050405020304" pitchFamily="18" charset="0"/>
              </a:rPr>
              <a:t>The SQL AND, OR and NOT Operators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838199" y="1228911"/>
            <a:ext cx="10304417" cy="39703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WHERE</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clause can be combined with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AND</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OR</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and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NOT</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AND</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rgbClr val="000000"/>
                </a:solidFill>
                <a:effectLst/>
                <a:latin typeface="Times New Roman" panose="02020603050405020304" pitchFamily="18" charset="0"/>
                <a:cs typeface="Times New Roman" panose="02020603050405020304" pitchFamily="18" charset="0"/>
              </a:rPr>
              <a:t>and</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OR</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operators are used to filter records based on more than one condition:</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AND</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 displays a record if all the conditions separated by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AND</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are TRUE.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OR</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 displays a record if any of the conditions separated by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OR</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is 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NOT</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 displays a record if the condition(s) is NOT TRUE.</a:t>
            </a:r>
            <a:endParaRPr kumimoji="0" lang="en-US" altLang="en-US" sz="4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22AE8BD-B2ED-4107-811B-DAE9CC0E64B8}" type="slidenum">
              <a:rPr lang="en-US" smtClean="0"/>
              <a:t>25</a:t>
            </a:fld>
            <a:endParaRPr lang="en-US"/>
          </a:p>
        </p:txBody>
      </p:sp>
    </p:spTree>
    <p:extLst>
      <p:ext uri="{BB962C8B-B14F-4D97-AF65-F5344CB8AC3E}">
        <p14:creationId xmlns:p14="http://schemas.microsoft.com/office/powerpoint/2010/main" val="25390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5949" y="911225"/>
            <a:ext cx="10515600" cy="4351338"/>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SELECT</a:t>
            </a:r>
            <a:r>
              <a:rPr lang="en-US" dirty="0">
                <a:latin typeface="Times New Roman" panose="02020603050405020304" pitchFamily="18" charset="0"/>
                <a:cs typeface="Times New Roman" panose="02020603050405020304" pitchFamily="18" charset="0"/>
              </a:rPr>
              <a:t> * FROM Customers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WHERE Country='Germany' AND City='Berlin</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 FROM Customers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WHERE City='Berlin' OR City='</a:t>
            </a:r>
            <a:r>
              <a:rPr lang="en-US" dirty="0" err="1">
                <a:latin typeface="Times New Roman" panose="02020603050405020304" pitchFamily="18" charset="0"/>
                <a:cs typeface="Times New Roman" panose="02020603050405020304" pitchFamily="18" charset="0"/>
              </a:rPr>
              <a:t>München</a:t>
            </a:r>
            <a:r>
              <a:rPr lang="en-US" dirty="0" smtClean="0">
                <a:latin typeface="Times New Roman" panose="02020603050405020304" pitchFamily="18" charset="0"/>
                <a:cs typeface="Times New Roman" panose="02020603050405020304" pitchFamily="18" charset="0"/>
              </a:rPr>
              <a:t>';</a:t>
            </a:r>
          </a:p>
          <a:p>
            <a:endParaRPr lang="en-US"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 FROM Customers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WHERE NOT Country='Germany';</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SELECT * FROM PERSON WHERE NOT NAME =‘ram’;</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26</a:t>
            </a:fld>
            <a:endParaRPr lang="en-US"/>
          </a:p>
        </p:txBody>
      </p:sp>
    </p:spTree>
    <p:extLst>
      <p:ext uri="{BB962C8B-B14F-4D97-AF65-F5344CB8AC3E}">
        <p14:creationId xmlns:p14="http://schemas.microsoft.com/office/powerpoint/2010/main" val="22765327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535" y="733425"/>
            <a:ext cx="10515600" cy="823595"/>
          </a:xfrm>
          <a:solidFill>
            <a:schemeClr val="accent1">
              <a:lumMod val="20000"/>
              <a:lumOff val="80000"/>
            </a:schemeClr>
          </a:solidFill>
          <a:ln w="28575">
            <a:solidFill>
              <a:schemeClr val="tx1"/>
            </a:solidFill>
          </a:ln>
        </p:spPr>
        <p:txBody>
          <a:bodyPr>
            <a:noAutofit/>
          </a:bodyPr>
          <a:lstStyle/>
          <a:p>
            <a:pPr algn="ctr">
              <a:lnSpc>
                <a:spcPct val="100000"/>
              </a:lnSpc>
            </a:pP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What </a:t>
            </a:r>
            <a:r>
              <a:rPr lang="en-US" sz="2800" dirty="0">
                <a:latin typeface="Times New Roman" panose="02020603050405020304" pitchFamily="18" charset="0"/>
                <a:cs typeface="Times New Roman" panose="02020603050405020304" pitchFamily="18" charset="0"/>
              </a:rPr>
              <a:t>is a NULL Value?</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93635" y="2033995"/>
            <a:ext cx="10515600" cy="4504917"/>
          </a:xfrm>
        </p:spPr>
        <p:txBody>
          <a:bodyPr>
            <a:normAutofit/>
          </a:bodyPr>
          <a:lstStyle/>
          <a:p>
            <a:r>
              <a:rPr lang="en-US" dirty="0">
                <a:latin typeface="Times New Roman" panose="02020603050405020304" pitchFamily="18" charset="0"/>
                <a:cs typeface="Times New Roman" panose="02020603050405020304" pitchFamily="18" charset="0"/>
              </a:rPr>
              <a:t>A field with a NULL value is a field with no value</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SELECT </a:t>
            </a:r>
            <a:r>
              <a:rPr lang="en-US" i="1" dirty="0" err="1">
                <a:latin typeface="Times New Roman" panose="02020603050405020304" pitchFamily="18" charset="0"/>
                <a:cs typeface="Times New Roman" panose="02020603050405020304" pitchFamily="18" charset="0"/>
              </a:rPr>
              <a:t>column_names</a:t>
            </a:r>
            <a:r>
              <a:rPr lang="en-US" i="1" dirty="0">
                <a:latin typeface="Times New Roman" panose="02020603050405020304" pitchFamily="18" charset="0"/>
                <a:cs typeface="Times New Roman" panose="02020603050405020304" pitchFamily="18" charset="0"/>
              </a:rPr>
              <a:t/>
            </a:r>
            <a:br>
              <a:rPr lang="en-US" i="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FROM </a:t>
            </a:r>
            <a:r>
              <a:rPr lang="en-US" i="1" dirty="0" err="1">
                <a:latin typeface="Times New Roman" panose="02020603050405020304" pitchFamily="18" charset="0"/>
                <a:cs typeface="Times New Roman" panose="02020603050405020304" pitchFamily="18" charset="0"/>
              </a:rPr>
              <a:t>table_name</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WHERE </a:t>
            </a:r>
            <a:r>
              <a:rPr lang="en-US" i="1" dirty="0" err="1">
                <a:latin typeface="Times New Roman" panose="02020603050405020304" pitchFamily="18" charset="0"/>
                <a:cs typeface="Times New Roman" panose="02020603050405020304" pitchFamily="18" charset="0"/>
              </a:rPr>
              <a:t>column_name</a:t>
            </a:r>
            <a:r>
              <a:rPr lang="en-US" dirty="0">
                <a:latin typeface="Times New Roman" panose="02020603050405020304" pitchFamily="18" charset="0"/>
                <a:cs typeface="Times New Roman" panose="02020603050405020304" pitchFamily="18" charset="0"/>
              </a:rPr>
              <a:t> IS NULL</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a:t>
            </a:r>
            <a:r>
              <a:rPr lang="en-US" dirty="0" err="1">
                <a:latin typeface="Times New Roman" panose="02020603050405020304" pitchFamily="18" charset="0"/>
                <a:cs typeface="Times New Roman" panose="02020603050405020304" pitchFamily="18" charset="0"/>
              </a:rPr>
              <a:t>CustomerName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ContactName</a:t>
            </a:r>
            <a:r>
              <a:rPr lang="en-US" dirty="0">
                <a:latin typeface="Times New Roman" panose="02020603050405020304" pitchFamily="18" charset="0"/>
                <a:cs typeface="Times New Roman" panose="02020603050405020304" pitchFamily="18" charset="0"/>
              </a:rPr>
              <a:t>, Address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FROM Customers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WHERE Address IS NULL</a:t>
            </a:r>
            <a:r>
              <a:rPr lang="en-US" dirty="0" smtClean="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922AE8BD-B2ED-4107-811B-DAE9CC0E64B8}" type="slidenum">
              <a:rPr lang="en-US" smtClean="0"/>
              <a:t>27</a:t>
            </a:fld>
            <a:endParaRPr lang="en-US"/>
          </a:p>
        </p:txBody>
      </p:sp>
    </p:spTree>
    <p:extLst>
      <p:ext uri="{BB962C8B-B14F-4D97-AF65-F5344CB8AC3E}">
        <p14:creationId xmlns:p14="http://schemas.microsoft.com/office/powerpoint/2010/main" val="31204345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SQL INSERT INTO Statement</a:t>
            </a:r>
            <a:br>
              <a:rPr lang="en-US" dirty="0"/>
            </a:br>
            <a:endParaRPr lang="en-US" dirty="0"/>
          </a:p>
        </p:txBody>
      </p:sp>
      <p:sp>
        <p:nvSpPr>
          <p:cNvPr id="5" name="Rectangle 2"/>
          <p:cNvSpPr>
            <a:spLocks noGrp="1" noChangeArrowheads="1"/>
          </p:cNvSpPr>
          <p:nvPr>
            <p:ph idx="1"/>
          </p:nvPr>
        </p:nvSpPr>
        <p:spPr bwMode="auto">
          <a:xfrm>
            <a:off x="1060269" y="1094387"/>
            <a:ext cx="9821091" cy="34419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Verdana" panose="020B0604030504040204" pitchFamily="34" charset="0"/>
              </a:rPr>
              <a:t>The </a:t>
            </a:r>
            <a:r>
              <a:rPr kumimoji="0" lang="en-US" altLang="en-US" b="0" i="0" u="none" strike="noStrike" cap="none" normalizeH="0" baseline="0" dirty="0" smtClean="0">
                <a:ln>
                  <a:noFill/>
                </a:ln>
                <a:solidFill>
                  <a:srgbClr val="DC143C"/>
                </a:solidFill>
                <a:effectLst/>
                <a:latin typeface="Consolas" panose="020B0609020204030204" pitchFamily="49" charset="0"/>
              </a:rPr>
              <a:t>INSERT INTO</a:t>
            </a:r>
            <a:r>
              <a:rPr kumimoji="0" lang="en-US" altLang="en-US" b="0" i="0" u="none" strike="noStrike" cap="none" normalizeH="0" baseline="0" dirty="0" smtClean="0">
                <a:ln>
                  <a:noFill/>
                </a:ln>
                <a:solidFill>
                  <a:srgbClr val="000000"/>
                </a:solidFill>
                <a:effectLst/>
                <a:latin typeface="Verdana" panose="020B0604030504040204" pitchFamily="34" charset="0"/>
              </a:rPr>
              <a:t> statement is used to insert new records in a table.</a:t>
            </a:r>
            <a:endParaRPr kumimoji="0" lang="en-US" altLang="en-US" sz="44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4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INSERT INTO Syntax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Verdana" panose="020B0604030504040204" pitchFamily="34" charset="0"/>
              </a:rPr>
              <a:t>It is possible to write the </a:t>
            </a:r>
            <a:r>
              <a:rPr kumimoji="0" lang="en-US" altLang="en-US" b="0" i="0" u="none" strike="noStrike" cap="none" normalizeH="0" baseline="0" dirty="0" smtClean="0">
                <a:ln>
                  <a:noFill/>
                </a:ln>
                <a:solidFill>
                  <a:srgbClr val="DC143C"/>
                </a:solidFill>
                <a:effectLst/>
                <a:latin typeface="Consolas" panose="020B0609020204030204" pitchFamily="49" charset="0"/>
              </a:rPr>
              <a:t>INSERT INTO</a:t>
            </a:r>
            <a:r>
              <a:rPr kumimoji="0" lang="en-US" altLang="en-US" b="0" i="0" u="none" strike="noStrike" cap="none" normalizeH="0" baseline="0" dirty="0" smtClean="0">
                <a:ln>
                  <a:noFill/>
                </a:ln>
                <a:solidFill>
                  <a:srgbClr val="000000"/>
                </a:solidFill>
                <a:effectLst/>
                <a:latin typeface="Verdana" panose="020B0604030504040204" pitchFamily="34" charset="0"/>
              </a:rPr>
              <a:t> statement in two ways:</a:t>
            </a:r>
            <a:endParaRPr kumimoji="0" lang="en-US" altLang="en-US" b="0" i="0" u="none" strike="noStrike" cap="none" normalizeH="0" baseline="0" dirty="0" smtClean="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Verdana" panose="020B0604030504040204" pitchFamily="34" charset="0"/>
              </a:rPr>
              <a:t>1. Specify both the column names and the values to be inserted:</a:t>
            </a:r>
            <a:endParaRPr kumimoji="0" lang="en-US" altLang="en-US" sz="4400" b="0" i="0" u="none" strike="noStrike" cap="none" normalizeH="0" baseline="0" dirty="0" smtClean="0">
              <a:ln>
                <a:noFill/>
              </a:ln>
              <a:solidFill>
                <a:schemeClr val="tx1"/>
              </a:solidFill>
              <a:effectLst/>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22AE8BD-B2ED-4107-811B-DAE9CC0E64B8}" type="slidenum">
              <a:rPr lang="en-US" smtClean="0"/>
              <a:t>28</a:t>
            </a:fld>
            <a:endParaRPr lang="en-US"/>
          </a:p>
        </p:txBody>
      </p:sp>
    </p:spTree>
    <p:extLst>
      <p:ext uri="{BB962C8B-B14F-4D97-AF65-F5344CB8AC3E}">
        <p14:creationId xmlns:p14="http://schemas.microsoft.com/office/powerpoint/2010/main" val="8102100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SQL UPDATE Statement</a:t>
            </a:r>
            <a:br>
              <a:rPr lang="en-US" dirty="0"/>
            </a:br>
            <a:endParaRPr lang="en-US" dirty="0"/>
          </a:p>
        </p:txBody>
      </p:sp>
      <p:sp>
        <p:nvSpPr>
          <p:cNvPr id="3" name="Content Placeholder 2"/>
          <p:cNvSpPr>
            <a:spLocks noGrp="1"/>
          </p:cNvSpPr>
          <p:nvPr>
            <p:ph idx="1"/>
          </p:nvPr>
        </p:nvSpPr>
        <p:spPr/>
        <p:txBody>
          <a:bodyPr/>
          <a:lstStyle/>
          <a:p>
            <a:pPr marL="0" indent="0">
              <a:buNone/>
            </a:pPr>
            <a:r>
              <a:rPr lang="en-US" b="1" dirty="0" smtClean="0"/>
              <a:t>syntax</a:t>
            </a:r>
          </a:p>
          <a:p>
            <a:r>
              <a:rPr lang="en-US" dirty="0"/>
              <a:t>UPDATE </a:t>
            </a:r>
            <a:r>
              <a:rPr lang="en-US" i="1" dirty="0" err="1"/>
              <a:t>table_name</a:t>
            </a:r>
            <a:r>
              <a:rPr lang="en-US" dirty="0" smtClean="0"/>
              <a:t/>
            </a:r>
            <a:br>
              <a:rPr lang="en-US" dirty="0" smtClean="0"/>
            </a:br>
            <a:r>
              <a:rPr lang="en-US" dirty="0"/>
              <a:t>SET </a:t>
            </a:r>
            <a:r>
              <a:rPr lang="en-US" i="1" dirty="0"/>
              <a:t>column1 </a:t>
            </a:r>
            <a:r>
              <a:rPr lang="en-US" dirty="0"/>
              <a:t>=</a:t>
            </a:r>
            <a:r>
              <a:rPr lang="en-US" i="1" dirty="0"/>
              <a:t> value1</a:t>
            </a:r>
            <a:r>
              <a:rPr lang="en-US" dirty="0"/>
              <a:t>,</a:t>
            </a:r>
            <a:r>
              <a:rPr lang="en-US" i="1" dirty="0"/>
              <a:t> column2 </a:t>
            </a:r>
            <a:r>
              <a:rPr lang="en-US" dirty="0"/>
              <a:t>=</a:t>
            </a:r>
            <a:r>
              <a:rPr lang="en-US" i="1" dirty="0"/>
              <a:t> value2</a:t>
            </a:r>
            <a:r>
              <a:rPr lang="en-US" dirty="0"/>
              <a:t>, ...</a:t>
            </a:r>
            <a:r>
              <a:rPr lang="en-US" dirty="0" smtClean="0"/>
              <a:t/>
            </a:r>
            <a:br>
              <a:rPr lang="en-US" dirty="0" smtClean="0"/>
            </a:br>
            <a:r>
              <a:rPr lang="en-US" dirty="0"/>
              <a:t>WHERE </a:t>
            </a:r>
            <a:r>
              <a:rPr lang="en-US" i="1" dirty="0"/>
              <a:t>condition</a:t>
            </a:r>
            <a:r>
              <a:rPr lang="en-US" dirty="0" smtClean="0"/>
              <a:t>;</a:t>
            </a:r>
          </a:p>
          <a:p>
            <a:endParaRPr lang="en-US" dirty="0"/>
          </a:p>
          <a:p>
            <a:endParaRPr lang="en-US" dirty="0"/>
          </a:p>
          <a:p>
            <a:r>
              <a:rPr lang="en-US" dirty="0" smtClean="0"/>
              <a:t>UPDATE</a:t>
            </a:r>
            <a:r>
              <a:rPr lang="en-US" dirty="0"/>
              <a:t> Customers</a:t>
            </a:r>
            <a:r>
              <a:rPr lang="en-US" dirty="0" smtClean="0"/>
              <a:t/>
            </a:r>
            <a:br>
              <a:rPr lang="en-US" dirty="0" smtClean="0"/>
            </a:br>
            <a:r>
              <a:rPr lang="en-US" dirty="0"/>
              <a:t>SET </a:t>
            </a:r>
            <a:r>
              <a:rPr lang="en-US" dirty="0" err="1"/>
              <a:t>ContactName</a:t>
            </a:r>
            <a:r>
              <a:rPr lang="en-US" dirty="0"/>
              <a:t> = 'Alfred Schmidt', City= 'Frankfurt'</a:t>
            </a:r>
            <a:r>
              <a:rPr lang="en-US" dirty="0" smtClean="0"/>
              <a:t/>
            </a:r>
            <a:br>
              <a:rPr lang="en-US" dirty="0" smtClean="0"/>
            </a:br>
            <a:r>
              <a:rPr lang="en-US" dirty="0"/>
              <a:t>WHERE </a:t>
            </a:r>
            <a:r>
              <a:rPr lang="en-US" dirty="0" err="1"/>
              <a:t>CustomerID</a:t>
            </a:r>
            <a:r>
              <a:rPr lang="en-US" dirty="0"/>
              <a:t> = 1;</a:t>
            </a:r>
          </a:p>
        </p:txBody>
      </p:sp>
      <p:sp>
        <p:nvSpPr>
          <p:cNvPr id="4" name="Slide Number Placeholder 3"/>
          <p:cNvSpPr>
            <a:spLocks noGrp="1"/>
          </p:cNvSpPr>
          <p:nvPr>
            <p:ph type="sldNum" sz="quarter" idx="12"/>
          </p:nvPr>
        </p:nvSpPr>
        <p:spPr/>
        <p:txBody>
          <a:bodyPr/>
          <a:lstStyle/>
          <a:p>
            <a:fld id="{922AE8BD-B2ED-4107-811B-DAE9CC0E64B8}" type="slidenum">
              <a:rPr lang="en-US" smtClean="0"/>
              <a:t>29</a:t>
            </a:fld>
            <a:endParaRPr lang="en-US"/>
          </a:p>
        </p:txBody>
      </p:sp>
    </p:spTree>
    <p:extLst>
      <p:ext uri="{BB962C8B-B14F-4D97-AF65-F5344CB8AC3E}">
        <p14:creationId xmlns:p14="http://schemas.microsoft.com/office/powerpoint/2010/main" val="10177566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SQL DELETE Statement</a:t>
            </a:r>
            <a:br>
              <a:rPr lang="en-US" dirty="0"/>
            </a:br>
            <a:endParaRPr lang="en-US" dirty="0"/>
          </a:p>
        </p:txBody>
      </p:sp>
      <p:sp>
        <p:nvSpPr>
          <p:cNvPr id="5" name="Rectangle 2"/>
          <p:cNvSpPr>
            <a:spLocks noGrp="1" noChangeArrowheads="1"/>
          </p:cNvSpPr>
          <p:nvPr>
            <p:ph idx="1"/>
          </p:nvPr>
        </p:nvSpPr>
        <p:spPr bwMode="auto">
          <a:xfrm>
            <a:off x="820514" y="1275190"/>
            <a:ext cx="846255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Verdana" panose="020B0604030504040204" pitchFamily="34" charset="0"/>
              </a:rPr>
              <a:t>The </a:t>
            </a:r>
            <a:r>
              <a:rPr kumimoji="0" lang="en-US" altLang="en-US" sz="2400" b="0" i="0" u="none" strike="noStrike" cap="none" normalizeH="0" baseline="0" dirty="0" smtClean="0">
                <a:ln>
                  <a:noFill/>
                </a:ln>
                <a:solidFill>
                  <a:srgbClr val="DC143C"/>
                </a:solidFill>
                <a:effectLst/>
                <a:latin typeface="Consolas" panose="020B0609020204030204" pitchFamily="49" charset="0"/>
              </a:rPr>
              <a:t>DELETE</a:t>
            </a:r>
            <a:r>
              <a:rPr kumimoji="0" lang="en-US" altLang="en-US" sz="2400" b="0" i="0" u="none" strike="noStrike" cap="none" normalizeH="0" baseline="0" dirty="0" smtClean="0">
                <a:ln>
                  <a:noFill/>
                </a:ln>
                <a:solidFill>
                  <a:srgbClr val="000000"/>
                </a:solidFill>
                <a:effectLst/>
                <a:latin typeface="Verdana" panose="020B0604030504040204" pitchFamily="34" charset="0"/>
              </a:rPr>
              <a:t> statement is used to delete existing records in a table.</a:t>
            </a:r>
            <a:r>
              <a:rPr kumimoji="0" lang="en-US" altLang="en-US" sz="2400" b="0" i="0" u="none" strike="noStrike" cap="none" normalizeH="0" baseline="0" dirty="0" smtClean="0">
                <a:ln>
                  <a:noFill/>
                </a:ln>
                <a:solidFill>
                  <a:schemeClr val="tx1"/>
                </a:solidFill>
                <a:effectLst/>
                <a:latin typeface="Times New Roman" panose="02020603050405020304" pitchFamily="18" charset="0"/>
              </a:rPr>
              <a:t> </a:t>
            </a:r>
            <a:endParaRPr kumimoji="0" lang="en-US" altLang="en-US" sz="4000" b="0" i="0" u="none" strike="noStrike" cap="none" normalizeH="0" baseline="0" dirty="0" smtClean="0">
              <a:ln>
                <a:noFill/>
              </a:ln>
              <a:solidFill>
                <a:schemeClr val="tx1"/>
              </a:solidFill>
              <a:effectLst/>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22AE8BD-B2ED-4107-811B-DAE9CC0E64B8}" type="slidenum">
              <a:rPr lang="en-US" smtClean="0"/>
              <a:t>30</a:t>
            </a:fld>
            <a:endParaRPr lang="en-US"/>
          </a:p>
        </p:txBody>
      </p:sp>
      <p:sp>
        <p:nvSpPr>
          <p:cNvPr id="7" name="TextBox 6"/>
          <p:cNvSpPr txBox="1"/>
          <p:nvPr/>
        </p:nvSpPr>
        <p:spPr>
          <a:xfrm>
            <a:off x="237309" y="3030939"/>
            <a:ext cx="7724422" cy="523220"/>
          </a:xfrm>
          <a:prstGeom prst="rect">
            <a:avLst/>
          </a:prstGeom>
          <a:noFill/>
        </p:spPr>
        <p:txBody>
          <a:bodyPr wrap="none" rtlCol="0">
            <a:spAutoFit/>
          </a:bodyPr>
          <a:lstStyle/>
          <a:p>
            <a:pPr marL="457200" indent="-457200">
              <a:buFont typeface="Arial" panose="020B0604020202020204" pitchFamily="34" charset="0"/>
              <a:buChar char="•"/>
            </a:pPr>
            <a:r>
              <a:rPr lang="en-US" sz="2800" dirty="0"/>
              <a:t>DELETE FROM Customers WHERE </a:t>
            </a:r>
            <a:r>
              <a:rPr lang="en-US" sz="2800" dirty="0" err="1" smtClean="0"/>
              <a:t>Customerid</a:t>
            </a:r>
            <a:r>
              <a:rPr lang="en-US" sz="2800" dirty="0" smtClean="0"/>
              <a:t>=1;</a:t>
            </a:r>
            <a:endParaRPr lang="en-US" sz="2800" dirty="0"/>
          </a:p>
        </p:txBody>
      </p:sp>
    </p:spTree>
    <p:extLst>
      <p:ext uri="{BB962C8B-B14F-4D97-AF65-F5344CB8AC3E}">
        <p14:creationId xmlns:p14="http://schemas.microsoft.com/office/powerpoint/2010/main" val="42335782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Delete All Records</a:t>
            </a:r>
            <a:br>
              <a:rPr lang="en-US" dirty="0"/>
            </a:br>
            <a:endParaRPr lang="en-US" dirty="0"/>
          </a:p>
        </p:txBody>
      </p:sp>
      <p:sp>
        <p:nvSpPr>
          <p:cNvPr id="3" name="Content Placeholder 2"/>
          <p:cNvSpPr>
            <a:spLocks noGrp="1"/>
          </p:cNvSpPr>
          <p:nvPr>
            <p:ph idx="1"/>
          </p:nvPr>
        </p:nvSpPr>
        <p:spPr/>
        <p:txBody>
          <a:bodyPr/>
          <a:lstStyle/>
          <a:p>
            <a:r>
              <a:rPr lang="en-US" dirty="0"/>
              <a:t>DELETE FROM </a:t>
            </a:r>
            <a:r>
              <a:rPr lang="en-US" i="1" dirty="0" err="1"/>
              <a:t>table_name</a:t>
            </a:r>
            <a:r>
              <a:rPr lang="en-US" dirty="0" smtClean="0"/>
              <a:t>;</a:t>
            </a:r>
          </a:p>
          <a:p>
            <a:r>
              <a:rPr lang="en-US" dirty="0"/>
              <a:t>DELETE FROM Customers;</a:t>
            </a:r>
          </a:p>
        </p:txBody>
      </p:sp>
      <p:sp>
        <p:nvSpPr>
          <p:cNvPr id="4" name="Slide Number Placeholder 3"/>
          <p:cNvSpPr>
            <a:spLocks noGrp="1"/>
          </p:cNvSpPr>
          <p:nvPr>
            <p:ph type="sldNum" sz="quarter" idx="12"/>
          </p:nvPr>
        </p:nvSpPr>
        <p:spPr/>
        <p:txBody>
          <a:bodyPr/>
          <a:lstStyle/>
          <a:p>
            <a:fld id="{922AE8BD-B2ED-4107-811B-DAE9CC0E64B8}" type="slidenum">
              <a:rPr lang="en-US" smtClean="0"/>
              <a:t>31</a:t>
            </a:fld>
            <a:endParaRPr lang="en-US"/>
          </a:p>
        </p:txBody>
      </p:sp>
    </p:spTree>
    <p:extLst>
      <p:ext uri="{BB962C8B-B14F-4D97-AF65-F5344CB8AC3E}">
        <p14:creationId xmlns:p14="http://schemas.microsoft.com/office/powerpoint/2010/main" val="38559808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SQL ORDER BY Keyword</a:t>
            </a:r>
            <a:br>
              <a:rPr lang="en-US" dirty="0"/>
            </a:br>
            <a:endParaRPr lang="en-US" dirty="0"/>
          </a:p>
        </p:txBody>
      </p:sp>
      <p:sp>
        <p:nvSpPr>
          <p:cNvPr id="4" name="Rectangle 1"/>
          <p:cNvSpPr>
            <a:spLocks noGrp="1" noChangeArrowheads="1"/>
          </p:cNvSpPr>
          <p:nvPr>
            <p:ph idx="1"/>
          </p:nvPr>
        </p:nvSpPr>
        <p:spPr bwMode="auto">
          <a:xfrm>
            <a:off x="838200" y="1329721"/>
            <a:ext cx="9139517"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US" altLang="en-US" b="0" i="0" u="none" strike="noStrike" cap="none" normalizeH="0" baseline="0" dirty="0" smtClean="0">
                <a:ln>
                  <a:noFill/>
                </a:ln>
                <a:solidFill>
                  <a:srgbClr val="000000"/>
                </a:solidFill>
                <a:effectLst/>
                <a:latin typeface="Verdana" panose="020B0604030504040204" pitchFamily="34" charset="0"/>
              </a:rPr>
              <a:t>The </a:t>
            </a:r>
            <a:r>
              <a:rPr kumimoji="0" lang="en-US" altLang="en-US" b="0" i="0" u="none" strike="noStrike" cap="none" normalizeH="0" baseline="0" dirty="0" smtClean="0">
                <a:ln>
                  <a:noFill/>
                </a:ln>
                <a:solidFill>
                  <a:srgbClr val="DC143C"/>
                </a:solidFill>
                <a:effectLst/>
                <a:latin typeface="Consolas" panose="020B0609020204030204" pitchFamily="49" charset="0"/>
              </a:rPr>
              <a:t>ORDER BY</a:t>
            </a:r>
            <a:r>
              <a:rPr kumimoji="0" lang="en-US" altLang="en-US" b="0" i="0" u="none" strike="noStrike" cap="none" normalizeH="0" baseline="0" dirty="0" smtClean="0">
                <a:ln>
                  <a:noFill/>
                </a:ln>
                <a:solidFill>
                  <a:srgbClr val="000000"/>
                </a:solidFill>
                <a:effectLst/>
                <a:latin typeface="Verdana" panose="020B0604030504040204" pitchFamily="34" charset="0"/>
              </a:rPr>
              <a:t> keyword is used to sort the result-set in ascending or descending order.</a:t>
            </a:r>
            <a:endParaRPr kumimoji="0" lang="en-US" altLang="en-US" b="0" i="0" u="none" strike="noStrike" cap="none" normalizeH="0" baseline="0" dirty="0" smtClean="0">
              <a:ln>
                <a:noFill/>
              </a:ln>
              <a:solidFill>
                <a:schemeClr val="tx1"/>
              </a:solidFill>
              <a:effectLst/>
              <a:latin typeface="Times New Roman" panose="02020603050405020304" pitchFamily="18" charset="0"/>
            </a:endParaRPr>
          </a:p>
          <a:p>
            <a:pPr>
              <a:lnSpc>
                <a:spcPct val="100000"/>
              </a:lnSpc>
            </a:pPr>
            <a:r>
              <a:rPr kumimoji="0" lang="en-US" altLang="en-US" b="0" i="0" u="none" strike="noStrike" cap="none" normalizeH="0" baseline="0" dirty="0" smtClean="0">
                <a:ln>
                  <a:noFill/>
                </a:ln>
                <a:solidFill>
                  <a:srgbClr val="000000"/>
                </a:solidFill>
                <a:effectLst/>
                <a:latin typeface="Verdana" panose="020B0604030504040204" pitchFamily="34" charset="0"/>
              </a:rPr>
              <a:t>The </a:t>
            </a:r>
            <a:r>
              <a:rPr kumimoji="0" lang="en-US" altLang="en-US" b="0" i="0" u="none" strike="noStrike" cap="none" normalizeH="0" baseline="0" dirty="0" smtClean="0">
                <a:ln>
                  <a:noFill/>
                </a:ln>
                <a:solidFill>
                  <a:srgbClr val="DC143C"/>
                </a:solidFill>
                <a:effectLst/>
                <a:latin typeface="Consolas" panose="020B0609020204030204" pitchFamily="49" charset="0"/>
              </a:rPr>
              <a:t>ORDER BY</a:t>
            </a:r>
            <a:r>
              <a:rPr kumimoji="0" lang="en-US" altLang="en-US" b="0" i="0" u="none" strike="noStrike" cap="none" normalizeH="0" baseline="0" dirty="0" smtClean="0">
                <a:ln>
                  <a:noFill/>
                </a:ln>
                <a:solidFill>
                  <a:srgbClr val="000000"/>
                </a:solidFill>
                <a:effectLst/>
                <a:latin typeface="Verdana" panose="020B0604030504040204" pitchFamily="34" charset="0"/>
              </a:rPr>
              <a:t> keyword sorts the records in ascending order by default. To sort the records in descending order, use the </a:t>
            </a:r>
            <a:r>
              <a:rPr kumimoji="0" lang="en-US" altLang="en-US" b="0" i="0" u="none" strike="noStrike" cap="none" normalizeH="0" baseline="0" dirty="0" smtClean="0">
                <a:ln>
                  <a:noFill/>
                </a:ln>
                <a:solidFill>
                  <a:srgbClr val="DC143C"/>
                </a:solidFill>
                <a:effectLst/>
                <a:latin typeface="Consolas" panose="020B0609020204030204" pitchFamily="49" charset="0"/>
              </a:rPr>
              <a:t>DESC</a:t>
            </a:r>
            <a:r>
              <a:rPr kumimoji="0" lang="en-US" altLang="en-US" b="0" i="0" u="none" strike="noStrike" cap="none" normalizeH="0" baseline="0" dirty="0" smtClean="0">
                <a:ln>
                  <a:noFill/>
                </a:ln>
                <a:solidFill>
                  <a:srgbClr val="000000"/>
                </a:solidFill>
                <a:effectLst/>
                <a:latin typeface="Verdana" panose="020B0604030504040204" pitchFamily="34" charset="0"/>
              </a:rPr>
              <a:t> keyword.</a:t>
            </a:r>
            <a:endParaRPr kumimoji="0" lang="en-US" altLang="en-US" sz="4400" b="0" i="0" u="none" strike="noStrike" cap="none" normalizeH="0" baseline="0" dirty="0" smtClean="0">
              <a:ln>
                <a:noFill/>
              </a:ln>
              <a:solidFill>
                <a:schemeClr val="tx1"/>
              </a:solidFill>
              <a:effectLst/>
              <a:latin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22AE8BD-B2ED-4107-811B-DAE9CC0E64B8}" type="slidenum">
              <a:rPr lang="en-US" smtClean="0"/>
              <a:t>32</a:t>
            </a:fld>
            <a:endParaRPr lang="en-US"/>
          </a:p>
        </p:txBody>
      </p:sp>
    </p:spTree>
    <p:extLst>
      <p:ext uri="{BB962C8B-B14F-4D97-AF65-F5344CB8AC3E}">
        <p14:creationId xmlns:p14="http://schemas.microsoft.com/office/powerpoint/2010/main" val="11302506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SELECT * FROM Customers</a:t>
            </a:r>
            <a:r>
              <a:rPr lang="en-US" dirty="0" smtClean="0"/>
              <a:t/>
            </a:r>
            <a:br>
              <a:rPr lang="en-US" dirty="0" smtClean="0"/>
            </a:br>
            <a:r>
              <a:rPr lang="en-US" dirty="0"/>
              <a:t>ORDER BY Country</a:t>
            </a:r>
            <a:r>
              <a:rPr lang="en-US" dirty="0" smtClean="0"/>
              <a:t>;</a:t>
            </a:r>
          </a:p>
          <a:p>
            <a:r>
              <a:rPr lang="en-US" dirty="0"/>
              <a:t>SELECT * FROM Customers</a:t>
            </a:r>
            <a:r>
              <a:rPr lang="en-US" dirty="0" smtClean="0"/>
              <a:t/>
            </a:r>
            <a:br>
              <a:rPr lang="en-US" dirty="0" smtClean="0"/>
            </a:br>
            <a:r>
              <a:rPr lang="en-US" dirty="0"/>
              <a:t>ORDER BY Country DESC;</a:t>
            </a:r>
          </a:p>
        </p:txBody>
      </p:sp>
      <p:sp>
        <p:nvSpPr>
          <p:cNvPr id="4" name="Slide Number Placeholder 3"/>
          <p:cNvSpPr>
            <a:spLocks noGrp="1"/>
          </p:cNvSpPr>
          <p:nvPr>
            <p:ph type="sldNum" sz="quarter" idx="12"/>
          </p:nvPr>
        </p:nvSpPr>
        <p:spPr/>
        <p:txBody>
          <a:bodyPr/>
          <a:lstStyle/>
          <a:p>
            <a:fld id="{922AE8BD-B2ED-4107-811B-DAE9CC0E64B8}" type="slidenum">
              <a:rPr lang="en-US" smtClean="0"/>
              <a:t>33</a:t>
            </a:fld>
            <a:endParaRPr lang="en-US"/>
          </a:p>
        </p:txBody>
      </p:sp>
    </p:spTree>
    <p:extLst>
      <p:ext uri="{BB962C8B-B14F-4D97-AF65-F5344CB8AC3E}">
        <p14:creationId xmlns:p14="http://schemas.microsoft.com/office/powerpoint/2010/main" val="30292919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MIN() and MAX() Functions</a:t>
            </a:r>
            <a:br>
              <a:rPr lang="en-US" dirty="0" smtClean="0"/>
            </a:b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34</a:t>
            </a:fld>
            <a:endParaRPr lang="en-US"/>
          </a:p>
        </p:txBody>
      </p:sp>
      <p:sp>
        <p:nvSpPr>
          <p:cNvPr id="6" name="Rectangle 2"/>
          <p:cNvSpPr>
            <a:spLocks noChangeArrowheads="1"/>
          </p:cNvSpPr>
          <p:nvPr/>
        </p:nvSpPr>
        <p:spPr bwMode="auto">
          <a:xfrm>
            <a:off x="838200" y="1354543"/>
            <a:ext cx="8031480" cy="218002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smtClean="0">
                <a:ln>
                  <a:noFill/>
                </a:ln>
                <a:solidFill>
                  <a:srgbClr val="000000"/>
                </a:solidFill>
                <a:effectLst/>
                <a:latin typeface="Verdana" panose="020B0604030504040204" pitchFamily="34" charset="0"/>
              </a:rPr>
              <a:t>The </a:t>
            </a:r>
            <a:r>
              <a:rPr kumimoji="0" lang="en-US" altLang="en-US" sz="2800" b="0" i="0" u="none" strike="noStrike" cap="none" normalizeH="0" baseline="0" dirty="0" smtClean="0">
                <a:ln>
                  <a:noFill/>
                </a:ln>
                <a:solidFill>
                  <a:srgbClr val="DC143C"/>
                </a:solidFill>
                <a:effectLst/>
                <a:latin typeface="Consolas" panose="020B0609020204030204" pitchFamily="49" charset="0"/>
              </a:rPr>
              <a:t>MIN()</a:t>
            </a:r>
            <a:r>
              <a:rPr kumimoji="0" lang="en-US" altLang="en-US" sz="2800" b="0" i="0" u="none" strike="noStrike" cap="none" normalizeH="0" baseline="0" dirty="0" smtClean="0">
                <a:ln>
                  <a:noFill/>
                </a:ln>
                <a:solidFill>
                  <a:srgbClr val="000000"/>
                </a:solidFill>
                <a:effectLst/>
                <a:latin typeface="Verdana" panose="020B0604030504040204" pitchFamily="34" charset="0"/>
              </a:rPr>
              <a:t> function returns the smallest value of the selected column.</a:t>
            </a:r>
            <a:endParaRPr kumimoji="0" lang="en-US" altLang="en-US" sz="2800" b="0" i="0" u="none" strike="noStrike" cap="none" normalizeH="0" baseline="0" dirty="0" smtClean="0">
              <a:ln>
                <a:noFill/>
              </a:ln>
              <a:solidFill>
                <a:schemeClr val="tx1"/>
              </a:solidFill>
              <a:effectLst/>
              <a:latin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smtClean="0">
                <a:ln>
                  <a:noFill/>
                </a:ln>
                <a:solidFill>
                  <a:srgbClr val="000000"/>
                </a:solidFill>
                <a:effectLst/>
                <a:latin typeface="Verdana" panose="020B0604030504040204" pitchFamily="34" charset="0"/>
              </a:rPr>
              <a:t>The </a:t>
            </a:r>
            <a:r>
              <a:rPr kumimoji="0" lang="en-US" altLang="en-US" sz="2800" b="0" i="0" u="none" strike="noStrike" cap="none" normalizeH="0" baseline="0" dirty="0" smtClean="0">
                <a:ln>
                  <a:noFill/>
                </a:ln>
                <a:solidFill>
                  <a:srgbClr val="DC143C"/>
                </a:solidFill>
                <a:effectLst/>
                <a:latin typeface="Consolas" panose="020B0609020204030204" pitchFamily="49" charset="0"/>
              </a:rPr>
              <a:t>MAX()</a:t>
            </a:r>
            <a:r>
              <a:rPr kumimoji="0" lang="en-US" altLang="en-US" sz="2800" b="0" i="0" u="none" strike="noStrike" cap="none" normalizeH="0" baseline="0" dirty="0" smtClean="0">
                <a:ln>
                  <a:noFill/>
                </a:ln>
                <a:solidFill>
                  <a:srgbClr val="000000"/>
                </a:solidFill>
                <a:effectLst/>
                <a:latin typeface="Verdana" panose="020B0604030504040204" pitchFamily="34" charset="0"/>
              </a:rPr>
              <a:t> function returns the largest value of the selected column.</a:t>
            </a:r>
            <a:endParaRPr kumimoji="0" lang="en-US" altLang="en-US" sz="44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endParaRPr>
          </a:p>
        </p:txBody>
      </p:sp>
      <p:sp>
        <p:nvSpPr>
          <p:cNvPr id="7" name="TextBox 6"/>
          <p:cNvSpPr txBox="1"/>
          <p:nvPr/>
        </p:nvSpPr>
        <p:spPr>
          <a:xfrm>
            <a:off x="1111431" y="3369826"/>
            <a:ext cx="7888878" cy="3046988"/>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t>SELECT MIN(</a:t>
            </a:r>
            <a:r>
              <a:rPr lang="en-US" sz="2400" i="1" dirty="0" err="1"/>
              <a:t>column_name</a:t>
            </a:r>
            <a:r>
              <a:rPr lang="en-US" sz="2400" dirty="0"/>
              <a:t>)</a:t>
            </a:r>
            <a:r>
              <a:rPr lang="en-US" sz="2400" dirty="0" smtClean="0"/>
              <a:t/>
            </a:r>
            <a:br>
              <a:rPr lang="en-US" sz="2400" dirty="0" smtClean="0"/>
            </a:br>
            <a:r>
              <a:rPr lang="en-US" sz="2400" dirty="0"/>
              <a:t>FROM </a:t>
            </a:r>
            <a:r>
              <a:rPr lang="en-US" sz="2400" i="1" dirty="0" err="1"/>
              <a:t>table_name</a:t>
            </a:r>
            <a:r>
              <a:rPr lang="en-US" sz="2400" dirty="0" smtClean="0"/>
              <a:t/>
            </a:r>
            <a:br>
              <a:rPr lang="en-US" sz="2400" dirty="0" smtClean="0"/>
            </a:br>
            <a:r>
              <a:rPr lang="en-US" sz="2400" dirty="0"/>
              <a:t>WHERE </a:t>
            </a:r>
            <a:r>
              <a:rPr lang="en-US" sz="2400" i="1" dirty="0"/>
              <a:t>condition</a:t>
            </a:r>
            <a:r>
              <a:rPr lang="en-US" sz="2400" dirty="0" smtClean="0"/>
              <a:t>;</a:t>
            </a:r>
          </a:p>
          <a:p>
            <a:endParaRPr lang="en-US" sz="2400" dirty="0"/>
          </a:p>
          <a:p>
            <a:endParaRPr lang="en-US" sz="2400" dirty="0" smtClean="0"/>
          </a:p>
          <a:p>
            <a:pPr marL="285750" indent="-285750">
              <a:buFont typeface="Wingdings" panose="05000000000000000000" pitchFamily="2" charset="2"/>
              <a:buChar char="Ø"/>
            </a:pPr>
            <a:r>
              <a:rPr lang="en-US" sz="2400" dirty="0"/>
              <a:t>SELECT MAX(</a:t>
            </a:r>
            <a:r>
              <a:rPr lang="en-US" sz="2400" i="1" dirty="0" err="1"/>
              <a:t>column_name</a:t>
            </a:r>
            <a:r>
              <a:rPr lang="en-US" sz="2400" dirty="0"/>
              <a:t>)</a:t>
            </a:r>
            <a:r>
              <a:rPr lang="en-US" sz="2400" dirty="0" smtClean="0"/>
              <a:t/>
            </a:r>
            <a:br>
              <a:rPr lang="en-US" sz="2400" dirty="0" smtClean="0"/>
            </a:br>
            <a:r>
              <a:rPr lang="en-US" sz="2400" dirty="0"/>
              <a:t>FROM </a:t>
            </a:r>
            <a:r>
              <a:rPr lang="en-US" sz="2400" i="1" dirty="0" err="1"/>
              <a:t>table_name</a:t>
            </a:r>
            <a:r>
              <a:rPr lang="en-US" sz="2400" dirty="0" smtClean="0"/>
              <a:t/>
            </a:r>
            <a:br>
              <a:rPr lang="en-US" sz="2400" dirty="0" smtClean="0"/>
            </a:br>
            <a:r>
              <a:rPr lang="en-US" sz="2400" dirty="0"/>
              <a:t>WHERE </a:t>
            </a:r>
            <a:r>
              <a:rPr lang="en-US" sz="2400" i="1" dirty="0"/>
              <a:t>condition</a:t>
            </a:r>
            <a:r>
              <a:rPr lang="en-US" sz="2400" dirty="0"/>
              <a:t>;</a:t>
            </a:r>
          </a:p>
        </p:txBody>
      </p:sp>
    </p:spTree>
    <p:extLst>
      <p:ext uri="{BB962C8B-B14F-4D97-AF65-F5344CB8AC3E}">
        <p14:creationId xmlns:p14="http://schemas.microsoft.com/office/powerpoint/2010/main" val="26249774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817" y="660053"/>
            <a:ext cx="10515600" cy="2318278"/>
          </a:xfrm>
        </p:spPr>
        <p:txBody>
          <a:bodyPr>
            <a:normAutofit/>
          </a:bodyPr>
          <a:lstStyle/>
          <a:p>
            <a:r>
              <a:rPr lang="en-US" sz="2400" dirty="0">
                <a:latin typeface="Times New Roman" panose="02020603050405020304" pitchFamily="18" charset="0"/>
                <a:cs typeface="Times New Roman" panose="02020603050405020304" pitchFamily="18" charset="0"/>
              </a:rPr>
              <a:t>SELECT MIN(Price) AS </a:t>
            </a:r>
            <a:r>
              <a:rPr lang="en-US" sz="2400" dirty="0" err="1">
                <a:latin typeface="Times New Roman" panose="02020603050405020304" pitchFamily="18" charset="0"/>
                <a:cs typeface="Times New Roman" panose="02020603050405020304" pitchFamily="18" charset="0"/>
              </a:rPr>
              <a:t>SmallestPrice</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FROM Products</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SELECT MAX(Price) AS </a:t>
            </a:r>
            <a:r>
              <a:rPr lang="en-US" sz="2400" dirty="0" err="1">
                <a:latin typeface="Times New Roman" panose="02020603050405020304" pitchFamily="18" charset="0"/>
                <a:cs typeface="Times New Roman" panose="02020603050405020304" pitchFamily="18" charset="0"/>
              </a:rPr>
              <a:t>LargestPrice</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FROM Products;</a:t>
            </a:r>
          </a:p>
        </p:txBody>
      </p:sp>
      <p:sp>
        <p:nvSpPr>
          <p:cNvPr id="4" name="Slide Number Placeholder 3"/>
          <p:cNvSpPr>
            <a:spLocks noGrp="1"/>
          </p:cNvSpPr>
          <p:nvPr>
            <p:ph type="sldNum" sz="quarter" idx="12"/>
          </p:nvPr>
        </p:nvSpPr>
        <p:spPr/>
        <p:txBody>
          <a:bodyPr/>
          <a:lstStyle/>
          <a:p>
            <a:fld id="{922AE8BD-B2ED-4107-811B-DAE9CC0E64B8}" type="slidenum">
              <a:rPr lang="en-US" smtClean="0"/>
              <a:t>35</a:t>
            </a:fld>
            <a:endParaRPr lang="en-US"/>
          </a:p>
        </p:txBody>
      </p:sp>
      <p:sp>
        <p:nvSpPr>
          <p:cNvPr id="2" name="Rectangle 1"/>
          <p:cNvSpPr/>
          <p:nvPr/>
        </p:nvSpPr>
        <p:spPr>
          <a:xfrm>
            <a:off x="805845" y="3348836"/>
            <a:ext cx="528144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select name as </a:t>
            </a:r>
            <a:r>
              <a:rPr lang="en-US" dirty="0" err="1">
                <a:latin typeface="Times New Roman" panose="02020603050405020304" pitchFamily="18" charset="0"/>
                <a:cs typeface="Times New Roman" panose="02020603050405020304" pitchFamily="18" charset="0"/>
              </a:rPr>
              <a:t>nameofperson,age,email</a:t>
            </a:r>
            <a:r>
              <a:rPr lang="en-US" dirty="0">
                <a:latin typeface="Times New Roman" panose="02020603050405020304" pitchFamily="18" charset="0"/>
                <a:cs typeface="Times New Roman" panose="02020603050405020304" pitchFamily="18" charset="0"/>
              </a:rPr>
              <a:t> from person ;</a:t>
            </a:r>
          </a:p>
        </p:txBody>
      </p:sp>
      <p:pic>
        <p:nvPicPr>
          <p:cNvPr id="5" name="Picture 4"/>
          <p:cNvPicPr>
            <a:picLocks noChangeAspect="1"/>
          </p:cNvPicPr>
          <p:nvPr/>
        </p:nvPicPr>
        <p:blipFill>
          <a:blip r:embed="rId2"/>
          <a:stretch>
            <a:fillRect/>
          </a:stretch>
        </p:blipFill>
        <p:spPr>
          <a:xfrm>
            <a:off x="951563" y="4088673"/>
            <a:ext cx="5919500" cy="1724298"/>
          </a:xfrm>
          <a:prstGeom prst="rect">
            <a:avLst/>
          </a:prstGeom>
        </p:spPr>
      </p:pic>
    </p:spTree>
    <p:extLst>
      <p:ext uri="{BB962C8B-B14F-4D97-AF65-F5344CB8AC3E}">
        <p14:creationId xmlns:p14="http://schemas.microsoft.com/office/powerpoint/2010/main" val="8514158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676" y="725163"/>
            <a:ext cx="10515600" cy="1325563"/>
          </a:xfrm>
        </p:spPr>
        <p:txBody>
          <a:bodyPr>
            <a:normAutofit/>
          </a:bodyPr>
          <a:lstStyle/>
          <a:p>
            <a:r>
              <a:rPr lang="en-US" sz="3200" dirty="0"/>
              <a:t>The SQL COUNT(), AVG() and SUM</a:t>
            </a:r>
            <a:r>
              <a:rPr lang="en-US" sz="3200" dirty="0" smtClean="0"/>
              <a:t>(),min(),max()</a:t>
            </a:r>
            <a:r>
              <a:rPr lang="en-US" sz="3200" dirty="0"/>
              <a:t/>
            </a:r>
            <a:br>
              <a:rPr lang="en-US" sz="3200" dirty="0"/>
            </a:br>
            <a:endParaRPr lang="en-US" sz="3200" dirty="0"/>
          </a:p>
        </p:txBody>
      </p:sp>
      <p:sp>
        <p:nvSpPr>
          <p:cNvPr id="5" name="Rectangle 1"/>
          <p:cNvSpPr>
            <a:spLocks noGrp="1" noChangeArrowheads="1"/>
          </p:cNvSpPr>
          <p:nvPr>
            <p:ph idx="1"/>
          </p:nvPr>
        </p:nvSpPr>
        <p:spPr bwMode="auto">
          <a:xfrm>
            <a:off x="542922" y="1953041"/>
            <a:ext cx="9927718"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erdana" panose="020B0604030504040204" pitchFamily="34" charset="0"/>
              </a:rPr>
              <a:t>The </a:t>
            </a:r>
            <a:r>
              <a:rPr kumimoji="0" lang="en-US" altLang="en-US" sz="1800" b="0" i="0" u="none" strike="noStrike" cap="none" normalizeH="0" baseline="0" dirty="0" smtClean="0">
                <a:ln>
                  <a:noFill/>
                </a:ln>
                <a:solidFill>
                  <a:srgbClr val="DC143C"/>
                </a:solidFill>
                <a:effectLst/>
                <a:latin typeface="Consolas" panose="020B0609020204030204" pitchFamily="49" charset="0"/>
              </a:rPr>
              <a:t>COUNT()</a:t>
            </a:r>
            <a:r>
              <a:rPr kumimoji="0" lang="en-US" altLang="en-US" sz="1800" b="0" i="0" u="none" strike="noStrike" cap="none" normalizeH="0" baseline="0" dirty="0" smtClean="0">
                <a:ln>
                  <a:noFill/>
                </a:ln>
                <a:solidFill>
                  <a:srgbClr val="000000"/>
                </a:solidFill>
                <a:effectLst/>
                <a:latin typeface="Verdana" panose="020B0604030504040204" pitchFamily="34" charset="0"/>
              </a:rPr>
              <a:t> function returns the number of rows that matches a specified criterion.</a:t>
            </a:r>
          </a:p>
          <a:p>
            <a:pPr marL="0" indent="0">
              <a:lnSpc>
                <a:spcPct val="100000"/>
              </a:lnSpc>
              <a:buNone/>
            </a:pPr>
            <a:r>
              <a:rPr lang="en-US" dirty="0" smtClean="0">
                <a:latin typeface="Times New Roman" panose="02020603050405020304" pitchFamily="18" charset="0"/>
              </a:rPr>
              <a:t>COUNT</a:t>
            </a:r>
            <a:r>
              <a:rPr lang="en-US" dirty="0">
                <a:latin typeface="Times New Roman" panose="02020603050405020304" pitchFamily="18" charset="0"/>
              </a:rPr>
              <a:t>() Syntax</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rgbClr val="000000"/>
              </a:solidFill>
              <a:latin typeface="Verdana" panose="020B0604030504040204" pitchFamily="34" charset="0"/>
            </a:endParaRPr>
          </a:p>
          <a:p>
            <a:pPr>
              <a:lnSpc>
                <a:spcPct val="100000"/>
              </a:lnSpc>
            </a:pPr>
            <a:r>
              <a:rPr lang="en-US" sz="2000" dirty="0">
                <a:latin typeface="Times New Roman" panose="02020603050405020304" pitchFamily="18" charset="0"/>
              </a:rPr>
              <a:t>SELECT </a:t>
            </a:r>
            <a:r>
              <a:rPr lang="en-US" sz="2000" dirty="0" smtClean="0">
                <a:latin typeface="Times New Roman" panose="02020603050405020304" pitchFamily="18" charset="0"/>
              </a:rPr>
              <a:t>count(</a:t>
            </a:r>
            <a:r>
              <a:rPr lang="en-US" sz="2000" i="1" dirty="0" err="1" smtClean="0">
                <a:latin typeface="Times New Roman" panose="02020603050405020304" pitchFamily="18" charset="0"/>
              </a:rPr>
              <a:t>column_name</a:t>
            </a:r>
            <a:r>
              <a:rPr lang="en-US" sz="2000" dirty="0">
                <a:latin typeface="Times New Roman" panose="02020603050405020304" pitchFamily="18" charset="0"/>
              </a:rPr>
              <a:t>)</a:t>
            </a:r>
            <a:r>
              <a:rPr lang="en-US" sz="1400" dirty="0" smtClean="0">
                <a:latin typeface="Times New Roman" panose="02020603050405020304" pitchFamily="18" charset="0"/>
              </a:rPr>
              <a:t/>
            </a:r>
            <a:br>
              <a:rPr lang="en-US" sz="1400" dirty="0" smtClean="0">
                <a:latin typeface="Times New Roman" panose="02020603050405020304" pitchFamily="18" charset="0"/>
              </a:rPr>
            </a:br>
            <a:r>
              <a:rPr lang="en-US" sz="2000" dirty="0">
                <a:latin typeface="Times New Roman" panose="02020603050405020304" pitchFamily="18" charset="0"/>
              </a:rPr>
              <a:t>FROM </a:t>
            </a:r>
            <a:r>
              <a:rPr lang="en-US" sz="2000" i="1" dirty="0" err="1">
                <a:latin typeface="Times New Roman" panose="02020603050405020304" pitchFamily="18" charset="0"/>
              </a:rPr>
              <a:t>table_name</a:t>
            </a:r>
            <a:r>
              <a:rPr lang="en-US" sz="1400" dirty="0" smtClean="0">
                <a:latin typeface="Times New Roman" panose="02020603050405020304" pitchFamily="18" charset="0"/>
              </a:rPr>
              <a:t/>
            </a:r>
            <a:br>
              <a:rPr lang="en-US" sz="1400" dirty="0" smtClean="0">
                <a:latin typeface="Times New Roman" panose="02020603050405020304" pitchFamily="18" charset="0"/>
              </a:rPr>
            </a:br>
            <a:r>
              <a:rPr lang="en-US" sz="2000" dirty="0">
                <a:latin typeface="Times New Roman" panose="02020603050405020304" pitchFamily="18" charset="0"/>
              </a:rPr>
              <a:t>WHERE </a:t>
            </a:r>
            <a:r>
              <a:rPr lang="en-US" sz="2000" i="1" dirty="0">
                <a:latin typeface="Times New Roman" panose="02020603050405020304" pitchFamily="18" charset="0"/>
              </a:rPr>
              <a:t>condition</a:t>
            </a:r>
            <a:r>
              <a:rPr lang="en-US" sz="2000" dirty="0">
                <a:latin typeface="Times New Roman" panose="02020603050405020304" pitchFamily="18" charset="0"/>
              </a:rPr>
              <a:t>;</a:t>
            </a:r>
            <a:r>
              <a:rPr kumimoji="0" lang="en-US" altLang="en-US" sz="1400" b="0" i="0" u="none" strike="noStrike" cap="none" normalizeH="0" baseline="0" dirty="0" smtClean="0">
                <a:ln>
                  <a:noFill/>
                </a:ln>
                <a:solidFill>
                  <a:schemeClr val="tx1"/>
                </a:solidFill>
                <a:effectLst/>
                <a:latin typeface="Times New Roman" panose="02020603050405020304" pitchFamily="18" charset="0"/>
              </a:rPr>
              <a:t> </a:t>
            </a:r>
          </a:p>
          <a:p>
            <a:pPr marL="0" lvl="0" indent="0">
              <a:lnSpc>
                <a:spcPct val="100000"/>
              </a:lnSpc>
              <a:buNone/>
            </a:pPr>
            <a:endParaRPr lang="en-US" altLang="en-US" sz="1800" dirty="0" smtClean="0">
              <a:latin typeface="Times New Roman" panose="02020603050405020304" pitchFamily="18" charset="0"/>
            </a:endParaRPr>
          </a:p>
          <a:p>
            <a:pPr marL="0" lvl="0" indent="0">
              <a:lnSpc>
                <a:spcPct val="100000"/>
              </a:lnSpc>
              <a:buNone/>
            </a:pPr>
            <a:endParaRPr lang="en-US" altLang="en-US" sz="1800" dirty="0">
              <a:latin typeface="Times New Roman" panose="02020603050405020304" pitchFamily="18" charset="0"/>
            </a:endParaRPr>
          </a:p>
          <a:p>
            <a:pPr marL="0" lvl="0" indent="0">
              <a:lnSpc>
                <a:spcPct val="100000"/>
              </a:lnSpc>
              <a:buNone/>
            </a:pPr>
            <a:endParaRPr lang="en-US" altLang="en-US" sz="1800" dirty="0">
              <a:latin typeface="Times New Roman" panose="02020603050405020304" pitchFamily="18" charset="0"/>
            </a:endParaRPr>
          </a:p>
          <a:p>
            <a:pPr marL="0" indent="0">
              <a:lnSpc>
                <a:spcPct val="100000"/>
              </a:lnSpc>
              <a:buNone/>
            </a:pPr>
            <a:r>
              <a:rPr lang="en-US" dirty="0">
                <a:latin typeface="Times New Roman" panose="02020603050405020304" pitchFamily="18" charset="0"/>
              </a:rPr>
              <a:t>AVG() </a:t>
            </a:r>
            <a:r>
              <a:rPr lang="en-US" dirty="0" smtClean="0">
                <a:latin typeface="Times New Roman" panose="02020603050405020304" pitchFamily="18" charset="0"/>
              </a:rPr>
              <a:t>Syntax</a:t>
            </a:r>
          </a:p>
          <a:p>
            <a:pPr>
              <a:lnSpc>
                <a:spcPct val="100000"/>
              </a:lnSpc>
            </a:pPr>
            <a:r>
              <a:rPr lang="en-US" sz="1800" dirty="0">
                <a:latin typeface="Times New Roman" panose="02020603050405020304" pitchFamily="18" charset="0"/>
              </a:rPr>
              <a:t>SELECT AVG(</a:t>
            </a:r>
            <a:r>
              <a:rPr lang="en-US" sz="1800" i="1" dirty="0" err="1">
                <a:latin typeface="Times New Roman" panose="02020603050405020304" pitchFamily="18" charset="0"/>
              </a:rPr>
              <a:t>column_name</a:t>
            </a:r>
            <a:r>
              <a:rPr lang="en-US" sz="1800" dirty="0">
                <a:latin typeface="Times New Roman" panose="02020603050405020304" pitchFamily="18" charset="0"/>
              </a:rPr>
              <a:t>)</a:t>
            </a:r>
            <a:r>
              <a:rPr lang="en-US" sz="1800" dirty="0" smtClean="0">
                <a:latin typeface="Times New Roman" panose="02020603050405020304" pitchFamily="18" charset="0"/>
              </a:rPr>
              <a:t/>
            </a:r>
            <a:br>
              <a:rPr lang="en-US" sz="1800" dirty="0" smtClean="0">
                <a:latin typeface="Times New Roman" panose="02020603050405020304" pitchFamily="18" charset="0"/>
              </a:rPr>
            </a:br>
            <a:r>
              <a:rPr lang="en-US" sz="1800" dirty="0">
                <a:latin typeface="Times New Roman" panose="02020603050405020304" pitchFamily="18" charset="0"/>
              </a:rPr>
              <a:t>FROM </a:t>
            </a:r>
            <a:r>
              <a:rPr lang="en-US" sz="1800" i="1" dirty="0" err="1">
                <a:latin typeface="Times New Roman" panose="02020603050405020304" pitchFamily="18" charset="0"/>
              </a:rPr>
              <a:t>table_name</a:t>
            </a:r>
            <a:r>
              <a:rPr lang="en-US" sz="1800" dirty="0" smtClean="0">
                <a:latin typeface="Times New Roman" panose="02020603050405020304" pitchFamily="18" charset="0"/>
              </a:rPr>
              <a:t/>
            </a:r>
            <a:br>
              <a:rPr lang="en-US" sz="1800" dirty="0" smtClean="0">
                <a:latin typeface="Times New Roman" panose="02020603050405020304" pitchFamily="18" charset="0"/>
              </a:rPr>
            </a:br>
            <a:r>
              <a:rPr lang="en-US" sz="1800" dirty="0">
                <a:latin typeface="Times New Roman" panose="02020603050405020304" pitchFamily="18" charset="0"/>
              </a:rPr>
              <a:t>WHERE </a:t>
            </a:r>
            <a:r>
              <a:rPr lang="en-US" sz="1800" i="1" dirty="0">
                <a:latin typeface="Times New Roman" panose="02020603050405020304" pitchFamily="18" charset="0"/>
              </a:rPr>
              <a:t>condition</a:t>
            </a:r>
            <a:r>
              <a:rPr lang="en-US" sz="1800" dirty="0">
                <a:latin typeface="Times New Roman" panose="02020603050405020304" pitchFamily="18" charset="0"/>
              </a:rPr>
              <a:t>;</a:t>
            </a:r>
          </a:p>
          <a:p>
            <a:pPr marL="0" lvl="0" indent="0">
              <a:lnSpc>
                <a:spcPct val="100000"/>
              </a:lnSpc>
              <a:buNone/>
            </a:pPr>
            <a:endParaRPr kumimoji="0" lang="en-US" altLang="en-US" sz="3200" b="0" i="0" u="none" strike="noStrike" cap="none" normalizeH="0" baseline="0" dirty="0" smtClean="0">
              <a:ln>
                <a:noFill/>
              </a:ln>
              <a:solidFill>
                <a:schemeClr val="tx1"/>
              </a:solidFill>
              <a:effectLst/>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36</a:t>
            </a:fld>
            <a:endParaRPr lang="en-US"/>
          </a:p>
        </p:txBody>
      </p:sp>
      <p:sp>
        <p:nvSpPr>
          <p:cNvPr id="8" name="Rectangle 4"/>
          <p:cNvSpPr>
            <a:spLocks noChangeArrowheads="1"/>
          </p:cNvSpPr>
          <p:nvPr/>
        </p:nvSpPr>
        <p:spPr bwMode="auto">
          <a:xfrm>
            <a:off x="542922" y="4557174"/>
            <a:ext cx="1163955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rgbClr val="000000"/>
                </a:solidFill>
                <a:effectLst/>
                <a:latin typeface="Verdana" panose="020B0604030504040204" pitchFamily="34" charset="0"/>
              </a:rPr>
              <a:t>The </a:t>
            </a:r>
            <a:r>
              <a:rPr kumimoji="0" lang="en-US" altLang="en-US" sz="1600" b="1" i="0" u="none" strike="noStrike" cap="none" normalizeH="0" baseline="0" dirty="0" smtClean="0">
                <a:ln>
                  <a:noFill/>
                </a:ln>
                <a:solidFill>
                  <a:srgbClr val="DC143C"/>
                </a:solidFill>
                <a:effectLst/>
                <a:latin typeface="Consolas" panose="020B0609020204030204" pitchFamily="49" charset="0"/>
              </a:rPr>
              <a:t>AVG()</a:t>
            </a:r>
            <a:r>
              <a:rPr kumimoji="0" lang="en-US" altLang="en-US" sz="1600" b="1" i="0" u="none" strike="noStrike" cap="none" normalizeH="0" baseline="0" dirty="0" smtClean="0">
                <a:ln>
                  <a:noFill/>
                </a:ln>
                <a:solidFill>
                  <a:srgbClr val="000000"/>
                </a:solidFill>
                <a:effectLst/>
                <a:latin typeface="Verdana" panose="020B0604030504040204" pitchFamily="34" charset="0"/>
              </a:rPr>
              <a:t> function returns the average value of a numeric column. </a:t>
            </a:r>
            <a:r>
              <a:rPr kumimoji="0" lang="en-US" altLang="en-US" sz="1600" b="1" i="0" u="none" strike="noStrike" cap="none" normalizeH="0" baseline="0" dirty="0" smtClean="0">
                <a:ln>
                  <a:noFill/>
                </a:ln>
                <a:solidFill>
                  <a:schemeClr val="tx1"/>
                </a:solidFill>
                <a:effectLst/>
                <a:latin typeface="Times New Roman" panose="02020603050405020304" pitchFamily="18" charset="0"/>
              </a:rPr>
              <a:t> </a:t>
            </a:r>
            <a:endParaRPr kumimoji="0" lang="en-US" altLang="en-US" sz="2800" b="1" i="0" u="none" strike="noStrike" cap="none" normalizeH="0" baseline="0" dirty="0" smtClean="0">
              <a:ln>
                <a:noFill/>
              </a:ln>
              <a:solidFill>
                <a:schemeClr val="tx1"/>
              </a:solidFill>
              <a:effectLst/>
              <a:latin typeface="Times New Roman" panose="02020603050405020304" pitchFamily="18" charset="0"/>
            </a:endParaRPr>
          </a:p>
        </p:txBody>
      </p:sp>
      <p:sp>
        <p:nvSpPr>
          <p:cNvPr id="6" name="TextBox 5"/>
          <p:cNvSpPr txBox="1"/>
          <p:nvPr/>
        </p:nvSpPr>
        <p:spPr>
          <a:xfrm>
            <a:off x="3252652" y="62416"/>
            <a:ext cx="3833165" cy="646331"/>
          </a:xfrm>
          <a:prstGeom prst="rect">
            <a:avLst/>
          </a:prstGeom>
          <a:noFill/>
        </p:spPr>
        <p:txBody>
          <a:bodyPr wrap="none" rtlCol="0">
            <a:spAutoFit/>
          </a:bodyPr>
          <a:lstStyle/>
          <a:p>
            <a:r>
              <a:rPr lang="en-US" sz="3600" b="1" dirty="0" smtClean="0"/>
              <a:t>Aggregate function</a:t>
            </a:r>
            <a:endParaRPr lang="en-US" sz="3600" b="1" dirty="0"/>
          </a:p>
        </p:txBody>
      </p:sp>
    </p:spTree>
    <p:extLst>
      <p:ext uri="{BB962C8B-B14F-4D97-AF65-F5344CB8AC3E}">
        <p14:creationId xmlns:p14="http://schemas.microsoft.com/office/powerpoint/2010/main" val="6329576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8825"/>
            <a:ext cx="10515600" cy="4351338"/>
          </a:xfrm>
        </p:spPr>
        <p:txBody>
          <a:bodyPr>
            <a:normAutofit/>
          </a:bodyPr>
          <a:lstStyle/>
          <a:p>
            <a:pPr>
              <a:lnSpc>
                <a:spcPct val="200000"/>
              </a:lnSpc>
            </a:pPr>
            <a:r>
              <a:rPr lang="en-US" sz="2400" dirty="0"/>
              <a:t>SELECT COUNT(</a:t>
            </a:r>
            <a:r>
              <a:rPr lang="en-US" sz="2400" dirty="0" err="1"/>
              <a:t>ProductID</a:t>
            </a:r>
            <a:r>
              <a:rPr lang="en-US" sz="2400" dirty="0"/>
              <a:t>)</a:t>
            </a:r>
            <a:r>
              <a:rPr lang="en-US" sz="2400" dirty="0" smtClean="0"/>
              <a:t/>
            </a:r>
            <a:br>
              <a:rPr lang="en-US" sz="2400" dirty="0" smtClean="0"/>
            </a:br>
            <a:r>
              <a:rPr lang="en-US" sz="2400" dirty="0"/>
              <a:t>FROM Products</a:t>
            </a:r>
            <a:r>
              <a:rPr lang="en-US" sz="2400" dirty="0" smtClean="0"/>
              <a:t>;</a:t>
            </a:r>
          </a:p>
          <a:p>
            <a:pPr>
              <a:lnSpc>
                <a:spcPct val="200000"/>
              </a:lnSpc>
            </a:pPr>
            <a:endParaRPr lang="en-US" sz="2400" dirty="0"/>
          </a:p>
          <a:p>
            <a:pPr>
              <a:lnSpc>
                <a:spcPct val="200000"/>
              </a:lnSpc>
            </a:pPr>
            <a:r>
              <a:rPr lang="en-US" sz="2400" dirty="0"/>
              <a:t>SELECT AVG(Price)</a:t>
            </a:r>
            <a:r>
              <a:rPr lang="en-US" sz="2400" dirty="0" smtClean="0"/>
              <a:t/>
            </a:r>
            <a:br>
              <a:rPr lang="en-US" sz="2400" dirty="0" smtClean="0"/>
            </a:br>
            <a:r>
              <a:rPr lang="en-US" sz="2400" dirty="0"/>
              <a:t>FROM Products</a:t>
            </a:r>
            <a:r>
              <a:rPr lang="en-US" sz="2400" dirty="0" smtClean="0"/>
              <a:t>;</a:t>
            </a:r>
          </a:p>
          <a:p>
            <a:pPr>
              <a:lnSpc>
                <a:spcPct val="200000"/>
              </a:lnSpc>
            </a:pPr>
            <a:endParaRPr lang="en-US" sz="2400" dirty="0"/>
          </a:p>
        </p:txBody>
      </p:sp>
      <p:sp>
        <p:nvSpPr>
          <p:cNvPr id="4" name="Slide Number Placeholder 3"/>
          <p:cNvSpPr>
            <a:spLocks noGrp="1"/>
          </p:cNvSpPr>
          <p:nvPr>
            <p:ph type="sldNum" sz="quarter" idx="12"/>
          </p:nvPr>
        </p:nvSpPr>
        <p:spPr/>
        <p:txBody>
          <a:bodyPr/>
          <a:lstStyle/>
          <a:p>
            <a:fld id="{922AE8BD-B2ED-4107-811B-DAE9CC0E64B8}" type="slidenum">
              <a:rPr lang="en-US" smtClean="0"/>
              <a:t>37</a:t>
            </a:fld>
            <a:endParaRPr lang="en-US"/>
          </a:p>
        </p:txBody>
      </p:sp>
      <p:pic>
        <p:nvPicPr>
          <p:cNvPr id="2" name="Picture 1"/>
          <p:cNvPicPr>
            <a:picLocks noChangeAspect="1"/>
          </p:cNvPicPr>
          <p:nvPr/>
        </p:nvPicPr>
        <p:blipFill>
          <a:blip r:embed="rId2"/>
          <a:stretch>
            <a:fillRect/>
          </a:stretch>
        </p:blipFill>
        <p:spPr>
          <a:xfrm>
            <a:off x="1110341" y="5350872"/>
            <a:ext cx="1672047" cy="571500"/>
          </a:xfrm>
          <a:prstGeom prst="rect">
            <a:avLst/>
          </a:prstGeom>
        </p:spPr>
      </p:pic>
      <p:pic>
        <p:nvPicPr>
          <p:cNvPr id="6" name="Picture 5"/>
          <p:cNvPicPr>
            <a:picLocks noChangeAspect="1"/>
          </p:cNvPicPr>
          <p:nvPr/>
        </p:nvPicPr>
        <p:blipFill>
          <a:blip r:embed="rId3"/>
          <a:stretch>
            <a:fillRect/>
          </a:stretch>
        </p:blipFill>
        <p:spPr>
          <a:xfrm>
            <a:off x="6772275" y="4885305"/>
            <a:ext cx="3209925" cy="266700"/>
          </a:xfrm>
          <a:prstGeom prst="rect">
            <a:avLst/>
          </a:prstGeom>
        </p:spPr>
      </p:pic>
      <p:pic>
        <p:nvPicPr>
          <p:cNvPr id="7" name="Picture 6"/>
          <p:cNvPicPr>
            <a:picLocks noChangeAspect="1"/>
          </p:cNvPicPr>
          <p:nvPr/>
        </p:nvPicPr>
        <p:blipFill>
          <a:blip r:embed="rId4"/>
          <a:stretch>
            <a:fillRect/>
          </a:stretch>
        </p:blipFill>
        <p:spPr>
          <a:xfrm>
            <a:off x="6988629" y="5360397"/>
            <a:ext cx="1621971" cy="561975"/>
          </a:xfrm>
          <a:prstGeom prst="rect">
            <a:avLst/>
          </a:prstGeom>
        </p:spPr>
      </p:pic>
    </p:spTree>
    <p:extLst>
      <p:ext uri="{BB962C8B-B14F-4D97-AF65-F5344CB8AC3E}">
        <p14:creationId xmlns:p14="http://schemas.microsoft.com/office/powerpoint/2010/main" val="91756117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79500" y="3263900"/>
            <a:ext cx="7073900" cy="2914650"/>
          </a:xfrm>
          <a:prstGeom prst="rect">
            <a:avLst/>
          </a:prstGeom>
        </p:spPr>
      </p:pic>
      <p:sp>
        <p:nvSpPr>
          <p:cNvPr id="4" name="Slide Number Placeholder 3"/>
          <p:cNvSpPr>
            <a:spLocks noGrp="1"/>
          </p:cNvSpPr>
          <p:nvPr>
            <p:ph type="sldNum" sz="quarter" idx="12"/>
          </p:nvPr>
        </p:nvSpPr>
        <p:spPr/>
        <p:txBody>
          <a:bodyPr/>
          <a:lstStyle/>
          <a:p>
            <a:fld id="{922AE8BD-B2ED-4107-811B-DAE9CC0E64B8}" type="slidenum">
              <a:rPr lang="en-US" smtClean="0"/>
              <a:t>38</a:t>
            </a:fld>
            <a:endParaRPr lang="en-US"/>
          </a:p>
        </p:txBody>
      </p:sp>
      <p:pic>
        <p:nvPicPr>
          <p:cNvPr id="6" name="Picture 5"/>
          <p:cNvPicPr>
            <a:picLocks noChangeAspect="1"/>
          </p:cNvPicPr>
          <p:nvPr/>
        </p:nvPicPr>
        <p:blipFill>
          <a:blip r:embed="rId3"/>
          <a:stretch>
            <a:fillRect/>
          </a:stretch>
        </p:blipFill>
        <p:spPr>
          <a:xfrm>
            <a:off x="1368425" y="569911"/>
            <a:ext cx="5467350" cy="2314575"/>
          </a:xfrm>
          <a:prstGeom prst="rect">
            <a:avLst/>
          </a:prstGeom>
        </p:spPr>
      </p:pic>
      <p:pic>
        <p:nvPicPr>
          <p:cNvPr id="7" name="Picture 6"/>
          <p:cNvPicPr>
            <a:picLocks noChangeAspect="1"/>
          </p:cNvPicPr>
          <p:nvPr/>
        </p:nvPicPr>
        <p:blipFill>
          <a:blip r:embed="rId4"/>
          <a:stretch>
            <a:fillRect/>
          </a:stretch>
        </p:blipFill>
        <p:spPr>
          <a:xfrm>
            <a:off x="5100637" y="569911"/>
            <a:ext cx="6105525" cy="2047875"/>
          </a:xfrm>
          <a:prstGeom prst="rect">
            <a:avLst/>
          </a:prstGeom>
        </p:spPr>
      </p:pic>
    </p:spTree>
    <p:extLst>
      <p:ext uri="{BB962C8B-B14F-4D97-AF65-F5344CB8AC3E}">
        <p14:creationId xmlns:p14="http://schemas.microsoft.com/office/powerpoint/2010/main" val="3622579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39</a:t>
            </a:fld>
            <a:endParaRPr lang="en-US"/>
          </a:p>
        </p:txBody>
      </p:sp>
      <p:pic>
        <p:nvPicPr>
          <p:cNvPr id="3" name="Picture 2"/>
          <p:cNvPicPr>
            <a:picLocks noChangeAspect="1"/>
          </p:cNvPicPr>
          <p:nvPr/>
        </p:nvPicPr>
        <p:blipFill>
          <a:blip r:embed="rId2"/>
          <a:stretch>
            <a:fillRect/>
          </a:stretch>
        </p:blipFill>
        <p:spPr>
          <a:xfrm>
            <a:off x="1282700" y="749300"/>
            <a:ext cx="8026400" cy="4222750"/>
          </a:xfrm>
          <a:prstGeom prst="rect">
            <a:avLst/>
          </a:prstGeom>
        </p:spPr>
      </p:pic>
    </p:spTree>
    <p:extLst>
      <p:ext uri="{BB962C8B-B14F-4D97-AF65-F5344CB8AC3E}">
        <p14:creationId xmlns:p14="http://schemas.microsoft.com/office/powerpoint/2010/main" val="1180618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2777"/>
            <a:ext cx="10515600" cy="5184186"/>
          </a:xfrm>
        </p:spPr>
        <p:txBody>
          <a:bodyPr/>
          <a:lstStyle/>
          <a:p>
            <a:r>
              <a:rPr lang="en-US" dirty="0"/>
              <a:t>SUM() Example</a:t>
            </a:r>
          </a:p>
          <a:p>
            <a:r>
              <a:rPr lang="en-US" dirty="0"/>
              <a:t>SELECT SUM(Quantity)</a:t>
            </a:r>
            <a:r>
              <a:rPr lang="en-US" dirty="0" smtClean="0"/>
              <a:t/>
            </a:r>
            <a:br>
              <a:rPr lang="en-US" dirty="0" smtClean="0"/>
            </a:br>
            <a:r>
              <a:rPr lang="en-US" dirty="0"/>
              <a:t>FROM </a:t>
            </a:r>
            <a:r>
              <a:rPr lang="en-US" dirty="0" err="1"/>
              <a:t>OrderDetails</a:t>
            </a:r>
            <a:r>
              <a:rPr lang="en-US" dirty="0"/>
              <a:t>;</a:t>
            </a:r>
          </a:p>
        </p:txBody>
      </p:sp>
      <p:sp>
        <p:nvSpPr>
          <p:cNvPr id="4" name="Slide Number Placeholder 3"/>
          <p:cNvSpPr>
            <a:spLocks noGrp="1"/>
          </p:cNvSpPr>
          <p:nvPr>
            <p:ph type="sldNum" sz="quarter" idx="12"/>
          </p:nvPr>
        </p:nvSpPr>
        <p:spPr/>
        <p:txBody>
          <a:bodyPr/>
          <a:lstStyle/>
          <a:p>
            <a:fld id="{922AE8BD-B2ED-4107-811B-DAE9CC0E64B8}" type="slidenum">
              <a:rPr lang="en-US" smtClean="0"/>
              <a:t>40</a:t>
            </a:fld>
            <a:endParaRPr lang="en-US"/>
          </a:p>
        </p:txBody>
      </p:sp>
    </p:spTree>
    <p:extLst>
      <p:ext uri="{BB962C8B-B14F-4D97-AF65-F5344CB8AC3E}">
        <p14:creationId xmlns:p14="http://schemas.microsoft.com/office/powerpoint/2010/main" val="3632540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SQL LIKE Operator</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Rectangle 1"/>
          <p:cNvSpPr>
            <a:spLocks noGrp="1" noChangeArrowheads="1"/>
          </p:cNvSpPr>
          <p:nvPr>
            <p:ph idx="1"/>
          </p:nvPr>
        </p:nvSpPr>
        <p:spPr bwMode="auto">
          <a:xfrm>
            <a:off x="575129" y="1589088"/>
            <a:ext cx="105003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sz="24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LIKE</a:t>
            </a: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 is used in a </a:t>
            </a:r>
            <a:r>
              <a:rPr kumimoji="0" lang="en-US" altLang="en-US" sz="24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WHERE</a:t>
            </a: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clause to search for a specified pattern in a column.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4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41</a:t>
            </a:fld>
            <a:endParaRPr lang="en-US"/>
          </a:p>
        </p:txBody>
      </p:sp>
      <p:sp>
        <p:nvSpPr>
          <p:cNvPr id="11" name="Rectangle 4"/>
          <p:cNvSpPr>
            <a:spLocks noChangeArrowheads="1"/>
          </p:cNvSpPr>
          <p:nvPr/>
        </p:nvSpPr>
        <p:spPr bwMode="auto">
          <a:xfrm>
            <a:off x="698500" y="2818557"/>
            <a:ext cx="10655300"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There are two wildcards often used in conjunction with the </a:t>
            </a:r>
            <a:r>
              <a:rPr kumimoji="0" lang="en-US" altLang="en-US" sz="24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LIKE</a:t>
            </a: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The percent sign (%) represents zero, one, or multiple characters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The underscore sign (_) represents one, single character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a:t>
            </a:r>
          </a:p>
        </p:txBody>
      </p:sp>
      <p:sp>
        <p:nvSpPr>
          <p:cNvPr id="3" name="TextBox 2"/>
          <p:cNvSpPr txBox="1"/>
          <p:nvPr/>
        </p:nvSpPr>
        <p:spPr>
          <a:xfrm>
            <a:off x="698500" y="4448953"/>
            <a:ext cx="5486400"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SELECT * FROM Customers</a:t>
            </a:r>
          </a:p>
          <a:p>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CustomerName</a:t>
            </a:r>
            <a:r>
              <a:rPr lang="en-US" dirty="0">
                <a:latin typeface="Times New Roman" panose="02020603050405020304" pitchFamily="18" charset="0"/>
                <a:cs typeface="Times New Roman" panose="02020603050405020304" pitchFamily="18" charset="0"/>
              </a:rPr>
              <a:t> LIKE 'a%';</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48187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42</a:t>
            </a:fld>
            <a:endParaRPr lang="en-US"/>
          </a:p>
        </p:txBody>
      </p:sp>
      <p:pic>
        <p:nvPicPr>
          <p:cNvPr id="3" name="Picture 2"/>
          <p:cNvPicPr>
            <a:picLocks noChangeAspect="1"/>
          </p:cNvPicPr>
          <p:nvPr/>
        </p:nvPicPr>
        <p:blipFill>
          <a:blip r:embed="rId2"/>
          <a:stretch>
            <a:fillRect/>
          </a:stretch>
        </p:blipFill>
        <p:spPr>
          <a:xfrm>
            <a:off x="882424" y="404948"/>
            <a:ext cx="10769645" cy="5839098"/>
          </a:xfrm>
          <a:prstGeom prst="rect">
            <a:avLst/>
          </a:prstGeom>
        </p:spPr>
      </p:pic>
    </p:spTree>
    <p:extLst>
      <p:ext uri="{BB962C8B-B14F-4D97-AF65-F5344CB8AC3E}">
        <p14:creationId xmlns:p14="http://schemas.microsoft.com/office/powerpoint/2010/main" val="2642663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1324" y="1312591"/>
            <a:ext cx="10362475" cy="1325563"/>
          </a:xfrm>
        </p:spPr>
        <p:txBody>
          <a:bodyPr>
            <a:normAutofit/>
          </a:bodyPr>
          <a:lstStyle/>
          <a:p>
            <a:pPr marL="571500" lvl="0" indent="-571500">
              <a:buFont typeface="Wingdings" panose="05000000000000000000" pitchFamily="2" charset="2"/>
              <a:buChar char="Ø"/>
            </a:pPr>
            <a:r>
              <a:rPr lang="en-US" altLang="en-US" sz="2800" b="1" i="1" dirty="0" smtClean="0">
                <a:latin typeface="Times New Roman" panose="02020603050405020304" pitchFamily="18" charset="0"/>
                <a:cs typeface="Times New Roman" panose="02020603050405020304" pitchFamily="18" charset="0"/>
              </a:rPr>
              <a:t>The</a:t>
            </a:r>
            <a:r>
              <a:rPr lang="en-US" altLang="en-US" sz="2800" b="1" i="1" dirty="0">
                <a:latin typeface="Times New Roman" panose="02020603050405020304" pitchFamily="18" charset="0"/>
                <a:cs typeface="Times New Roman" panose="02020603050405020304" pitchFamily="18" charset="0"/>
              </a:rPr>
              <a:t> IN operator allows you to specify multiple values in a WHERE clause</a:t>
            </a:r>
            <a:r>
              <a:rPr lang="en-US" alt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6" name="Rectangle 1"/>
          <p:cNvSpPr>
            <a:spLocks noGrp="1" noChangeArrowheads="1"/>
          </p:cNvSpPr>
          <p:nvPr>
            <p:ph idx="1"/>
          </p:nvPr>
        </p:nvSpPr>
        <p:spPr bwMode="auto">
          <a:xfrm>
            <a:off x="991325" y="554040"/>
            <a:ext cx="62810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nSpc>
                <a:spcPct val="100000"/>
              </a:lnSpc>
              <a:buNone/>
            </a:pPr>
            <a:r>
              <a:rPr lang="en-US" sz="3600" dirty="0" smtClean="0">
                <a:latin typeface="Times New Roman" panose="02020603050405020304" pitchFamily="18" charset="0"/>
              </a:rPr>
              <a:t>The SQL IN Operator</a:t>
            </a:r>
            <a:endParaRPr kumimoji="0" lang="en-US" altLang="en-US" sz="3600" b="0" i="0" u="none" strike="noStrike" cap="none" normalizeH="0" baseline="0" dirty="0" smtClean="0">
              <a:ln>
                <a:noFill/>
              </a:ln>
              <a:solidFill>
                <a:schemeClr val="tx1"/>
              </a:solidFill>
              <a:effectLst/>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43</a:t>
            </a:fld>
            <a:endParaRPr lang="en-US"/>
          </a:p>
        </p:txBody>
      </p:sp>
      <p:sp>
        <p:nvSpPr>
          <p:cNvPr id="7" name="TextBox 6"/>
          <p:cNvSpPr txBox="1"/>
          <p:nvPr/>
        </p:nvSpPr>
        <p:spPr>
          <a:xfrm>
            <a:off x="991325" y="2750374"/>
            <a:ext cx="10325463" cy="3847207"/>
          </a:xfrm>
          <a:prstGeom prst="rect">
            <a:avLst/>
          </a:prstGeom>
          <a:noFill/>
          <a:ln w="38100">
            <a:solidFill>
              <a:schemeClr val="accent2"/>
            </a:solidFill>
          </a:ln>
        </p:spPr>
        <p:txBody>
          <a:bodyPr wrap="square" rtlCol="0">
            <a:spAutoFit/>
          </a:bodyPr>
          <a:lstStyle/>
          <a:p>
            <a:pPr marL="514350" indent="-51435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SELECT * FROM Customers</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WHERE Country IN ('Germany', 'France', 'UK</a:t>
            </a:r>
            <a:r>
              <a:rPr lang="en-US" sz="2800" dirty="0" smtClean="0">
                <a:latin typeface="Times New Roman" panose="02020603050405020304" pitchFamily="18" charset="0"/>
                <a:cs typeface="Times New Roman" panose="02020603050405020304" pitchFamily="18" charset="0"/>
              </a:rPr>
              <a:t>');</a:t>
            </a:r>
          </a:p>
          <a:p>
            <a:pPr marL="514350" indent="-51435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SELECT * FROM Customers</a:t>
            </a:r>
            <a:r>
              <a:rPr lang="en-US" sz="4000" dirty="0" smtClean="0">
                <a:latin typeface="Times New Roman" panose="02020603050405020304" pitchFamily="18" charset="0"/>
                <a:cs typeface="Times New Roman" panose="02020603050405020304" pitchFamily="18" charset="0"/>
              </a:rPr>
              <a:t/>
            </a:r>
            <a:br>
              <a:rPr lang="en-US" sz="4000" dirty="0" smtClean="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WHERE Country NOT IN ('Germany', 'France', 'UK</a:t>
            </a:r>
            <a:r>
              <a:rPr lang="en-US" sz="2400" dirty="0" smtClean="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endParaRPr lang="en-US" sz="24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SELECT * FROM Customers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WHERE Country IN (SELECT Country FROM Suppliers);</a:t>
            </a:r>
          </a:p>
          <a:p>
            <a:pPr marL="742950" indent="-742950">
              <a:buFont typeface="Wingdings" panose="05000000000000000000" pitchFamily="2" charset="2"/>
              <a:buChar char="v"/>
            </a:pP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489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2" y="593725"/>
            <a:ext cx="10515600" cy="828675"/>
          </a:xfrm>
          <a:solidFill>
            <a:schemeClr val="accent2">
              <a:lumMod val="60000"/>
              <a:lumOff val="40000"/>
            </a:schemeClr>
          </a:solidFill>
          <a:ln>
            <a:solidFill>
              <a:schemeClr val="tx1"/>
            </a:solidFill>
          </a:ln>
        </p:spPr>
        <p:txBody>
          <a:bodyPr>
            <a:normAutofit/>
          </a:bodyPr>
          <a:lstStyle/>
          <a:p>
            <a:pPr algn="ctr">
              <a:lnSpc>
                <a:spcPct val="100000"/>
              </a:lnSpc>
            </a:pPr>
            <a:r>
              <a:rPr lang="en-US" sz="2400" dirty="0" smtClean="0">
                <a:latin typeface="Times New Roman" panose="02020603050405020304" pitchFamily="18" charset="0"/>
                <a:cs typeface="Times New Roman" panose="02020603050405020304" pitchFamily="18" charset="0"/>
              </a:rPr>
              <a:t>The SQL BETWEEN Operator</a:t>
            </a:r>
            <a:r>
              <a:rPr lang="en-US" sz="2400" dirty="0" smtClean="0"/>
              <a:t/>
            </a:r>
            <a:br>
              <a:rPr lang="en-US" sz="2400" dirty="0" smtClean="0"/>
            </a:br>
            <a:endParaRPr lang="en-US" sz="2400" dirty="0"/>
          </a:p>
        </p:txBody>
      </p:sp>
      <p:sp>
        <p:nvSpPr>
          <p:cNvPr id="6" name="Rectangle 2"/>
          <p:cNvSpPr>
            <a:spLocks noGrp="1" noChangeArrowheads="1"/>
          </p:cNvSpPr>
          <p:nvPr>
            <p:ph idx="1"/>
          </p:nvPr>
        </p:nvSpPr>
        <p:spPr bwMode="auto">
          <a:xfrm>
            <a:off x="707572" y="1564860"/>
            <a:ext cx="9755777"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sz="24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BETWEEN</a:t>
            </a: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 selects values within a given range. The values can be numbers, text, or dates.</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a:lnSpc>
                <a:spcPct val="100000"/>
              </a:lnSpc>
            </a:pP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a:t>
            </a:r>
            <a:r>
              <a:rPr kumimoji="0" lang="en-US" altLang="en-US" sz="2400" b="0" i="0" u="none" strike="noStrike" cap="none" normalizeH="0" baseline="0" dirty="0" smtClean="0">
                <a:ln>
                  <a:noFill/>
                </a:ln>
                <a:solidFill>
                  <a:srgbClr val="DC143C"/>
                </a:solidFill>
                <a:effectLst/>
                <a:latin typeface="Times New Roman" panose="02020603050405020304" pitchFamily="18" charset="0"/>
                <a:cs typeface="Times New Roman" panose="02020603050405020304" pitchFamily="18" charset="0"/>
              </a:rPr>
              <a:t>BETWEEN</a:t>
            </a:r>
            <a:r>
              <a:rPr kumimoji="0" lang="en-US" alt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operator is inclusive: begin and end values are included. </a:t>
            </a:r>
          </a:p>
          <a:p>
            <a:pPr>
              <a:lnSpc>
                <a:spcPct val="100000"/>
              </a:lnSpc>
            </a:pPr>
            <a:endParaRPr lang="en-US" altLang="en-US" sz="2400" dirty="0" smtClean="0">
              <a:solidFill>
                <a:srgbClr val="000000"/>
              </a:solidFill>
              <a:latin typeface="Times New Roman" panose="02020603050405020304" pitchFamily="18" charset="0"/>
              <a:cs typeface="Times New Roman" panose="02020603050405020304" pitchFamily="18" charset="0"/>
            </a:endParaRPr>
          </a:p>
          <a:p>
            <a:pPr>
              <a:lnSpc>
                <a:spcPct val="100000"/>
              </a:lnSpc>
            </a:pPr>
            <a:endParaRPr lang="en-US" altLang="en-US" sz="2400" dirty="0">
              <a:solidFill>
                <a:srgbClr val="000000"/>
              </a:solidFill>
              <a:latin typeface="Times New Roman" panose="02020603050405020304" pitchFamily="18" charset="0"/>
              <a:cs typeface="Times New Roman" panose="02020603050405020304" pitchFamily="18" charset="0"/>
            </a:endParaRPr>
          </a:p>
          <a:p>
            <a:pPr>
              <a:lnSpc>
                <a:spcPct val="100000"/>
              </a:lnSpc>
            </a:pPr>
            <a:r>
              <a:rPr lang="en-US" sz="2400" dirty="0">
                <a:latin typeface="Times New Roman" panose="02020603050405020304" pitchFamily="18" charset="0"/>
                <a:cs typeface="Times New Roman" panose="02020603050405020304" pitchFamily="18" charset="0"/>
              </a:rPr>
              <a:t>SELECT * FROM Products</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WHERE Price BETWEEN 10 AND 20;</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44</a:t>
            </a:fld>
            <a:endParaRPr lang="en-US"/>
          </a:p>
        </p:txBody>
      </p:sp>
    </p:spTree>
    <p:extLst>
      <p:ext uri="{BB962C8B-B14F-4D97-AF65-F5344CB8AC3E}">
        <p14:creationId xmlns:p14="http://schemas.microsoft.com/office/powerpoint/2010/main" val="1161603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60475"/>
          </a:xfrm>
        </p:spPr>
        <p:txBody>
          <a:bodyPr>
            <a:normAutofit fontScale="90000"/>
          </a:bodyPr>
          <a:lstStyle/>
          <a:p>
            <a:r>
              <a:rPr lang="en-US" dirty="0"/>
              <a:t>SQL Aliases</a:t>
            </a:r>
            <a:br>
              <a:rPr lang="en-US" dirty="0"/>
            </a:br>
            <a:endParaRPr lang="en-US" dirty="0"/>
          </a:p>
        </p:txBody>
      </p:sp>
      <p:sp>
        <p:nvSpPr>
          <p:cNvPr id="5" name="Rectangle 1"/>
          <p:cNvSpPr>
            <a:spLocks noGrp="1" noChangeArrowheads="1"/>
          </p:cNvSpPr>
          <p:nvPr>
            <p:ph idx="1"/>
          </p:nvPr>
        </p:nvSpPr>
        <p:spPr bwMode="auto">
          <a:xfrm>
            <a:off x="697991" y="1027906"/>
            <a:ext cx="9778420" cy="163121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US" altLang="en-US" sz="2000" b="0" i="0" u="none" strike="noStrike" cap="none" normalizeH="0" baseline="0" dirty="0" smtClean="0">
                <a:ln>
                  <a:noFill/>
                </a:ln>
                <a:solidFill>
                  <a:srgbClr val="000000"/>
                </a:solidFill>
                <a:effectLst/>
                <a:latin typeface="Verdana" panose="020B0604030504040204" pitchFamily="34" charset="0"/>
              </a:rPr>
              <a:t>SQL aliases are used to give a table, or a column in a table, a temporary name.</a:t>
            </a:r>
            <a:endParaRPr kumimoji="0" lang="en-US" altLang="en-US" sz="2000" b="0" i="0" u="none" strike="noStrike" cap="none" normalizeH="0" baseline="0" dirty="0" smtClean="0">
              <a:ln>
                <a:noFill/>
              </a:ln>
              <a:solidFill>
                <a:schemeClr val="tx1"/>
              </a:solidFill>
              <a:effectLst/>
              <a:latin typeface="Times New Roman" panose="02020603050405020304" pitchFamily="18" charset="0"/>
            </a:endParaRPr>
          </a:p>
          <a:p>
            <a:pPr>
              <a:lnSpc>
                <a:spcPct val="100000"/>
              </a:lnSpc>
            </a:pPr>
            <a:r>
              <a:rPr kumimoji="0" lang="en-US" altLang="en-US" sz="2000" b="0" i="0" u="none" strike="noStrike" cap="none" normalizeH="0" baseline="0" dirty="0" smtClean="0">
                <a:ln>
                  <a:noFill/>
                </a:ln>
                <a:solidFill>
                  <a:srgbClr val="000000"/>
                </a:solidFill>
                <a:effectLst/>
                <a:latin typeface="Verdana" panose="020B0604030504040204" pitchFamily="34" charset="0"/>
              </a:rPr>
              <a:t>Aliases are often used to make column names more readable.</a:t>
            </a:r>
            <a:endParaRPr kumimoji="0" lang="en-US" altLang="en-US" sz="2000" b="0" i="0" u="none" strike="noStrike" cap="none" normalizeH="0" baseline="0" dirty="0" smtClean="0">
              <a:ln>
                <a:noFill/>
              </a:ln>
              <a:solidFill>
                <a:schemeClr val="tx1"/>
              </a:solidFill>
              <a:effectLst/>
              <a:latin typeface="Times New Roman" panose="02020603050405020304" pitchFamily="18" charset="0"/>
            </a:endParaRPr>
          </a:p>
          <a:p>
            <a:pPr>
              <a:lnSpc>
                <a:spcPct val="100000"/>
              </a:lnSpc>
            </a:pPr>
            <a:r>
              <a:rPr kumimoji="0" lang="en-US" altLang="en-US" sz="2000" b="0" i="0" u="none" strike="noStrike" cap="none" normalizeH="0" baseline="0" dirty="0" smtClean="0">
                <a:ln>
                  <a:noFill/>
                </a:ln>
                <a:solidFill>
                  <a:srgbClr val="000000"/>
                </a:solidFill>
                <a:effectLst/>
                <a:latin typeface="Verdana" panose="020B0604030504040204" pitchFamily="34" charset="0"/>
              </a:rPr>
              <a:t>An alias only exists for the duration of that query.</a:t>
            </a:r>
            <a:endParaRPr kumimoji="0" lang="en-US" altLang="en-US" sz="2000" b="0" i="0" u="none" strike="noStrike" cap="none" normalizeH="0" baseline="0" dirty="0" smtClean="0">
              <a:ln>
                <a:noFill/>
              </a:ln>
              <a:solidFill>
                <a:schemeClr val="tx1"/>
              </a:solidFill>
              <a:effectLst/>
              <a:latin typeface="Times New Roman" panose="02020603050405020304" pitchFamily="18" charset="0"/>
            </a:endParaRPr>
          </a:p>
          <a:p>
            <a:pPr>
              <a:lnSpc>
                <a:spcPct val="100000"/>
              </a:lnSpc>
            </a:pPr>
            <a:r>
              <a:rPr kumimoji="0" lang="en-US" altLang="en-US" sz="2000" b="0" i="0" u="none" strike="noStrike" cap="none" normalizeH="0" baseline="0" dirty="0" smtClean="0">
                <a:ln>
                  <a:noFill/>
                </a:ln>
                <a:solidFill>
                  <a:srgbClr val="000000"/>
                </a:solidFill>
                <a:effectLst/>
                <a:latin typeface="Verdana" panose="020B0604030504040204" pitchFamily="34" charset="0"/>
              </a:rPr>
              <a:t>An alias is created with the </a:t>
            </a:r>
            <a:r>
              <a:rPr kumimoji="0" lang="en-US" altLang="en-US" sz="2000" b="0" i="0" u="none" strike="noStrike" cap="none" normalizeH="0" baseline="0" dirty="0" smtClean="0">
                <a:ln>
                  <a:noFill/>
                </a:ln>
                <a:solidFill>
                  <a:srgbClr val="DC143C"/>
                </a:solidFill>
                <a:effectLst/>
                <a:latin typeface="Consolas" panose="020B0609020204030204" pitchFamily="49" charset="0"/>
              </a:rPr>
              <a:t>AS</a:t>
            </a:r>
            <a:r>
              <a:rPr kumimoji="0" lang="en-US" altLang="en-US" sz="2000" b="0" i="0" u="none" strike="noStrike" cap="none" normalizeH="0" baseline="0" dirty="0" smtClean="0">
                <a:ln>
                  <a:noFill/>
                </a:ln>
                <a:solidFill>
                  <a:srgbClr val="000000"/>
                </a:solidFill>
                <a:effectLst/>
                <a:latin typeface="Verdana" panose="020B0604030504040204" pitchFamily="34" charset="0"/>
              </a:rPr>
              <a:t> keyword.</a:t>
            </a:r>
            <a:endParaRPr kumimoji="0" lang="en-US" altLang="en-US" sz="3600" b="0" i="0" u="none" strike="noStrike" cap="none" normalizeH="0" baseline="0" dirty="0" smtClean="0">
              <a:ln>
                <a:noFill/>
              </a:ln>
              <a:solidFill>
                <a:schemeClr val="tx1"/>
              </a:solidFill>
              <a:effectLst/>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45</a:t>
            </a:fld>
            <a:endParaRPr lang="en-US"/>
          </a:p>
        </p:txBody>
      </p:sp>
      <p:sp>
        <p:nvSpPr>
          <p:cNvPr id="6" name="TextBox 5"/>
          <p:cNvSpPr txBox="1"/>
          <p:nvPr/>
        </p:nvSpPr>
        <p:spPr>
          <a:xfrm>
            <a:off x="838201" y="2988315"/>
            <a:ext cx="8728684" cy="3539430"/>
          </a:xfrm>
          <a:prstGeom prst="rect">
            <a:avLst/>
          </a:prstGeom>
          <a:noFill/>
        </p:spPr>
        <p:txBody>
          <a:bodyPr wrap="square" rtlCol="0">
            <a:spAutoFit/>
          </a:bodyPr>
          <a:lstStyle/>
          <a:p>
            <a:r>
              <a:rPr lang="en-US" sz="2800" dirty="0"/>
              <a:t>Alias Column </a:t>
            </a:r>
            <a:r>
              <a:rPr lang="en-US" sz="2800" dirty="0" smtClean="0"/>
              <a:t>Syntax</a:t>
            </a:r>
          </a:p>
          <a:p>
            <a:pPr marL="285750" indent="-285750">
              <a:buFont typeface="Arial" panose="020B0604020202020204" pitchFamily="34" charset="0"/>
              <a:buChar char="•"/>
            </a:pPr>
            <a:r>
              <a:rPr lang="en-US" sz="2800" dirty="0"/>
              <a:t>SELECT </a:t>
            </a:r>
            <a:r>
              <a:rPr lang="en-US" sz="2800" i="1" dirty="0" err="1"/>
              <a:t>column_name</a:t>
            </a:r>
            <a:r>
              <a:rPr lang="en-US" sz="2800" dirty="0"/>
              <a:t> AS </a:t>
            </a:r>
            <a:r>
              <a:rPr lang="en-US" sz="2800" i="1" dirty="0" err="1"/>
              <a:t>alias_name</a:t>
            </a:r>
            <a:r>
              <a:rPr lang="en-US" sz="2800" dirty="0" smtClean="0"/>
              <a:t/>
            </a:r>
            <a:br>
              <a:rPr lang="en-US" sz="2800" dirty="0" smtClean="0"/>
            </a:br>
            <a:r>
              <a:rPr lang="en-US" sz="2800" dirty="0"/>
              <a:t>FROM </a:t>
            </a:r>
            <a:r>
              <a:rPr lang="en-US" sz="2800" i="1" dirty="0" err="1"/>
              <a:t>table_name</a:t>
            </a:r>
            <a:r>
              <a:rPr lang="en-US" sz="2800" i="1" dirty="0" smtClean="0"/>
              <a:t>;</a:t>
            </a:r>
            <a:endParaRPr lang="en-US" sz="2800" i="1" dirty="0"/>
          </a:p>
          <a:p>
            <a:endParaRPr lang="en-US" sz="2800" i="1" dirty="0" smtClean="0"/>
          </a:p>
          <a:p>
            <a:r>
              <a:rPr lang="en-US" sz="2800" dirty="0"/>
              <a:t>Alias for Columns Examples</a:t>
            </a:r>
          </a:p>
          <a:p>
            <a:pPr marL="285750" indent="-285750">
              <a:buFont typeface="Arial" panose="020B0604020202020204" pitchFamily="34" charset="0"/>
              <a:buChar char="•"/>
            </a:pPr>
            <a:r>
              <a:rPr lang="en-US" sz="2800" dirty="0"/>
              <a:t>SELECT </a:t>
            </a:r>
            <a:r>
              <a:rPr lang="en-US" sz="2800" dirty="0" err="1"/>
              <a:t>CustomerID</a:t>
            </a:r>
            <a:r>
              <a:rPr lang="en-US" sz="2800" dirty="0"/>
              <a:t> AS ID, </a:t>
            </a:r>
            <a:r>
              <a:rPr lang="en-US" sz="2800" dirty="0" err="1"/>
              <a:t>CustomerName</a:t>
            </a:r>
            <a:r>
              <a:rPr lang="en-US" sz="2800" dirty="0"/>
              <a:t> AS Customer</a:t>
            </a:r>
            <a:r>
              <a:rPr lang="en-US" sz="2800" dirty="0" smtClean="0"/>
              <a:t/>
            </a:r>
            <a:br>
              <a:rPr lang="en-US" sz="2800" dirty="0" smtClean="0"/>
            </a:br>
            <a:r>
              <a:rPr lang="en-US" sz="2800" dirty="0"/>
              <a:t>FROM Customers;</a:t>
            </a:r>
          </a:p>
          <a:p>
            <a:endParaRPr lang="en-US" sz="2800" dirty="0"/>
          </a:p>
        </p:txBody>
      </p:sp>
    </p:spTree>
    <p:extLst>
      <p:ext uri="{BB962C8B-B14F-4D97-AF65-F5344CB8AC3E}">
        <p14:creationId xmlns:p14="http://schemas.microsoft.com/office/powerpoint/2010/main" val="27332932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Alias for Tables Example</a:t>
            </a:r>
            <a:br>
              <a:rPr lang="en-US" dirty="0"/>
            </a:br>
            <a:endParaRPr lang="en-US" dirty="0"/>
          </a:p>
        </p:txBody>
      </p:sp>
      <p:sp>
        <p:nvSpPr>
          <p:cNvPr id="3" name="Content Placeholder 2"/>
          <p:cNvSpPr>
            <a:spLocks noGrp="1"/>
          </p:cNvSpPr>
          <p:nvPr>
            <p:ph idx="1"/>
          </p:nvPr>
        </p:nvSpPr>
        <p:spPr>
          <a:xfrm>
            <a:off x="838200" y="1319349"/>
            <a:ext cx="10515600" cy="4857614"/>
          </a:xfrm>
        </p:spPr>
        <p:txBody>
          <a:bodyPr/>
          <a:lstStyle/>
          <a:p>
            <a:r>
              <a:rPr lang="en-US" dirty="0"/>
              <a:t>SELECT </a:t>
            </a:r>
            <a:r>
              <a:rPr lang="en-US" dirty="0" err="1"/>
              <a:t>o.OrderID</a:t>
            </a:r>
            <a:r>
              <a:rPr lang="en-US" dirty="0"/>
              <a:t>, </a:t>
            </a:r>
            <a:r>
              <a:rPr lang="en-US" dirty="0" err="1"/>
              <a:t>o.OrderDate</a:t>
            </a:r>
            <a:r>
              <a:rPr lang="en-US" dirty="0"/>
              <a:t>, </a:t>
            </a:r>
            <a:r>
              <a:rPr lang="en-US" dirty="0" err="1"/>
              <a:t>c.CustomerName</a:t>
            </a:r>
            <a:r>
              <a:rPr lang="en-US" dirty="0"/>
              <a:t/>
            </a:r>
            <a:br>
              <a:rPr lang="en-US" dirty="0"/>
            </a:br>
            <a:r>
              <a:rPr lang="en-US" dirty="0"/>
              <a:t>FROM Customers AS c, Orders AS o</a:t>
            </a:r>
            <a:br>
              <a:rPr lang="en-US" dirty="0"/>
            </a:br>
            <a:r>
              <a:rPr lang="en-US" dirty="0"/>
              <a:t>WHERE </a:t>
            </a:r>
            <a:r>
              <a:rPr lang="en-US" dirty="0" err="1"/>
              <a:t>c.CustomerName</a:t>
            </a:r>
            <a:r>
              <a:rPr lang="en-US" dirty="0"/>
              <a:t>='Around the Horn' AND </a:t>
            </a:r>
            <a:r>
              <a:rPr lang="en-US" dirty="0" err="1"/>
              <a:t>c.CustomerID</a:t>
            </a:r>
            <a:r>
              <a:rPr lang="en-US" dirty="0"/>
              <a:t>=</a:t>
            </a:r>
            <a:r>
              <a:rPr lang="en-US" dirty="0" err="1"/>
              <a:t>o.CustomerID</a:t>
            </a:r>
            <a:r>
              <a:rPr lang="en-US" dirty="0"/>
              <a:t>;</a:t>
            </a:r>
          </a:p>
          <a:p>
            <a:pPr marL="0" indent="0">
              <a:buNone/>
            </a:pP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46</a:t>
            </a:fld>
            <a:endParaRPr lang="en-US"/>
          </a:p>
        </p:txBody>
      </p:sp>
    </p:spTree>
    <p:extLst>
      <p:ext uri="{BB962C8B-B14F-4D97-AF65-F5344CB8AC3E}">
        <p14:creationId xmlns:p14="http://schemas.microsoft.com/office/powerpoint/2010/main" val="6397676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34" y="392020"/>
            <a:ext cx="10515600" cy="1325563"/>
          </a:xfrm>
          <a:effectLst>
            <a:outerShdw blurRad="50800" dist="38100" dir="5400000" algn="t" rotWithShape="0">
              <a:prstClr val="black">
                <a:alpha val="40000"/>
              </a:prstClr>
            </a:outerShdw>
          </a:effectLst>
        </p:spPr>
        <p:txBody>
          <a:bodyPr/>
          <a:lstStyle/>
          <a:p>
            <a:r>
              <a:rPr lang="en-US" dirty="0"/>
              <a:t>The SQL GROUP BY Statement</a:t>
            </a:r>
            <a:br>
              <a:rPr lang="en-US" dirty="0"/>
            </a:br>
            <a:endParaRPr lang="en-US" dirty="0"/>
          </a:p>
        </p:txBody>
      </p:sp>
      <p:sp>
        <p:nvSpPr>
          <p:cNvPr id="5" name="Rectangle 1"/>
          <p:cNvSpPr>
            <a:spLocks noGrp="1" noChangeArrowheads="1"/>
          </p:cNvSpPr>
          <p:nvPr>
            <p:ph idx="1"/>
          </p:nvPr>
        </p:nvSpPr>
        <p:spPr bwMode="auto">
          <a:xfrm>
            <a:off x="649941" y="1613273"/>
            <a:ext cx="998978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smtClean="0">
                <a:ln>
                  <a:noFill/>
                </a:ln>
                <a:solidFill>
                  <a:srgbClr val="000000"/>
                </a:solidFill>
                <a:effectLst/>
                <a:latin typeface="Verdana" panose="020B0604030504040204" pitchFamily="34" charset="0"/>
              </a:rPr>
              <a:t>The </a:t>
            </a:r>
            <a:r>
              <a:rPr kumimoji="0" lang="en-US" altLang="en-US" sz="2400" b="0" i="0" u="none" strike="noStrike" cap="none" normalizeH="0" baseline="0" dirty="0" smtClean="0">
                <a:ln>
                  <a:noFill/>
                </a:ln>
                <a:solidFill>
                  <a:srgbClr val="DC143C"/>
                </a:solidFill>
                <a:effectLst/>
                <a:latin typeface="Consolas" panose="020B0609020204030204" pitchFamily="49" charset="0"/>
              </a:rPr>
              <a:t>GROUP BY</a:t>
            </a:r>
            <a:r>
              <a:rPr kumimoji="0" lang="en-US" altLang="en-US" sz="2400" b="0" i="0" u="none" strike="noStrike" cap="none" normalizeH="0" baseline="0" dirty="0" smtClean="0">
                <a:ln>
                  <a:noFill/>
                </a:ln>
                <a:solidFill>
                  <a:srgbClr val="000000"/>
                </a:solidFill>
                <a:effectLst/>
                <a:latin typeface="Verdana" panose="020B0604030504040204" pitchFamily="34" charset="0"/>
              </a:rPr>
              <a:t> statement groups rows that have the same values into summary rows, like "find the number of customers in each country".</a:t>
            </a:r>
            <a:r>
              <a:rPr kumimoji="0" lang="en-US" altLang="en-US" sz="2400" b="0" i="0" u="none" strike="noStrike" cap="none" normalizeH="0" baseline="0" dirty="0" smtClean="0">
                <a:ln>
                  <a:noFill/>
                </a:ln>
                <a:solidFill>
                  <a:schemeClr val="tx1"/>
                </a:solidFill>
                <a:effectLst/>
                <a:latin typeface="Times New Roman" panose="02020603050405020304" pitchFamily="18" charset="0"/>
              </a:rPr>
              <a:t> </a:t>
            </a:r>
            <a:endParaRPr kumimoji="0" lang="en-US" altLang="en-US" sz="4000" b="0" i="0" u="none" strike="noStrike" cap="none" normalizeH="0" baseline="0" dirty="0" smtClean="0">
              <a:ln>
                <a:noFill/>
              </a:ln>
              <a:solidFill>
                <a:schemeClr val="tx1"/>
              </a:solidFill>
              <a:effectLst/>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47</a:t>
            </a:fld>
            <a:endParaRPr lang="en-US"/>
          </a:p>
        </p:txBody>
      </p:sp>
    </p:spTree>
    <p:extLst>
      <p:ext uri="{BB962C8B-B14F-4D97-AF65-F5344CB8AC3E}">
        <p14:creationId xmlns:p14="http://schemas.microsoft.com/office/powerpoint/2010/main" val="1726181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ffectLst>
            <a:outerShdw blurRad="50800" dist="38100" dir="8100000" algn="tr" rotWithShape="0">
              <a:prstClr val="black">
                <a:alpha val="40000"/>
              </a:prstClr>
            </a:outerShdw>
          </a:effectLst>
        </p:spPr>
        <p:txBody>
          <a:bodyPr/>
          <a:lstStyle/>
          <a:p>
            <a:r>
              <a:rPr lang="en-US" dirty="0"/>
              <a:t>The SQL HAVING Clause</a:t>
            </a:r>
            <a:br>
              <a:rPr lang="en-US" dirty="0"/>
            </a:br>
            <a:endParaRPr lang="en-US" dirty="0"/>
          </a:p>
        </p:txBody>
      </p:sp>
      <p:sp>
        <p:nvSpPr>
          <p:cNvPr id="5" name="Rectangle 1"/>
          <p:cNvSpPr>
            <a:spLocks noGrp="1" noChangeArrowheads="1"/>
          </p:cNvSpPr>
          <p:nvPr>
            <p:ph idx="1"/>
          </p:nvPr>
        </p:nvSpPr>
        <p:spPr bwMode="auto">
          <a:xfrm>
            <a:off x="838200" y="1345361"/>
            <a:ext cx="983876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buFont typeface="Wingdings" panose="05000000000000000000" pitchFamily="2" charset="2"/>
              <a:buChar char="ü"/>
            </a:pPr>
            <a:r>
              <a:rPr kumimoji="0" lang="en-US" altLang="en-US" sz="3200" b="0" i="0" u="none" strike="noStrike" cap="none" normalizeH="0" baseline="0" dirty="0" smtClean="0">
                <a:ln>
                  <a:noFill/>
                </a:ln>
                <a:solidFill>
                  <a:srgbClr val="000000"/>
                </a:solidFill>
                <a:effectLst/>
                <a:latin typeface="Verdana" panose="020B0604030504040204" pitchFamily="34" charset="0"/>
              </a:rPr>
              <a:t>The </a:t>
            </a:r>
            <a:r>
              <a:rPr kumimoji="0" lang="en-US" altLang="en-US" sz="3200" b="0" i="0" u="none" strike="noStrike" cap="none" normalizeH="0" baseline="0" dirty="0" smtClean="0">
                <a:ln>
                  <a:noFill/>
                </a:ln>
                <a:solidFill>
                  <a:srgbClr val="DC143C"/>
                </a:solidFill>
                <a:effectLst/>
                <a:latin typeface="Consolas" panose="020B0609020204030204" pitchFamily="49" charset="0"/>
              </a:rPr>
              <a:t>HAVING</a:t>
            </a:r>
            <a:r>
              <a:rPr kumimoji="0" lang="en-US" altLang="en-US" sz="3200" b="0" i="0" u="none" strike="noStrike" cap="none" normalizeH="0" baseline="0" dirty="0" smtClean="0">
                <a:ln>
                  <a:noFill/>
                </a:ln>
                <a:solidFill>
                  <a:srgbClr val="000000"/>
                </a:solidFill>
                <a:effectLst/>
                <a:latin typeface="Verdana" panose="020B0604030504040204" pitchFamily="34" charset="0"/>
              </a:rPr>
              <a:t> clause was added to SQL because the </a:t>
            </a:r>
            <a:r>
              <a:rPr kumimoji="0" lang="en-US" altLang="en-US" sz="3200" b="0" i="0" u="none" strike="noStrike" cap="none" normalizeH="0" baseline="0" dirty="0" smtClean="0">
                <a:ln>
                  <a:noFill/>
                </a:ln>
                <a:solidFill>
                  <a:srgbClr val="DC143C"/>
                </a:solidFill>
                <a:effectLst/>
                <a:latin typeface="Consolas" panose="020B0609020204030204" pitchFamily="49" charset="0"/>
              </a:rPr>
              <a:t>WHERE</a:t>
            </a:r>
            <a:r>
              <a:rPr kumimoji="0" lang="en-US" altLang="en-US" sz="3200" b="0" i="0" u="none" strike="noStrike" cap="none" normalizeH="0" baseline="0" dirty="0" smtClean="0">
                <a:ln>
                  <a:noFill/>
                </a:ln>
                <a:solidFill>
                  <a:srgbClr val="000000"/>
                </a:solidFill>
                <a:effectLst/>
                <a:latin typeface="Verdana" panose="020B0604030504040204" pitchFamily="34" charset="0"/>
              </a:rPr>
              <a:t> keyword cannot be used with aggregate functions.</a:t>
            </a:r>
            <a:r>
              <a:rPr kumimoji="0" lang="en-US" altLang="en-US" sz="3200" b="0" i="0" u="none" strike="noStrike" cap="none" normalizeH="0" baseline="0" dirty="0" smtClean="0">
                <a:ln>
                  <a:noFill/>
                </a:ln>
                <a:solidFill>
                  <a:schemeClr val="tx1"/>
                </a:solidFill>
                <a:effectLst/>
                <a:latin typeface="Times New Roman" panose="02020603050405020304" pitchFamily="18" charset="0"/>
              </a:rPr>
              <a:t> </a:t>
            </a:r>
            <a:endParaRPr kumimoji="0" lang="en-US" altLang="en-US" sz="4800" b="0" i="0" u="none" strike="noStrike" cap="none" normalizeH="0" baseline="0" dirty="0" smtClean="0">
              <a:ln>
                <a:noFill/>
              </a:ln>
              <a:solidFill>
                <a:schemeClr val="tx1"/>
              </a:solidFill>
              <a:effectLst/>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48</a:t>
            </a:fld>
            <a:endParaRPr lang="en-US"/>
          </a:p>
        </p:txBody>
      </p:sp>
    </p:spTree>
    <p:extLst>
      <p:ext uri="{BB962C8B-B14F-4D97-AF65-F5344CB8AC3E}">
        <p14:creationId xmlns:p14="http://schemas.microsoft.com/office/powerpoint/2010/main" val="158422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49</a:t>
            </a:fld>
            <a:endParaRPr lang="en-US"/>
          </a:p>
        </p:txBody>
      </p:sp>
      <p:pic>
        <p:nvPicPr>
          <p:cNvPr id="3" name="Picture 2"/>
          <p:cNvPicPr>
            <a:picLocks noChangeAspect="1"/>
          </p:cNvPicPr>
          <p:nvPr/>
        </p:nvPicPr>
        <p:blipFill>
          <a:blip r:embed="rId2"/>
          <a:stretch>
            <a:fillRect/>
          </a:stretch>
        </p:blipFill>
        <p:spPr>
          <a:xfrm>
            <a:off x="943430" y="1117599"/>
            <a:ext cx="9193212" cy="3033487"/>
          </a:xfrm>
          <a:prstGeom prst="rect">
            <a:avLst/>
          </a:prstGeom>
        </p:spPr>
      </p:pic>
      <p:sp>
        <p:nvSpPr>
          <p:cNvPr id="4" name="TextBox 3"/>
          <p:cNvSpPr txBox="1"/>
          <p:nvPr/>
        </p:nvSpPr>
        <p:spPr>
          <a:xfrm>
            <a:off x="1059543" y="566057"/>
            <a:ext cx="3381828" cy="369332"/>
          </a:xfrm>
          <a:prstGeom prst="rect">
            <a:avLst/>
          </a:prstGeom>
          <a:noFill/>
          <a:ln>
            <a:solidFill>
              <a:srgbClr val="FF0000"/>
            </a:solidFill>
          </a:ln>
        </p:spPr>
        <p:txBody>
          <a:bodyPr wrap="square" rtlCol="0">
            <a:spAutoFit/>
          </a:bodyPr>
          <a:lstStyle/>
          <a:p>
            <a:r>
              <a:rPr lang="en-US" dirty="0" smtClean="0"/>
              <a:t>Employees table</a:t>
            </a:r>
            <a:endParaRPr lang="en-US" dirty="0"/>
          </a:p>
        </p:txBody>
      </p:sp>
      <p:sp>
        <p:nvSpPr>
          <p:cNvPr id="6" name="TextBox 5"/>
          <p:cNvSpPr txBox="1"/>
          <p:nvPr/>
        </p:nvSpPr>
        <p:spPr>
          <a:xfrm>
            <a:off x="1059543" y="4151086"/>
            <a:ext cx="7024914" cy="923330"/>
          </a:xfrm>
          <a:prstGeom prst="rect">
            <a:avLst/>
          </a:prstGeom>
          <a:noFill/>
        </p:spPr>
        <p:txBody>
          <a:bodyPr wrap="square" rtlCol="0">
            <a:spAutoFit/>
          </a:bodyPr>
          <a:lstStyle/>
          <a:p>
            <a:r>
              <a:rPr lang="en-US" dirty="0"/>
              <a:t>SELECT COUNT(</a:t>
            </a:r>
            <a:r>
              <a:rPr lang="en-US" dirty="0" err="1"/>
              <a:t>EmpID</a:t>
            </a:r>
            <a:r>
              <a:rPr lang="en-US" dirty="0"/>
              <a:t>), City</a:t>
            </a:r>
          </a:p>
          <a:p>
            <a:r>
              <a:rPr lang="en-US" dirty="0"/>
              <a:t>FROM Employees</a:t>
            </a:r>
          </a:p>
          <a:p>
            <a:r>
              <a:rPr lang="en-US" dirty="0"/>
              <a:t>GROUP BY City;</a:t>
            </a:r>
          </a:p>
        </p:txBody>
      </p:sp>
      <p:pic>
        <p:nvPicPr>
          <p:cNvPr id="7" name="Picture 6"/>
          <p:cNvPicPr>
            <a:picLocks noChangeAspect="1"/>
          </p:cNvPicPr>
          <p:nvPr/>
        </p:nvPicPr>
        <p:blipFill>
          <a:blip r:embed="rId3"/>
          <a:stretch>
            <a:fillRect/>
          </a:stretch>
        </p:blipFill>
        <p:spPr>
          <a:xfrm>
            <a:off x="821871" y="5074416"/>
            <a:ext cx="7239000" cy="1724025"/>
          </a:xfrm>
          <a:prstGeom prst="rect">
            <a:avLst/>
          </a:prstGeom>
        </p:spPr>
      </p:pic>
    </p:spTree>
    <p:extLst>
      <p:ext uri="{BB962C8B-B14F-4D97-AF65-F5344CB8AC3E}">
        <p14:creationId xmlns:p14="http://schemas.microsoft.com/office/powerpoint/2010/main" val="16187115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50</a:t>
            </a:fld>
            <a:endParaRPr lang="en-US"/>
          </a:p>
        </p:txBody>
      </p:sp>
      <p:pic>
        <p:nvPicPr>
          <p:cNvPr id="4" name="Picture 3"/>
          <p:cNvPicPr>
            <a:picLocks noChangeAspect="1"/>
          </p:cNvPicPr>
          <p:nvPr/>
        </p:nvPicPr>
        <p:blipFill>
          <a:blip r:embed="rId2"/>
          <a:stretch>
            <a:fillRect/>
          </a:stretch>
        </p:blipFill>
        <p:spPr>
          <a:xfrm>
            <a:off x="246743" y="190626"/>
            <a:ext cx="11756572" cy="6530849"/>
          </a:xfrm>
          <a:prstGeom prst="rect">
            <a:avLst/>
          </a:prstGeom>
        </p:spPr>
      </p:pic>
    </p:spTree>
    <p:extLst>
      <p:ext uri="{BB962C8B-B14F-4D97-AF65-F5344CB8AC3E}">
        <p14:creationId xmlns:p14="http://schemas.microsoft.com/office/powerpoint/2010/main" val="27880895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51</a:t>
            </a:fld>
            <a:endParaRPr lang="en-US"/>
          </a:p>
        </p:txBody>
      </p:sp>
      <p:pic>
        <p:nvPicPr>
          <p:cNvPr id="4" name="Picture 3"/>
          <p:cNvPicPr>
            <a:picLocks noChangeAspect="1"/>
          </p:cNvPicPr>
          <p:nvPr/>
        </p:nvPicPr>
        <p:blipFill>
          <a:blip r:embed="rId2"/>
          <a:stretch>
            <a:fillRect/>
          </a:stretch>
        </p:blipFill>
        <p:spPr>
          <a:xfrm>
            <a:off x="287383" y="470262"/>
            <a:ext cx="9914708" cy="5577839"/>
          </a:xfrm>
          <a:prstGeom prst="rect">
            <a:avLst/>
          </a:prstGeom>
        </p:spPr>
      </p:pic>
    </p:spTree>
    <p:extLst>
      <p:ext uri="{BB962C8B-B14F-4D97-AF65-F5344CB8AC3E}">
        <p14:creationId xmlns:p14="http://schemas.microsoft.com/office/powerpoint/2010/main" val="31148750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945"/>
          </a:xfrm>
          <a:solidFill>
            <a:schemeClr val="bg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US" b="1" dirty="0" err="1" smtClean="0"/>
              <a:t>Sql</a:t>
            </a:r>
            <a:r>
              <a:rPr lang="en-US" b="1" dirty="0" smtClean="0"/>
              <a:t> subquery</a:t>
            </a:r>
            <a:endParaRPr lang="en-US" b="1" dirty="0"/>
          </a:p>
        </p:txBody>
      </p:sp>
      <p:sp>
        <p:nvSpPr>
          <p:cNvPr id="3" name="Content Placeholder 2"/>
          <p:cNvSpPr>
            <a:spLocks noGrp="1"/>
          </p:cNvSpPr>
          <p:nvPr>
            <p:ph idx="1"/>
          </p:nvPr>
        </p:nvSpPr>
        <p:spPr>
          <a:xfrm>
            <a:off x="838200" y="1480457"/>
            <a:ext cx="10515600" cy="4696506"/>
          </a:xfrm>
        </p:spPr>
        <p:txBody>
          <a:bodyPr/>
          <a:lstStyle/>
          <a:p>
            <a:pPr>
              <a:buFont typeface="Wingdings" panose="05000000000000000000" pitchFamily="2" charset="2"/>
              <a:buChar char="ü"/>
            </a:pPr>
            <a:r>
              <a:rPr lang="en-US" dirty="0"/>
              <a:t>A Subquery or Inner query or a Nested query is a query within another SQL query and embedded within the WHERE clause.</a:t>
            </a:r>
          </a:p>
          <a:p>
            <a:pPr>
              <a:buFont typeface="Wingdings" panose="05000000000000000000" pitchFamily="2" charset="2"/>
              <a:buChar char="ü"/>
            </a:pPr>
            <a:r>
              <a:rPr lang="en-US" dirty="0"/>
              <a:t>A subquery is used to return data that will be used in the main query as a condition to further restrict the data to be retrieved</a:t>
            </a:r>
            <a:r>
              <a:rPr lang="en-US" dirty="0" smtClean="0"/>
              <a:t>.</a:t>
            </a:r>
          </a:p>
          <a:p>
            <a:r>
              <a:rPr lang="en-US" b="1" i="1" u="sng" dirty="0" smtClean="0"/>
              <a:t>example</a:t>
            </a:r>
            <a:endParaRPr lang="en-US" b="1" i="1" u="sng" dirty="0"/>
          </a:p>
          <a:p>
            <a:r>
              <a:rPr lang="en-US" altLang="en-US" sz="2400" dirty="0">
                <a:solidFill>
                  <a:srgbClr val="000000"/>
                </a:solidFill>
                <a:latin typeface="var(--bs-font-monospace)"/>
              </a:rPr>
              <a:t>SELECT </a:t>
            </a:r>
            <a:r>
              <a:rPr lang="en-US" altLang="en-US" sz="2400" dirty="0" smtClean="0">
                <a:solidFill>
                  <a:srgbClr val="000000"/>
                </a:solidFill>
                <a:latin typeface="var(--bs-font-monospace)"/>
              </a:rPr>
              <a:t> *  FROM  employees </a:t>
            </a:r>
            <a:r>
              <a:rPr lang="en-US" altLang="en-US" sz="2400" dirty="0">
                <a:solidFill>
                  <a:srgbClr val="000000"/>
                </a:solidFill>
                <a:latin typeface="var(--bs-font-monospace)"/>
              </a:rPr>
              <a:t>WHERE </a:t>
            </a:r>
            <a:r>
              <a:rPr lang="en-US" altLang="en-US" sz="2400" dirty="0" err="1">
                <a:solidFill>
                  <a:srgbClr val="000000"/>
                </a:solidFill>
                <a:latin typeface="var(--bs-font-monospace)"/>
              </a:rPr>
              <a:t>employee_id</a:t>
            </a:r>
            <a:r>
              <a:rPr lang="en-US" altLang="en-US" sz="2400" dirty="0">
                <a:solidFill>
                  <a:srgbClr val="000000"/>
                </a:solidFill>
                <a:latin typeface="var(--bs-font-monospace)"/>
              </a:rPr>
              <a:t> IN (</a:t>
            </a:r>
            <a:r>
              <a:rPr lang="en-US" altLang="en-US" sz="2000" dirty="0">
                <a:solidFill>
                  <a:srgbClr val="000000"/>
                </a:solidFill>
                <a:latin typeface="var(--bs-font-monospace)"/>
              </a:rPr>
              <a:t>SELECT </a:t>
            </a:r>
            <a:r>
              <a:rPr lang="en-US" altLang="en-US" sz="2400" dirty="0" err="1">
                <a:solidFill>
                  <a:srgbClr val="000000"/>
                </a:solidFill>
                <a:latin typeface="var(--bs-font-monospace)"/>
              </a:rPr>
              <a:t>employee_id</a:t>
            </a:r>
            <a:r>
              <a:rPr lang="en-US" altLang="en-US" sz="2400" dirty="0">
                <a:solidFill>
                  <a:srgbClr val="000000"/>
                </a:solidFill>
                <a:latin typeface="var(--bs-font-monospace)"/>
              </a:rPr>
              <a:t> </a:t>
            </a:r>
            <a:r>
              <a:rPr lang="en-US" altLang="en-US" sz="2400" dirty="0" smtClean="0">
                <a:solidFill>
                  <a:srgbClr val="000000"/>
                </a:solidFill>
                <a:latin typeface="var(--bs-font-monospace)"/>
              </a:rPr>
              <a:t>FROM employees </a:t>
            </a:r>
            <a:r>
              <a:rPr lang="en-US" altLang="en-US" sz="2400" dirty="0">
                <a:solidFill>
                  <a:srgbClr val="000000"/>
                </a:solidFill>
                <a:latin typeface="var(--bs-font-monospace)"/>
              </a:rPr>
              <a:t>WHERE SALARY &gt; 17000) ; </a:t>
            </a:r>
            <a:endParaRPr lang="en-US" sz="3200" dirty="0"/>
          </a:p>
          <a:p>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52</a:t>
            </a:fld>
            <a:endParaRPr lang="en-US"/>
          </a:p>
        </p:txBody>
      </p:sp>
    </p:spTree>
    <p:extLst>
      <p:ext uri="{BB962C8B-B14F-4D97-AF65-F5344CB8AC3E}">
        <p14:creationId xmlns:p14="http://schemas.microsoft.com/office/powerpoint/2010/main" val="23453360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351"/>
            <a:ext cx="10515600" cy="1325563"/>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pPr algn="ctr"/>
            <a:r>
              <a:rPr lang="en-US" dirty="0" smtClean="0"/>
              <a:t/>
            </a:r>
            <a:br>
              <a:rPr lang="en-US" dirty="0" smtClean="0"/>
            </a:br>
            <a:r>
              <a:rPr lang="en-US" dirty="0" smtClean="0">
                <a:solidFill>
                  <a:srgbClr val="002060"/>
                </a:solidFill>
              </a:rPr>
              <a:t>SQL INNER JOIN KEYWORD</a:t>
            </a:r>
            <a:r>
              <a:rPr lang="en-US" dirty="0"/>
              <a:t/>
            </a:r>
            <a:br>
              <a:rPr lang="en-US" dirty="0"/>
            </a:br>
            <a:endParaRPr lang="en-US" dirty="0"/>
          </a:p>
        </p:txBody>
      </p:sp>
      <p:sp>
        <p:nvSpPr>
          <p:cNvPr id="3" name="Content Placeholder 2"/>
          <p:cNvSpPr>
            <a:spLocks noGrp="1"/>
          </p:cNvSpPr>
          <p:nvPr>
            <p:ph idx="1"/>
          </p:nvPr>
        </p:nvSpPr>
        <p:spPr>
          <a:xfrm>
            <a:off x="838200" y="2762515"/>
            <a:ext cx="10515600" cy="3533169"/>
          </a:xfrm>
        </p:spPr>
        <p:txBody>
          <a:bodyPr>
            <a:normAutofit fontScale="85000" lnSpcReduction="20000"/>
          </a:bodyPr>
          <a:lstStyle/>
          <a:p>
            <a:r>
              <a:rPr lang="en-US" dirty="0"/>
              <a:t>INNER JOIN Syntax</a:t>
            </a:r>
          </a:p>
          <a:p>
            <a:r>
              <a:rPr lang="en-US" dirty="0"/>
              <a:t>SELECT </a:t>
            </a:r>
            <a:r>
              <a:rPr lang="en-US" i="1" dirty="0" err="1"/>
              <a:t>column_name</a:t>
            </a:r>
            <a:r>
              <a:rPr lang="en-US" i="1" dirty="0"/>
              <a:t>(s)</a:t>
            </a:r>
            <a:r>
              <a:rPr lang="en-US" dirty="0"/>
              <a:t/>
            </a:r>
            <a:br>
              <a:rPr lang="en-US" dirty="0"/>
            </a:br>
            <a:r>
              <a:rPr lang="en-US" dirty="0"/>
              <a:t>FROM </a:t>
            </a:r>
            <a:r>
              <a:rPr lang="en-US" i="1" dirty="0"/>
              <a:t>table1</a:t>
            </a:r>
            <a:r>
              <a:rPr lang="en-US" dirty="0"/>
              <a:t/>
            </a:r>
            <a:br>
              <a:rPr lang="en-US" dirty="0"/>
            </a:br>
            <a:r>
              <a:rPr lang="en-US" dirty="0"/>
              <a:t>INNER JOIN </a:t>
            </a:r>
            <a:r>
              <a:rPr lang="en-US" i="1" dirty="0"/>
              <a:t>table2</a:t>
            </a:r>
            <a:br>
              <a:rPr lang="en-US" i="1" dirty="0"/>
            </a:br>
            <a:r>
              <a:rPr lang="en-US" dirty="0"/>
              <a:t>ON </a:t>
            </a:r>
            <a:r>
              <a:rPr lang="en-US" i="1" dirty="0"/>
              <a:t>table1.column_name </a:t>
            </a:r>
            <a:r>
              <a:rPr lang="en-US" dirty="0"/>
              <a:t>=</a:t>
            </a:r>
            <a:r>
              <a:rPr lang="en-US" i="1" dirty="0"/>
              <a:t> table2.column_name</a:t>
            </a:r>
            <a:r>
              <a:rPr lang="en-US" dirty="0" smtClean="0"/>
              <a:t>;</a:t>
            </a:r>
          </a:p>
          <a:p>
            <a:endParaRPr lang="en-US" dirty="0"/>
          </a:p>
          <a:p>
            <a:r>
              <a:rPr lang="en-US" dirty="0"/>
              <a:t>SELECT </a:t>
            </a:r>
            <a:r>
              <a:rPr lang="en-US" dirty="0" err="1"/>
              <a:t>Orders.OrderID</a:t>
            </a:r>
            <a:r>
              <a:rPr lang="en-US" dirty="0"/>
              <a:t>, </a:t>
            </a:r>
            <a:r>
              <a:rPr lang="en-US" dirty="0" err="1"/>
              <a:t>Customers.CustomerName</a:t>
            </a:r>
            <a:r>
              <a:rPr lang="en-US" dirty="0"/>
              <a:t/>
            </a:r>
            <a:br>
              <a:rPr lang="en-US" dirty="0"/>
            </a:br>
            <a:r>
              <a:rPr lang="en-US" dirty="0"/>
              <a:t>FROM Orders</a:t>
            </a:r>
            <a:br>
              <a:rPr lang="en-US" dirty="0"/>
            </a:br>
            <a:r>
              <a:rPr lang="en-US" dirty="0"/>
              <a:t>INNER JOIN Customers ON </a:t>
            </a:r>
            <a:r>
              <a:rPr lang="en-US" dirty="0" err="1"/>
              <a:t>Orders.CustomerID</a:t>
            </a:r>
            <a:r>
              <a:rPr lang="en-US" dirty="0"/>
              <a:t> = </a:t>
            </a:r>
            <a:r>
              <a:rPr lang="en-US" dirty="0" err="1"/>
              <a:t>Customers.CustomerID</a:t>
            </a:r>
            <a:r>
              <a:rPr lang="en-US" dirty="0"/>
              <a:t>;</a:t>
            </a:r>
          </a:p>
          <a:p>
            <a:pPr marL="0" indent="0">
              <a:buNone/>
            </a:pPr>
            <a:r>
              <a:rPr lang="en-US" dirty="0"/>
              <a:t/>
            </a:r>
            <a:br>
              <a:rPr lang="en-US" dirty="0"/>
            </a:b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53</a:t>
            </a:fld>
            <a:endParaRPr lang="en-US"/>
          </a:p>
        </p:txBody>
      </p:sp>
      <p:sp>
        <p:nvSpPr>
          <p:cNvPr id="5" name="TextBox 4"/>
          <p:cNvSpPr txBox="1"/>
          <p:nvPr/>
        </p:nvSpPr>
        <p:spPr>
          <a:xfrm>
            <a:off x="1162594" y="1776549"/>
            <a:ext cx="184731" cy="646331"/>
          </a:xfrm>
          <a:prstGeom prst="rect">
            <a:avLst/>
          </a:prstGeom>
          <a:noFill/>
        </p:spPr>
        <p:txBody>
          <a:bodyPr wrap="none" rtlCol="0">
            <a:spAutoFit/>
          </a:bodyPr>
          <a:lstStyle/>
          <a:p>
            <a:endParaRPr lang="en-US" dirty="0" smtClean="0"/>
          </a:p>
          <a:p>
            <a:endParaRPr lang="en-US" dirty="0"/>
          </a:p>
        </p:txBody>
      </p:sp>
      <p:sp>
        <p:nvSpPr>
          <p:cNvPr id="7" name="Rectangle 1"/>
          <p:cNvSpPr>
            <a:spLocks noChangeArrowheads="1"/>
          </p:cNvSpPr>
          <p:nvPr/>
        </p:nvSpPr>
        <p:spPr bwMode="auto">
          <a:xfrm rot="10800000" flipV="1">
            <a:off x="942703" y="1697097"/>
            <a:ext cx="94945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rgbClr val="000000"/>
                </a:solidFill>
                <a:effectLst/>
                <a:latin typeface="Verdana" panose="020B0604030504040204" pitchFamily="34" charset="0"/>
              </a:rPr>
              <a:t>The </a:t>
            </a:r>
            <a:r>
              <a:rPr kumimoji="0" lang="en-US" altLang="en-US" b="1" i="0" u="none" strike="noStrike" cap="none" normalizeH="0" baseline="0" dirty="0" smtClean="0">
                <a:ln>
                  <a:noFill/>
                </a:ln>
                <a:solidFill>
                  <a:srgbClr val="DC143C"/>
                </a:solidFill>
                <a:effectLst/>
                <a:latin typeface="Consolas" panose="020B0609020204030204" pitchFamily="49" charset="0"/>
              </a:rPr>
              <a:t>INNER JOIN</a:t>
            </a:r>
            <a:r>
              <a:rPr kumimoji="0" lang="en-US" altLang="en-US" b="1" i="0" u="none" strike="noStrike" cap="none" normalizeH="0" baseline="0" dirty="0" smtClean="0">
                <a:ln>
                  <a:noFill/>
                </a:ln>
                <a:solidFill>
                  <a:srgbClr val="000000"/>
                </a:solidFill>
                <a:effectLst/>
                <a:latin typeface="Verdana" panose="020B0604030504040204" pitchFamily="34" charset="0"/>
              </a:rPr>
              <a:t> keyword selects records that have matching values in both tables.</a:t>
            </a:r>
            <a:r>
              <a:rPr kumimoji="0" lang="en-US" altLang="en-US" b="1" i="0" u="none" strike="noStrike" cap="none" normalizeH="0" baseline="0" dirty="0" smtClean="0">
                <a:ln>
                  <a:noFill/>
                </a:ln>
                <a:solidFill>
                  <a:schemeClr val="tx1"/>
                </a:solidFill>
                <a:effectLst/>
                <a:latin typeface="Times New Roman" panose="02020603050405020304" pitchFamily="18" charset="0"/>
              </a:rPr>
              <a:t> </a:t>
            </a:r>
            <a:endParaRPr kumimoji="0" lang="en-US" altLang="en-US" sz="3200" b="1" i="0" u="none" strike="noStrike" cap="none" normalizeH="0" baseline="0" dirty="0" smtClean="0">
              <a:ln>
                <a:noFill/>
              </a:ln>
              <a:solidFill>
                <a:schemeClr val="tx1"/>
              </a:solidFill>
              <a:effectLst/>
              <a:latin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8019642" y="2429145"/>
            <a:ext cx="2867025" cy="1495425"/>
          </a:xfrm>
          <a:prstGeom prst="rect">
            <a:avLst/>
          </a:prstGeom>
        </p:spPr>
      </p:pic>
    </p:spTree>
    <p:extLst>
      <p:ext uri="{BB962C8B-B14F-4D97-AF65-F5344CB8AC3E}">
        <p14:creationId xmlns:p14="http://schemas.microsoft.com/office/powerpoint/2010/main" val="422297882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54</a:t>
            </a:fld>
            <a:endParaRPr lang="en-US"/>
          </a:p>
        </p:txBody>
      </p:sp>
      <p:pic>
        <p:nvPicPr>
          <p:cNvPr id="3" name="Picture 2"/>
          <p:cNvPicPr>
            <a:picLocks noChangeAspect="1"/>
          </p:cNvPicPr>
          <p:nvPr/>
        </p:nvPicPr>
        <p:blipFill>
          <a:blip r:embed="rId2"/>
          <a:stretch>
            <a:fillRect/>
          </a:stretch>
        </p:blipFill>
        <p:spPr>
          <a:xfrm>
            <a:off x="464458" y="1074057"/>
            <a:ext cx="3514498" cy="1889805"/>
          </a:xfrm>
          <a:prstGeom prst="rect">
            <a:avLst/>
          </a:prstGeom>
        </p:spPr>
      </p:pic>
      <p:sp>
        <p:nvSpPr>
          <p:cNvPr id="4" name="TextBox 3"/>
          <p:cNvSpPr txBox="1"/>
          <p:nvPr/>
        </p:nvSpPr>
        <p:spPr>
          <a:xfrm>
            <a:off x="609601" y="478971"/>
            <a:ext cx="2394856" cy="369332"/>
          </a:xfrm>
          <a:prstGeom prst="rect">
            <a:avLst/>
          </a:prstGeom>
          <a:noFill/>
        </p:spPr>
        <p:txBody>
          <a:bodyPr wrap="square" rtlCol="0">
            <a:spAutoFit/>
          </a:bodyPr>
          <a:lstStyle/>
          <a:p>
            <a:r>
              <a:rPr lang="en-US" dirty="0" smtClean="0"/>
              <a:t>employee</a:t>
            </a:r>
            <a:endParaRPr lang="en-US" dirty="0"/>
          </a:p>
        </p:txBody>
      </p:sp>
      <p:pic>
        <p:nvPicPr>
          <p:cNvPr id="5" name="Picture 4"/>
          <p:cNvPicPr>
            <a:picLocks noChangeAspect="1"/>
          </p:cNvPicPr>
          <p:nvPr/>
        </p:nvPicPr>
        <p:blipFill>
          <a:blip r:embed="rId3"/>
          <a:stretch>
            <a:fillRect/>
          </a:stretch>
        </p:blipFill>
        <p:spPr>
          <a:xfrm>
            <a:off x="5248275" y="1074057"/>
            <a:ext cx="3362325" cy="1487612"/>
          </a:xfrm>
          <a:prstGeom prst="rect">
            <a:avLst/>
          </a:prstGeom>
        </p:spPr>
      </p:pic>
      <p:sp>
        <p:nvSpPr>
          <p:cNvPr id="6" name="TextBox 5"/>
          <p:cNvSpPr txBox="1"/>
          <p:nvPr/>
        </p:nvSpPr>
        <p:spPr>
          <a:xfrm>
            <a:off x="5602514" y="663637"/>
            <a:ext cx="1567543" cy="369332"/>
          </a:xfrm>
          <a:prstGeom prst="rect">
            <a:avLst/>
          </a:prstGeom>
          <a:noFill/>
        </p:spPr>
        <p:txBody>
          <a:bodyPr wrap="square" rtlCol="0">
            <a:spAutoFit/>
          </a:bodyPr>
          <a:lstStyle/>
          <a:p>
            <a:r>
              <a:rPr lang="en-US" dirty="0" smtClean="0"/>
              <a:t>department</a:t>
            </a:r>
            <a:endParaRPr lang="en-US" dirty="0"/>
          </a:p>
        </p:txBody>
      </p:sp>
      <p:sp>
        <p:nvSpPr>
          <p:cNvPr id="8" name="TextBox 7"/>
          <p:cNvSpPr txBox="1"/>
          <p:nvPr/>
        </p:nvSpPr>
        <p:spPr>
          <a:xfrm>
            <a:off x="475344" y="2939190"/>
            <a:ext cx="9506856" cy="830997"/>
          </a:xfrm>
          <a:prstGeom prst="rect">
            <a:avLst/>
          </a:prstGeom>
          <a:noFill/>
        </p:spPr>
        <p:txBody>
          <a:bodyPr wrap="square" rtlCol="0">
            <a:spAutoFit/>
          </a:bodyPr>
          <a:lstStyle/>
          <a:p>
            <a:r>
              <a:rPr lang="en-US" sz="2400" b="1" dirty="0">
                <a:latin typeface="Arial Narrow" panose="020B0606020202030204" pitchFamily="34" charset="0"/>
              </a:rPr>
              <a:t>select </a:t>
            </a:r>
            <a:r>
              <a:rPr lang="en-US" sz="2400" b="1" dirty="0" err="1">
                <a:latin typeface="Arial Narrow" panose="020B0606020202030204" pitchFamily="34" charset="0"/>
              </a:rPr>
              <a:t>emp_no</a:t>
            </a:r>
            <a:r>
              <a:rPr lang="en-US" sz="2400" b="1" dirty="0">
                <a:latin typeface="Arial Narrow" panose="020B0606020202030204" pitchFamily="34" charset="0"/>
              </a:rPr>
              <a:t> </a:t>
            </a:r>
            <a:r>
              <a:rPr lang="en-US" sz="2400" b="1" dirty="0" smtClean="0">
                <a:latin typeface="Arial Narrow" panose="020B0606020202030204" pitchFamily="34" charset="0"/>
              </a:rPr>
              <a:t>, </a:t>
            </a:r>
            <a:r>
              <a:rPr lang="en-US" sz="2400" b="1" dirty="0" err="1" smtClean="0">
                <a:latin typeface="Arial Narrow" panose="020B0606020202030204" pitchFamily="34" charset="0"/>
              </a:rPr>
              <a:t>ename</a:t>
            </a:r>
            <a:r>
              <a:rPr lang="en-US" sz="2400" b="1" dirty="0" smtClean="0">
                <a:latin typeface="Arial Narrow" panose="020B0606020202030204" pitchFamily="34" charset="0"/>
              </a:rPr>
              <a:t> , </a:t>
            </a:r>
            <a:r>
              <a:rPr lang="en-US" sz="2400" b="1" dirty="0" err="1" smtClean="0">
                <a:latin typeface="Arial Narrow" panose="020B0606020202030204" pitchFamily="34" charset="0"/>
              </a:rPr>
              <a:t>dept_name</a:t>
            </a:r>
            <a:r>
              <a:rPr lang="en-US" sz="2400" b="1" dirty="0" smtClean="0">
                <a:latin typeface="Arial Narrow" panose="020B0606020202030204" pitchFamily="34" charset="0"/>
              </a:rPr>
              <a:t> , location </a:t>
            </a:r>
            <a:r>
              <a:rPr lang="en-US" sz="2400" b="1" dirty="0">
                <a:latin typeface="Arial Narrow" panose="020B0606020202030204" pitchFamily="34" charset="0"/>
              </a:rPr>
              <a:t>from employee</a:t>
            </a:r>
          </a:p>
          <a:p>
            <a:r>
              <a:rPr lang="en-US" sz="2400" b="1" dirty="0" smtClean="0">
                <a:latin typeface="Arial Narrow" panose="020B0606020202030204" pitchFamily="34" charset="0"/>
              </a:rPr>
              <a:t>Inner join department </a:t>
            </a:r>
            <a:r>
              <a:rPr lang="en-US" sz="2400" b="1" dirty="0">
                <a:latin typeface="Arial Narrow" panose="020B0606020202030204" pitchFamily="34" charset="0"/>
              </a:rPr>
              <a:t>on </a:t>
            </a:r>
            <a:r>
              <a:rPr lang="en-US" sz="2400" b="1" dirty="0" err="1">
                <a:latin typeface="Arial Narrow" panose="020B0606020202030204" pitchFamily="34" charset="0"/>
              </a:rPr>
              <a:t>employee.dept_no</a:t>
            </a:r>
            <a:r>
              <a:rPr lang="en-US" sz="2400" b="1" dirty="0">
                <a:latin typeface="Arial Narrow" panose="020B0606020202030204" pitchFamily="34" charset="0"/>
              </a:rPr>
              <a:t> = </a:t>
            </a:r>
            <a:r>
              <a:rPr lang="en-US" sz="2400" b="1" dirty="0" err="1">
                <a:latin typeface="Arial Narrow" panose="020B0606020202030204" pitchFamily="34" charset="0"/>
              </a:rPr>
              <a:t>department.dept_no</a:t>
            </a:r>
            <a:r>
              <a:rPr lang="en-US" sz="2400" b="1" dirty="0">
                <a:latin typeface="Arial Narrow" panose="020B0606020202030204" pitchFamily="34" charset="0"/>
              </a:rPr>
              <a:t> </a:t>
            </a:r>
            <a:r>
              <a:rPr lang="en-US" sz="2400" b="1" dirty="0" smtClean="0">
                <a:latin typeface="Arial Narrow" panose="020B0606020202030204" pitchFamily="34" charset="0"/>
              </a:rPr>
              <a:t>;</a:t>
            </a:r>
            <a:endParaRPr lang="en-US" sz="2000" dirty="0">
              <a:latin typeface="Arial Narrow" panose="020B0606020202030204" pitchFamily="34" charset="0"/>
            </a:endParaRPr>
          </a:p>
        </p:txBody>
      </p:sp>
      <p:sp>
        <p:nvSpPr>
          <p:cNvPr id="11" name="TextBox 10"/>
          <p:cNvSpPr txBox="1"/>
          <p:nvPr/>
        </p:nvSpPr>
        <p:spPr>
          <a:xfrm>
            <a:off x="3846286" y="275771"/>
            <a:ext cx="1756228" cy="52322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sz="2800" dirty="0" smtClean="0"/>
              <a:t>Inner join</a:t>
            </a:r>
            <a:endParaRPr lang="en-US" sz="2800" dirty="0"/>
          </a:p>
        </p:txBody>
      </p:sp>
      <p:pic>
        <p:nvPicPr>
          <p:cNvPr id="7" name="Picture 6"/>
          <p:cNvPicPr>
            <a:picLocks noChangeAspect="1"/>
          </p:cNvPicPr>
          <p:nvPr/>
        </p:nvPicPr>
        <p:blipFill>
          <a:blip r:embed="rId4"/>
          <a:stretch>
            <a:fillRect/>
          </a:stretch>
        </p:blipFill>
        <p:spPr>
          <a:xfrm>
            <a:off x="1004388" y="4327958"/>
            <a:ext cx="5381897" cy="1676694"/>
          </a:xfrm>
          <a:prstGeom prst="rect">
            <a:avLst/>
          </a:prstGeom>
        </p:spPr>
      </p:pic>
    </p:spTree>
    <p:extLst>
      <p:ext uri="{BB962C8B-B14F-4D97-AF65-F5344CB8AC3E}">
        <p14:creationId xmlns:p14="http://schemas.microsoft.com/office/powerpoint/2010/main" val="339007862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8037"/>
            <a:ext cx="10515600" cy="855755"/>
          </a:xfrm>
          <a:solidFill>
            <a:schemeClr val="bg1">
              <a:lumMod val="95000"/>
            </a:schemeClr>
          </a:solidFill>
          <a:ln>
            <a:noFill/>
          </a:ln>
          <a:effectLst/>
          <a:scene3d>
            <a:camera prst="orthographicFront">
              <a:rot lat="0" lon="0" rev="0"/>
            </a:camera>
            <a:lightRig rig="contrasting" dir="t">
              <a:rot lat="0" lon="0" rev="7800000"/>
            </a:lightRig>
          </a:scene3d>
          <a:sp3d>
            <a:bevelT w="139700" h="139700"/>
          </a:sp3d>
        </p:spPr>
        <p:txBody>
          <a:bodyPr>
            <a:normAutofit fontScale="90000"/>
          </a:bodyPr>
          <a:lstStyle/>
          <a:p>
            <a:r>
              <a:rPr lang="en-US" dirty="0" smtClean="0"/>
              <a:t>  </a:t>
            </a:r>
            <a:br>
              <a:rPr lang="en-US" dirty="0" smtClean="0"/>
            </a:br>
            <a:r>
              <a:rPr lang="en-US" dirty="0" smtClean="0"/>
              <a:t>SQL </a:t>
            </a:r>
            <a:r>
              <a:rPr lang="en-US" dirty="0"/>
              <a:t>LEFT JOIN Keyword</a:t>
            </a:r>
            <a:br>
              <a:rPr lang="en-US" dirty="0"/>
            </a:b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55</a:t>
            </a:fld>
            <a:endParaRPr lang="en-US"/>
          </a:p>
        </p:txBody>
      </p:sp>
      <p:sp>
        <p:nvSpPr>
          <p:cNvPr id="8" name="Rectangle 7"/>
          <p:cNvSpPr/>
          <p:nvPr/>
        </p:nvSpPr>
        <p:spPr>
          <a:xfrm>
            <a:off x="930565" y="1220880"/>
            <a:ext cx="8540006" cy="923330"/>
          </a:xfrm>
          <a:prstGeom prst="rect">
            <a:avLst/>
          </a:prstGeom>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solidFill>
                  <a:srgbClr val="000000"/>
                </a:solidFill>
                <a:latin typeface="Verdana" panose="020B0604030504040204" pitchFamily="34" charset="0"/>
              </a:rPr>
              <a:t>The </a:t>
            </a:r>
            <a:r>
              <a:rPr lang="en-US" altLang="en-US" dirty="0">
                <a:solidFill>
                  <a:srgbClr val="DC143C"/>
                </a:solidFill>
                <a:latin typeface="Consolas" panose="020B0609020204030204" pitchFamily="49" charset="0"/>
              </a:rPr>
              <a:t>LEFT JOIN</a:t>
            </a:r>
            <a:r>
              <a:rPr lang="en-US" altLang="en-US" dirty="0">
                <a:solidFill>
                  <a:srgbClr val="000000"/>
                </a:solidFill>
                <a:latin typeface="Verdana" panose="020B0604030504040204" pitchFamily="34" charset="0"/>
              </a:rPr>
              <a:t> keyword returns all records from the left table (table1), and the matching records from the right table (table2). The result is 0 records from the right side, if there is no match.</a:t>
            </a:r>
            <a:r>
              <a:rPr lang="en-US" altLang="en-US" dirty="0"/>
              <a:t> </a:t>
            </a:r>
            <a:endParaRPr lang="en-US" altLang="en-US" dirty="0">
              <a:latin typeface="Times New Roman" panose="02020603050405020304" pitchFamily="18" charset="0"/>
            </a:endParaRPr>
          </a:p>
        </p:txBody>
      </p:sp>
      <p:sp>
        <p:nvSpPr>
          <p:cNvPr id="3" name="TextBox 2"/>
          <p:cNvSpPr txBox="1"/>
          <p:nvPr/>
        </p:nvSpPr>
        <p:spPr>
          <a:xfrm>
            <a:off x="1136469" y="2823189"/>
            <a:ext cx="4784771" cy="1200329"/>
          </a:xfrm>
          <a:prstGeom prst="rect">
            <a:avLst/>
          </a:prstGeom>
          <a:noFill/>
        </p:spPr>
        <p:txBody>
          <a:bodyPr wrap="none" rtlCol="0">
            <a:spAutoFit/>
          </a:bodyPr>
          <a:lstStyle/>
          <a:p>
            <a:r>
              <a:rPr lang="en-US" dirty="0"/>
              <a:t>SELECT </a:t>
            </a:r>
            <a:r>
              <a:rPr lang="en-US" i="1" dirty="0" err="1"/>
              <a:t>column_name</a:t>
            </a:r>
            <a:r>
              <a:rPr lang="en-US" i="1" dirty="0"/>
              <a:t>(s)</a:t>
            </a:r>
            <a:r>
              <a:rPr lang="en-US" dirty="0"/>
              <a:t/>
            </a:r>
            <a:br>
              <a:rPr lang="en-US" dirty="0"/>
            </a:br>
            <a:r>
              <a:rPr lang="en-US" dirty="0"/>
              <a:t>FROM </a:t>
            </a:r>
            <a:r>
              <a:rPr lang="en-US" i="1" dirty="0"/>
              <a:t>table1</a:t>
            </a:r>
            <a:r>
              <a:rPr lang="en-US" dirty="0"/>
              <a:t/>
            </a:r>
            <a:br>
              <a:rPr lang="en-US" dirty="0"/>
            </a:br>
            <a:r>
              <a:rPr lang="en-US" dirty="0"/>
              <a:t>LEFT JOIN </a:t>
            </a:r>
            <a:r>
              <a:rPr lang="en-US" i="1" dirty="0"/>
              <a:t>table2</a:t>
            </a:r>
            <a:br>
              <a:rPr lang="en-US" i="1" dirty="0"/>
            </a:br>
            <a:r>
              <a:rPr lang="en-US" dirty="0"/>
              <a:t>ON </a:t>
            </a:r>
            <a:r>
              <a:rPr lang="en-US" i="1" dirty="0"/>
              <a:t>table1.column_name </a:t>
            </a:r>
            <a:r>
              <a:rPr lang="en-US" dirty="0"/>
              <a:t>=</a:t>
            </a:r>
            <a:r>
              <a:rPr lang="en-US" i="1" dirty="0"/>
              <a:t> table2.column_name</a:t>
            </a:r>
            <a:r>
              <a:rPr lang="en-US" dirty="0"/>
              <a:t>;</a:t>
            </a:r>
          </a:p>
        </p:txBody>
      </p:sp>
      <p:sp>
        <p:nvSpPr>
          <p:cNvPr id="5" name="TextBox 4"/>
          <p:cNvSpPr txBox="1"/>
          <p:nvPr/>
        </p:nvSpPr>
        <p:spPr>
          <a:xfrm>
            <a:off x="1136469" y="2353634"/>
            <a:ext cx="1760162" cy="646331"/>
          </a:xfrm>
          <a:prstGeom prst="rect">
            <a:avLst/>
          </a:prstGeom>
          <a:noFill/>
        </p:spPr>
        <p:txBody>
          <a:bodyPr wrap="none" rtlCol="0">
            <a:spAutoFit/>
          </a:bodyPr>
          <a:lstStyle/>
          <a:p>
            <a:r>
              <a:rPr lang="en-US" dirty="0"/>
              <a:t>LEFT JOIN Syntax</a:t>
            </a:r>
          </a:p>
          <a:p>
            <a:endParaRPr lang="en-US" dirty="0"/>
          </a:p>
        </p:txBody>
      </p:sp>
      <p:sp>
        <p:nvSpPr>
          <p:cNvPr id="6" name="TextBox 5"/>
          <p:cNvSpPr txBox="1"/>
          <p:nvPr/>
        </p:nvSpPr>
        <p:spPr>
          <a:xfrm>
            <a:off x="1045029" y="4519749"/>
            <a:ext cx="6583680" cy="1200329"/>
          </a:xfrm>
          <a:prstGeom prst="rect">
            <a:avLst/>
          </a:prstGeom>
          <a:noFill/>
        </p:spPr>
        <p:txBody>
          <a:bodyPr wrap="square" rtlCol="0">
            <a:spAutoFit/>
          </a:bodyPr>
          <a:lstStyle/>
          <a:p>
            <a:r>
              <a:rPr lang="en-US" dirty="0"/>
              <a:t>SELECT </a:t>
            </a:r>
            <a:r>
              <a:rPr lang="en-US" dirty="0" err="1"/>
              <a:t>Customers.CustomerName</a:t>
            </a:r>
            <a:r>
              <a:rPr lang="en-US" dirty="0"/>
              <a:t>, </a:t>
            </a:r>
            <a:r>
              <a:rPr lang="en-US" dirty="0" err="1"/>
              <a:t>Orders.OrderID</a:t>
            </a:r>
            <a:r>
              <a:rPr lang="en-US" dirty="0"/>
              <a:t/>
            </a:r>
            <a:br>
              <a:rPr lang="en-US" dirty="0"/>
            </a:br>
            <a:r>
              <a:rPr lang="en-US" dirty="0"/>
              <a:t>FROM Customers</a:t>
            </a:r>
            <a:br>
              <a:rPr lang="en-US" dirty="0"/>
            </a:br>
            <a:r>
              <a:rPr lang="en-US" dirty="0"/>
              <a:t>LEFT JOIN Orders ON </a:t>
            </a:r>
            <a:r>
              <a:rPr lang="en-US" dirty="0" err="1"/>
              <a:t>Customers.CustomerID</a:t>
            </a:r>
            <a:r>
              <a:rPr lang="en-US" dirty="0"/>
              <a:t> = </a:t>
            </a:r>
            <a:r>
              <a:rPr lang="en-US" dirty="0" err="1"/>
              <a:t>Orders.CustomerID</a:t>
            </a:r>
            <a:r>
              <a:rPr lang="en-US" dirty="0"/>
              <a:t/>
            </a:r>
            <a:br>
              <a:rPr lang="en-US" dirty="0"/>
            </a:br>
            <a:r>
              <a:rPr lang="en-US" dirty="0"/>
              <a:t>ORDER BY </a:t>
            </a:r>
            <a:r>
              <a:rPr lang="en-US" dirty="0" err="1"/>
              <a:t>Customers.CustomerName</a:t>
            </a:r>
            <a:r>
              <a:rPr lang="en-US" dirty="0"/>
              <a:t>;</a:t>
            </a:r>
          </a:p>
        </p:txBody>
      </p:sp>
      <p:pic>
        <p:nvPicPr>
          <p:cNvPr id="7" name="Picture 6"/>
          <p:cNvPicPr>
            <a:picLocks noChangeAspect="1"/>
          </p:cNvPicPr>
          <p:nvPr/>
        </p:nvPicPr>
        <p:blipFill>
          <a:blip r:embed="rId2"/>
          <a:stretch>
            <a:fillRect/>
          </a:stretch>
        </p:blipFill>
        <p:spPr>
          <a:xfrm>
            <a:off x="7628709" y="2353634"/>
            <a:ext cx="2571750" cy="1581150"/>
          </a:xfrm>
          <a:prstGeom prst="rect">
            <a:avLst/>
          </a:prstGeom>
        </p:spPr>
      </p:pic>
    </p:spTree>
    <p:extLst>
      <p:ext uri="{BB962C8B-B14F-4D97-AF65-F5344CB8AC3E}">
        <p14:creationId xmlns:p14="http://schemas.microsoft.com/office/powerpoint/2010/main" val="83956474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56</a:t>
            </a:fld>
            <a:endParaRPr lang="en-US"/>
          </a:p>
        </p:txBody>
      </p:sp>
      <p:sp>
        <p:nvSpPr>
          <p:cNvPr id="3" name="Rectangle 2"/>
          <p:cNvSpPr/>
          <p:nvPr/>
        </p:nvSpPr>
        <p:spPr>
          <a:xfrm>
            <a:off x="464459" y="3157736"/>
            <a:ext cx="9768112" cy="1200329"/>
          </a:xfrm>
          <a:prstGeom prst="rect">
            <a:avLst/>
          </a:prstGeom>
        </p:spPr>
        <p:txBody>
          <a:bodyPr wrap="square">
            <a:spAutoFit/>
          </a:bodyPr>
          <a:lstStyle/>
          <a:p>
            <a:r>
              <a:rPr lang="en-US" sz="2400" dirty="0"/>
              <a:t>select </a:t>
            </a:r>
            <a:r>
              <a:rPr lang="en-US" sz="2400" dirty="0" err="1"/>
              <a:t>emp_no</a:t>
            </a:r>
            <a:r>
              <a:rPr lang="en-US" sz="2400" dirty="0"/>
              <a:t> ,</a:t>
            </a:r>
            <a:r>
              <a:rPr lang="en-US" sz="2400" dirty="0" err="1"/>
              <a:t>ename,dept_name,location</a:t>
            </a:r>
            <a:r>
              <a:rPr lang="en-US" sz="2400" dirty="0"/>
              <a:t> from employee</a:t>
            </a:r>
          </a:p>
          <a:p>
            <a:r>
              <a:rPr lang="en-US" sz="2400" dirty="0"/>
              <a:t>left join department on </a:t>
            </a:r>
            <a:r>
              <a:rPr lang="en-US" sz="2400" dirty="0" err="1"/>
              <a:t>employee.dept_no</a:t>
            </a:r>
            <a:r>
              <a:rPr lang="en-US" sz="2400" dirty="0"/>
              <a:t> = </a:t>
            </a:r>
            <a:r>
              <a:rPr lang="en-US" sz="2400" dirty="0" err="1"/>
              <a:t>department.dept_no</a:t>
            </a:r>
            <a:r>
              <a:rPr lang="en-US" sz="2400" dirty="0"/>
              <a:t> order by </a:t>
            </a:r>
            <a:r>
              <a:rPr lang="en-US" sz="2400" dirty="0" err="1"/>
              <a:t>emp_no</a:t>
            </a:r>
            <a:r>
              <a:rPr lang="en-US" sz="2400" dirty="0"/>
              <a:t>;</a:t>
            </a:r>
          </a:p>
        </p:txBody>
      </p:sp>
      <p:pic>
        <p:nvPicPr>
          <p:cNvPr id="4" name="Picture 3"/>
          <p:cNvPicPr>
            <a:picLocks noChangeAspect="1"/>
          </p:cNvPicPr>
          <p:nvPr/>
        </p:nvPicPr>
        <p:blipFill>
          <a:blip r:embed="rId2"/>
          <a:stretch>
            <a:fillRect/>
          </a:stretch>
        </p:blipFill>
        <p:spPr>
          <a:xfrm>
            <a:off x="464458" y="1074057"/>
            <a:ext cx="3514498" cy="1889805"/>
          </a:xfrm>
          <a:prstGeom prst="rect">
            <a:avLst/>
          </a:prstGeom>
        </p:spPr>
      </p:pic>
      <p:pic>
        <p:nvPicPr>
          <p:cNvPr id="5" name="Picture 4"/>
          <p:cNvPicPr>
            <a:picLocks noChangeAspect="1"/>
          </p:cNvPicPr>
          <p:nvPr/>
        </p:nvPicPr>
        <p:blipFill>
          <a:blip r:embed="rId3"/>
          <a:stretch>
            <a:fillRect/>
          </a:stretch>
        </p:blipFill>
        <p:spPr>
          <a:xfrm>
            <a:off x="5248275" y="1074057"/>
            <a:ext cx="3362325" cy="1487612"/>
          </a:xfrm>
          <a:prstGeom prst="rect">
            <a:avLst/>
          </a:prstGeom>
        </p:spPr>
      </p:pic>
      <p:pic>
        <p:nvPicPr>
          <p:cNvPr id="6" name="Picture 5"/>
          <p:cNvPicPr>
            <a:picLocks noChangeAspect="1"/>
          </p:cNvPicPr>
          <p:nvPr/>
        </p:nvPicPr>
        <p:blipFill>
          <a:blip r:embed="rId4"/>
          <a:stretch>
            <a:fillRect/>
          </a:stretch>
        </p:blipFill>
        <p:spPr>
          <a:xfrm>
            <a:off x="1121228" y="4399537"/>
            <a:ext cx="4582659" cy="2196350"/>
          </a:xfrm>
          <a:prstGeom prst="rect">
            <a:avLst/>
          </a:prstGeom>
        </p:spPr>
      </p:pic>
      <p:sp>
        <p:nvSpPr>
          <p:cNvPr id="7" name="TextBox 6"/>
          <p:cNvSpPr txBox="1"/>
          <p:nvPr/>
        </p:nvSpPr>
        <p:spPr>
          <a:xfrm>
            <a:off x="841829" y="682171"/>
            <a:ext cx="1393371" cy="369332"/>
          </a:xfrm>
          <a:prstGeom prst="rect">
            <a:avLst/>
          </a:prstGeom>
          <a:noFill/>
        </p:spPr>
        <p:txBody>
          <a:bodyPr wrap="square" rtlCol="0">
            <a:spAutoFit/>
          </a:bodyPr>
          <a:lstStyle/>
          <a:p>
            <a:r>
              <a:rPr lang="en-US" dirty="0" smtClean="0"/>
              <a:t>employee</a:t>
            </a:r>
            <a:endParaRPr lang="en-US" dirty="0"/>
          </a:p>
        </p:txBody>
      </p:sp>
      <p:sp>
        <p:nvSpPr>
          <p:cNvPr id="8" name="TextBox 7"/>
          <p:cNvSpPr txBox="1"/>
          <p:nvPr/>
        </p:nvSpPr>
        <p:spPr>
          <a:xfrm>
            <a:off x="5248275" y="696686"/>
            <a:ext cx="2212068" cy="369332"/>
          </a:xfrm>
          <a:prstGeom prst="rect">
            <a:avLst/>
          </a:prstGeom>
          <a:noFill/>
        </p:spPr>
        <p:txBody>
          <a:bodyPr wrap="square" rtlCol="0">
            <a:spAutoFit/>
          </a:bodyPr>
          <a:lstStyle/>
          <a:p>
            <a:r>
              <a:rPr lang="en-US" dirty="0" smtClean="0"/>
              <a:t>department</a:t>
            </a:r>
            <a:endParaRPr lang="en-US" dirty="0"/>
          </a:p>
        </p:txBody>
      </p:sp>
      <p:sp>
        <p:nvSpPr>
          <p:cNvPr id="9" name="TextBox 8"/>
          <p:cNvSpPr txBox="1"/>
          <p:nvPr/>
        </p:nvSpPr>
        <p:spPr>
          <a:xfrm>
            <a:off x="3831771" y="152730"/>
            <a:ext cx="3526972" cy="523220"/>
          </a:xfrm>
          <a:prstGeom prst="rect">
            <a:avLst/>
          </a:prstGeom>
          <a:noFill/>
          <a:effectLst>
            <a:outerShdw blurRad="50800" dist="38100" dir="16200000" rotWithShape="0">
              <a:prstClr val="black">
                <a:alpha val="40000"/>
              </a:prstClr>
            </a:outerShdw>
          </a:effectLst>
        </p:spPr>
        <p:txBody>
          <a:bodyPr wrap="square" rtlCol="0">
            <a:spAutoFit/>
          </a:bodyPr>
          <a:lstStyle/>
          <a:p>
            <a:r>
              <a:rPr lang="en-US" sz="2800" dirty="0" smtClean="0"/>
              <a:t>Left join</a:t>
            </a:r>
            <a:endParaRPr lang="en-US" sz="2800" dirty="0"/>
          </a:p>
        </p:txBody>
      </p:sp>
    </p:spTree>
    <p:extLst>
      <p:ext uri="{BB962C8B-B14F-4D97-AF65-F5344CB8AC3E}">
        <p14:creationId xmlns:p14="http://schemas.microsoft.com/office/powerpoint/2010/main" val="41979304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122"/>
            <a:ext cx="10515600" cy="923657"/>
          </a:xfr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r>
              <a:rPr lang="en-US" sz="4900" dirty="0" smtClean="0"/>
              <a:t>    </a:t>
            </a:r>
            <a:br>
              <a:rPr lang="en-US" sz="4900" dirty="0" smtClean="0"/>
            </a:br>
            <a:r>
              <a:rPr lang="en-US" sz="4900" dirty="0"/>
              <a:t> </a:t>
            </a:r>
            <a:r>
              <a:rPr lang="en-US" sz="4900" dirty="0" smtClean="0"/>
              <a:t>             SQL </a:t>
            </a:r>
            <a:r>
              <a:rPr lang="en-US" sz="4900" dirty="0"/>
              <a:t>RIGHT JOIN Keyword</a:t>
            </a:r>
            <a:r>
              <a:rPr lang="en-US" dirty="0"/>
              <a:t/>
            </a:r>
            <a:br>
              <a:rPr lang="en-US" dirty="0"/>
            </a:b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57</a:t>
            </a:fld>
            <a:endParaRPr lang="en-US"/>
          </a:p>
        </p:txBody>
      </p:sp>
      <p:sp>
        <p:nvSpPr>
          <p:cNvPr id="7" name="TextBox 6"/>
          <p:cNvSpPr txBox="1"/>
          <p:nvPr/>
        </p:nvSpPr>
        <p:spPr>
          <a:xfrm>
            <a:off x="838200" y="1175656"/>
            <a:ext cx="9588138" cy="1015663"/>
          </a:xfrm>
          <a:prstGeom prst="rect">
            <a:avLst/>
          </a:prstGeom>
          <a:noFill/>
        </p:spPr>
        <p:txBody>
          <a:bodyPr wrap="square" rtlCol="0">
            <a:spAutoFit/>
          </a:bodyPr>
          <a:lstStyle/>
          <a:p>
            <a:r>
              <a:rPr lang="en-US" sz="2000" dirty="0" smtClean="0"/>
              <a:t>The </a:t>
            </a:r>
            <a:r>
              <a:rPr lang="en-US" sz="2000" dirty="0"/>
              <a:t>RIGHT JOIN keyword returns all records from the right table (table2), and the matching records from the left table (table1). The result is 0 records from the left side, if there is no match.</a:t>
            </a:r>
          </a:p>
        </p:txBody>
      </p:sp>
      <p:sp>
        <p:nvSpPr>
          <p:cNvPr id="10" name="TextBox 9"/>
          <p:cNvSpPr txBox="1"/>
          <p:nvPr/>
        </p:nvSpPr>
        <p:spPr>
          <a:xfrm>
            <a:off x="940526" y="2442754"/>
            <a:ext cx="2164695" cy="677108"/>
          </a:xfrm>
          <a:prstGeom prst="rect">
            <a:avLst/>
          </a:prstGeom>
          <a:noFill/>
        </p:spPr>
        <p:txBody>
          <a:bodyPr wrap="none" rtlCol="0">
            <a:spAutoFit/>
          </a:bodyPr>
          <a:lstStyle/>
          <a:p>
            <a:r>
              <a:rPr lang="en-US" sz="2000" b="1" dirty="0"/>
              <a:t>RIGHT JOIN Syntax</a:t>
            </a:r>
          </a:p>
          <a:p>
            <a:endParaRPr lang="en-US" dirty="0"/>
          </a:p>
        </p:txBody>
      </p:sp>
      <p:sp>
        <p:nvSpPr>
          <p:cNvPr id="11" name="TextBox 10"/>
          <p:cNvSpPr txBox="1"/>
          <p:nvPr/>
        </p:nvSpPr>
        <p:spPr>
          <a:xfrm>
            <a:off x="940526" y="3073505"/>
            <a:ext cx="4784771" cy="1200329"/>
          </a:xfrm>
          <a:prstGeom prst="rect">
            <a:avLst/>
          </a:prstGeom>
          <a:noFill/>
        </p:spPr>
        <p:txBody>
          <a:bodyPr wrap="none" rtlCol="0">
            <a:spAutoFit/>
          </a:bodyPr>
          <a:lstStyle/>
          <a:p>
            <a:r>
              <a:rPr lang="en-US" dirty="0"/>
              <a:t>SELECT </a:t>
            </a:r>
            <a:r>
              <a:rPr lang="en-US" i="1" dirty="0" err="1"/>
              <a:t>column_name</a:t>
            </a:r>
            <a:r>
              <a:rPr lang="en-US" i="1" dirty="0"/>
              <a:t>(s)</a:t>
            </a:r>
            <a:r>
              <a:rPr lang="en-US" dirty="0"/>
              <a:t/>
            </a:r>
            <a:br>
              <a:rPr lang="en-US" dirty="0"/>
            </a:br>
            <a:r>
              <a:rPr lang="en-US" dirty="0"/>
              <a:t>FROM </a:t>
            </a:r>
            <a:r>
              <a:rPr lang="en-US" i="1" dirty="0"/>
              <a:t>table1</a:t>
            </a:r>
            <a:r>
              <a:rPr lang="en-US" dirty="0"/>
              <a:t/>
            </a:r>
            <a:br>
              <a:rPr lang="en-US" dirty="0"/>
            </a:br>
            <a:r>
              <a:rPr lang="en-US" dirty="0"/>
              <a:t>RIGHT JOIN </a:t>
            </a:r>
            <a:r>
              <a:rPr lang="en-US" i="1" dirty="0"/>
              <a:t>table2</a:t>
            </a:r>
            <a:br>
              <a:rPr lang="en-US" i="1" dirty="0"/>
            </a:br>
            <a:r>
              <a:rPr lang="en-US" dirty="0"/>
              <a:t>ON </a:t>
            </a:r>
            <a:r>
              <a:rPr lang="en-US" i="1" dirty="0"/>
              <a:t>table1.column_name </a:t>
            </a:r>
            <a:r>
              <a:rPr lang="en-US" dirty="0"/>
              <a:t>=</a:t>
            </a:r>
            <a:r>
              <a:rPr lang="en-US" i="1" dirty="0"/>
              <a:t> table2.column_name</a:t>
            </a:r>
            <a:r>
              <a:rPr lang="en-US" dirty="0"/>
              <a:t>;</a:t>
            </a:r>
          </a:p>
        </p:txBody>
      </p:sp>
      <p:sp>
        <p:nvSpPr>
          <p:cNvPr id="12" name="TextBox 11"/>
          <p:cNvSpPr txBox="1"/>
          <p:nvPr/>
        </p:nvSpPr>
        <p:spPr>
          <a:xfrm>
            <a:off x="1031966" y="4572000"/>
            <a:ext cx="6961329" cy="1200329"/>
          </a:xfrm>
          <a:prstGeom prst="rect">
            <a:avLst/>
          </a:prstGeom>
          <a:noFill/>
        </p:spPr>
        <p:txBody>
          <a:bodyPr wrap="none" rtlCol="0">
            <a:spAutoFit/>
          </a:bodyPr>
          <a:lstStyle/>
          <a:p>
            <a:r>
              <a:rPr lang="en-US" dirty="0"/>
              <a:t>SELECT </a:t>
            </a:r>
            <a:r>
              <a:rPr lang="en-US" dirty="0" err="1"/>
              <a:t>Orders.OrderID</a:t>
            </a:r>
            <a:r>
              <a:rPr lang="en-US" dirty="0"/>
              <a:t>, </a:t>
            </a:r>
            <a:r>
              <a:rPr lang="en-US" dirty="0" err="1"/>
              <a:t>Employees.LastName</a:t>
            </a:r>
            <a:r>
              <a:rPr lang="en-US" dirty="0"/>
              <a:t>, </a:t>
            </a:r>
            <a:r>
              <a:rPr lang="en-US" dirty="0" err="1"/>
              <a:t>Employees.FirstName</a:t>
            </a:r>
            <a:r>
              <a:rPr lang="en-US" dirty="0"/>
              <a:t/>
            </a:r>
            <a:br>
              <a:rPr lang="en-US" dirty="0"/>
            </a:br>
            <a:r>
              <a:rPr lang="en-US" dirty="0"/>
              <a:t>FROM Orders</a:t>
            </a:r>
            <a:br>
              <a:rPr lang="en-US" dirty="0"/>
            </a:br>
            <a:r>
              <a:rPr lang="en-US" dirty="0"/>
              <a:t>RIGHT JOIN Employees ON </a:t>
            </a:r>
            <a:r>
              <a:rPr lang="en-US" dirty="0" err="1"/>
              <a:t>Orders.EmployeeID</a:t>
            </a:r>
            <a:r>
              <a:rPr lang="en-US" dirty="0"/>
              <a:t> = </a:t>
            </a:r>
            <a:r>
              <a:rPr lang="en-US" dirty="0" err="1"/>
              <a:t>Employees.EmployeeID</a:t>
            </a:r>
            <a:r>
              <a:rPr lang="en-US" dirty="0"/>
              <a:t/>
            </a:r>
            <a:br>
              <a:rPr lang="en-US" dirty="0"/>
            </a:br>
            <a:r>
              <a:rPr lang="en-US" dirty="0"/>
              <a:t>ORDER BY </a:t>
            </a:r>
            <a:r>
              <a:rPr lang="en-US" dirty="0" err="1"/>
              <a:t>Orders.OrderID</a:t>
            </a:r>
            <a:r>
              <a:rPr lang="en-US" dirty="0"/>
              <a:t>;</a:t>
            </a:r>
          </a:p>
        </p:txBody>
      </p:sp>
      <p:pic>
        <p:nvPicPr>
          <p:cNvPr id="3" name="Picture 2"/>
          <p:cNvPicPr>
            <a:picLocks noChangeAspect="1"/>
          </p:cNvPicPr>
          <p:nvPr/>
        </p:nvPicPr>
        <p:blipFill>
          <a:blip r:embed="rId2"/>
          <a:stretch>
            <a:fillRect/>
          </a:stretch>
        </p:blipFill>
        <p:spPr>
          <a:xfrm>
            <a:off x="7845308" y="2073559"/>
            <a:ext cx="3645355" cy="1997810"/>
          </a:xfrm>
          <a:prstGeom prst="rect">
            <a:avLst/>
          </a:prstGeom>
        </p:spPr>
      </p:pic>
    </p:spTree>
    <p:extLst>
      <p:ext uri="{BB962C8B-B14F-4D97-AF65-F5344CB8AC3E}">
        <p14:creationId xmlns:p14="http://schemas.microsoft.com/office/powerpoint/2010/main" val="951147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58</a:t>
            </a:fld>
            <a:endParaRPr lang="en-US"/>
          </a:p>
        </p:txBody>
      </p:sp>
      <p:pic>
        <p:nvPicPr>
          <p:cNvPr id="3" name="Picture 2"/>
          <p:cNvPicPr>
            <a:picLocks noChangeAspect="1"/>
          </p:cNvPicPr>
          <p:nvPr/>
        </p:nvPicPr>
        <p:blipFill>
          <a:blip r:embed="rId2"/>
          <a:stretch>
            <a:fillRect/>
          </a:stretch>
        </p:blipFill>
        <p:spPr>
          <a:xfrm>
            <a:off x="464458" y="1074057"/>
            <a:ext cx="3514498" cy="1889805"/>
          </a:xfrm>
          <a:prstGeom prst="rect">
            <a:avLst/>
          </a:prstGeom>
        </p:spPr>
      </p:pic>
      <p:pic>
        <p:nvPicPr>
          <p:cNvPr id="4" name="Picture 3"/>
          <p:cNvPicPr>
            <a:picLocks noChangeAspect="1"/>
          </p:cNvPicPr>
          <p:nvPr/>
        </p:nvPicPr>
        <p:blipFill>
          <a:blip r:embed="rId3"/>
          <a:stretch>
            <a:fillRect/>
          </a:stretch>
        </p:blipFill>
        <p:spPr>
          <a:xfrm>
            <a:off x="5248275" y="1074057"/>
            <a:ext cx="3362325" cy="1487612"/>
          </a:xfrm>
          <a:prstGeom prst="rect">
            <a:avLst/>
          </a:prstGeom>
        </p:spPr>
      </p:pic>
      <p:sp>
        <p:nvSpPr>
          <p:cNvPr id="5" name="TextBox 4"/>
          <p:cNvSpPr txBox="1"/>
          <p:nvPr/>
        </p:nvSpPr>
        <p:spPr>
          <a:xfrm>
            <a:off x="464458" y="3258680"/>
            <a:ext cx="9937657" cy="1200329"/>
          </a:xfrm>
          <a:prstGeom prst="rect">
            <a:avLst/>
          </a:prstGeom>
          <a:noFill/>
        </p:spPr>
        <p:txBody>
          <a:bodyPr wrap="none" rtlCol="0">
            <a:spAutoFit/>
          </a:bodyPr>
          <a:lstStyle/>
          <a:p>
            <a:r>
              <a:rPr lang="en-US" sz="2400" b="1" dirty="0"/>
              <a:t>select </a:t>
            </a:r>
            <a:r>
              <a:rPr lang="en-US" sz="2400" b="1" dirty="0" err="1"/>
              <a:t>emp_no</a:t>
            </a:r>
            <a:r>
              <a:rPr lang="en-US" sz="2400" b="1" dirty="0"/>
              <a:t> ,</a:t>
            </a:r>
            <a:r>
              <a:rPr lang="en-US" sz="2400" b="1" dirty="0" err="1" smtClean="0"/>
              <a:t>ename,department.dept_name,location</a:t>
            </a:r>
            <a:r>
              <a:rPr lang="en-US" sz="2400" b="1" dirty="0" smtClean="0"/>
              <a:t> </a:t>
            </a:r>
            <a:r>
              <a:rPr lang="en-US" sz="2400" b="1" dirty="0"/>
              <a:t>from employee </a:t>
            </a:r>
            <a:endParaRPr lang="en-US" sz="2400" b="1" dirty="0" smtClean="0"/>
          </a:p>
          <a:p>
            <a:r>
              <a:rPr lang="en-US" sz="2400" b="1" dirty="0" smtClean="0"/>
              <a:t>right </a:t>
            </a:r>
            <a:r>
              <a:rPr lang="en-US" sz="2400" b="1" dirty="0"/>
              <a:t>join </a:t>
            </a:r>
            <a:endParaRPr lang="en-US" sz="2400" b="1" dirty="0" smtClean="0"/>
          </a:p>
          <a:p>
            <a:r>
              <a:rPr lang="en-US" sz="2400" b="1" dirty="0" smtClean="0"/>
              <a:t>department </a:t>
            </a:r>
            <a:r>
              <a:rPr lang="en-US" sz="2400" b="1" dirty="0"/>
              <a:t>on </a:t>
            </a:r>
            <a:r>
              <a:rPr lang="en-US" sz="2400" b="1" dirty="0" err="1"/>
              <a:t>employee.dept_no</a:t>
            </a:r>
            <a:r>
              <a:rPr lang="en-US" sz="2400" b="1" dirty="0"/>
              <a:t> = </a:t>
            </a:r>
            <a:r>
              <a:rPr lang="en-US" sz="2400" b="1" dirty="0" err="1"/>
              <a:t>department.dept_no</a:t>
            </a:r>
            <a:r>
              <a:rPr lang="en-US" sz="2400" b="1" dirty="0"/>
              <a:t> order by </a:t>
            </a:r>
            <a:r>
              <a:rPr lang="en-US" sz="2400" b="1" dirty="0" err="1"/>
              <a:t>emp_no</a:t>
            </a:r>
            <a:r>
              <a:rPr lang="en-US" sz="2400" b="1" dirty="0"/>
              <a:t>;</a:t>
            </a:r>
          </a:p>
        </p:txBody>
      </p:sp>
      <p:pic>
        <p:nvPicPr>
          <p:cNvPr id="6" name="Picture 5"/>
          <p:cNvPicPr>
            <a:picLocks noChangeAspect="1"/>
          </p:cNvPicPr>
          <p:nvPr/>
        </p:nvPicPr>
        <p:blipFill>
          <a:blip r:embed="rId4"/>
          <a:stretch>
            <a:fillRect/>
          </a:stretch>
        </p:blipFill>
        <p:spPr>
          <a:xfrm>
            <a:off x="1609044" y="4753827"/>
            <a:ext cx="4951413" cy="1864687"/>
          </a:xfrm>
          <a:prstGeom prst="rect">
            <a:avLst/>
          </a:prstGeom>
        </p:spPr>
      </p:pic>
      <p:sp>
        <p:nvSpPr>
          <p:cNvPr id="7" name="TextBox 6"/>
          <p:cNvSpPr txBox="1"/>
          <p:nvPr/>
        </p:nvSpPr>
        <p:spPr>
          <a:xfrm>
            <a:off x="624114" y="769257"/>
            <a:ext cx="2046515" cy="369332"/>
          </a:xfrm>
          <a:prstGeom prst="rect">
            <a:avLst/>
          </a:prstGeom>
          <a:noFill/>
        </p:spPr>
        <p:txBody>
          <a:bodyPr wrap="square" rtlCol="0">
            <a:spAutoFit/>
          </a:bodyPr>
          <a:lstStyle/>
          <a:p>
            <a:r>
              <a:rPr lang="en-US" dirty="0" smtClean="0"/>
              <a:t>Employee </a:t>
            </a:r>
            <a:endParaRPr lang="en-US" dirty="0"/>
          </a:p>
        </p:txBody>
      </p:sp>
      <p:sp>
        <p:nvSpPr>
          <p:cNvPr id="8" name="TextBox 7"/>
          <p:cNvSpPr txBox="1"/>
          <p:nvPr/>
        </p:nvSpPr>
        <p:spPr>
          <a:xfrm>
            <a:off x="5791200" y="769257"/>
            <a:ext cx="1872343" cy="369332"/>
          </a:xfrm>
          <a:prstGeom prst="rect">
            <a:avLst/>
          </a:prstGeom>
          <a:noFill/>
        </p:spPr>
        <p:txBody>
          <a:bodyPr wrap="square" rtlCol="0">
            <a:spAutoFit/>
          </a:bodyPr>
          <a:lstStyle/>
          <a:p>
            <a:r>
              <a:rPr lang="en-US" dirty="0" smtClean="0"/>
              <a:t>department</a:t>
            </a:r>
            <a:endParaRPr lang="en-US" dirty="0"/>
          </a:p>
        </p:txBody>
      </p:sp>
      <p:sp>
        <p:nvSpPr>
          <p:cNvPr id="9" name="TextBox 8"/>
          <p:cNvSpPr txBox="1"/>
          <p:nvPr/>
        </p:nvSpPr>
        <p:spPr>
          <a:xfrm>
            <a:off x="3178628" y="230679"/>
            <a:ext cx="3512457" cy="400110"/>
          </a:xfrm>
          <a:prstGeom prst="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sz="2000" dirty="0" smtClean="0"/>
              <a:t>RIGHT JOIN</a:t>
            </a:r>
            <a:endParaRPr lang="en-US" sz="2000" dirty="0"/>
          </a:p>
        </p:txBody>
      </p:sp>
    </p:spTree>
    <p:extLst>
      <p:ext uri="{BB962C8B-B14F-4D97-AF65-F5344CB8AC3E}">
        <p14:creationId xmlns:p14="http://schemas.microsoft.com/office/powerpoint/2010/main" val="689800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59</a:t>
            </a:fld>
            <a:endParaRPr lang="en-US"/>
          </a:p>
        </p:txBody>
      </p:sp>
      <p:pic>
        <p:nvPicPr>
          <p:cNvPr id="3" name="Picture 2"/>
          <p:cNvPicPr>
            <a:picLocks noChangeAspect="1"/>
          </p:cNvPicPr>
          <p:nvPr/>
        </p:nvPicPr>
        <p:blipFill>
          <a:blip r:embed="rId2"/>
          <a:stretch>
            <a:fillRect/>
          </a:stretch>
        </p:blipFill>
        <p:spPr>
          <a:xfrm>
            <a:off x="464458" y="1074057"/>
            <a:ext cx="3514498" cy="1889805"/>
          </a:xfrm>
          <a:prstGeom prst="rect">
            <a:avLst/>
          </a:prstGeom>
        </p:spPr>
      </p:pic>
      <p:pic>
        <p:nvPicPr>
          <p:cNvPr id="4" name="Picture 3"/>
          <p:cNvPicPr>
            <a:picLocks noChangeAspect="1"/>
          </p:cNvPicPr>
          <p:nvPr/>
        </p:nvPicPr>
        <p:blipFill>
          <a:blip r:embed="rId3"/>
          <a:stretch>
            <a:fillRect/>
          </a:stretch>
        </p:blipFill>
        <p:spPr>
          <a:xfrm>
            <a:off x="5248275" y="1074057"/>
            <a:ext cx="3362325" cy="1487612"/>
          </a:xfrm>
          <a:prstGeom prst="rect">
            <a:avLst/>
          </a:prstGeom>
        </p:spPr>
      </p:pic>
      <p:sp>
        <p:nvSpPr>
          <p:cNvPr id="5" name="TextBox 4"/>
          <p:cNvSpPr txBox="1"/>
          <p:nvPr/>
        </p:nvSpPr>
        <p:spPr>
          <a:xfrm>
            <a:off x="339478" y="3160827"/>
            <a:ext cx="10590271" cy="1569660"/>
          </a:xfrm>
          <a:prstGeom prst="rect">
            <a:avLst/>
          </a:prstGeom>
          <a:noFill/>
        </p:spPr>
        <p:txBody>
          <a:bodyPr wrap="none" rtlCol="0">
            <a:spAutoFit/>
          </a:bodyPr>
          <a:lstStyle/>
          <a:p>
            <a:endParaRPr lang="en-US" sz="2400" b="1" dirty="0"/>
          </a:p>
          <a:p>
            <a:r>
              <a:rPr lang="en-US" sz="2400" b="1" dirty="0"/>
              <a:t>select </a:t>
            </a:r>
            <a:r>
              <a:rPr lang="en-US" sz="2400" b="1" dirty="0" err="1"/>
              <a:t>emp_no</a:t>
            </a:r>
            <a:r>
              <a:rPr lang="en-US" sz="2400" b="1" dirty="0"/>
              <a:t> ,</a:t>
            </a:r>
            <a:r>
              <a:rPr lang="en-US" sz="2400" b="1" dirty="0" err="1"/>
              <a:t>ename,dept_name,department.dept_no,location</a:t>
            </a:r>
            <a:r>
              <a:rPr lang="en-US" sz="2400" b="1" dirty="0"/>
              <a:t> from employee </a:t>
            </a:r>
            <a:endParaRPr lang="en-US" sz="2400" b="1" dirty="0" smtClean="0"/>
          </a:p>
          <a:p>
            <a:r>
              <a:rPr lang="en-US" sz="2400" b="1" dirty="0" smtClean="0"/>
              <a:t>right </a:t>
            </a:r>
            <a:r>
              <a:rPr lang="en-US" sz="2400" b="1" dirty="0"/>
              <a:t>join </a:t>
            </a:r>
            <a:endParaRPr lang="en-US" sz="2400" b="1" dirty="0" smtClean="0"/>
          </a:p>
          <a:p>
            <a:r>
              <a:rPr lang="en-US" sz="2400" b="1" dirty="0" smtClean="0"/>
              <a:t>department </a:t>
            </a:r>
            <a:r>
              <a:rPr lang="en-US" sz="2400" b="1" dirty="0"/>
              <a:t>on </a:t>
            </a:r>
            <a:r>
              <a:rPr lang="en-US" sz="2400" b="1" dirty="0" err="1"/>
              <a:t>employee.dept_no</a:t>
            </a:r>
            <a:r>
              <a:rPr lang="en-US" sz="2400" b="1" dirty="0"/>
              <a:t> = </a:t>
            </a:r>
            <a:r>
              <a:rPr lang="en-US" sz="2400" b="1" dirty="0" err="1"/>
              <a:t>department.dept_no</a:t>
            </a:r>
            <a:r>
              <a:rPr lang="en-US" sz="2400" b="1" dirty="0"/>
              <a:t> order by </a:t>
            </a:r>
            <a:r>
              <a:rPr lang="en-US" sz="2400" b="1" dirty="0" err="1"/>
              <a:t>emp_no</a:t>
            </a:r>
            <a:r>
              <a:rPr lang="en-US" sz="2400" b="1" dirty="0"/>
              <a:t>;</a:t>
            </a:r>
          </a:p>
        </p:txBody>
      </p:sp>
      <p:sp>
        <p:nvSpPr>
          <p:cNvPr id="7" name="TextBox 6"/>
          <p:cNvSpPr txBox="1"/>
          <p:nvPr/>
        </p:nvSpPr>
        <p:spPr>
          <a:xfrm>
            <a:off x="624114" y="769257"/>
            <a:ext cx="2046515" cy="369332"/>
          </a:xfrm>
          <a:prstGeom prst="rect">
            <a:avLst/>
          </a:prstGeom>
          <a:noFill/>
        </p:spPr>
        <p:txBody>
          <a:bodyPr wrap="square" rtlCol="0">
            <a:spAutoFit/>
          </a:bodyPr>
          <a:lstStyle/>
          <a:p>
            <a:r>
              <a:rPr lang="en-US" dirty="0" smtClean="0"/>
              <a:t>Employee </a:t>
            </a:r>
            <a:endParaRPr lang="en-US" dirty="0"/>
          </a:p>
        </p:txBody>
      </p:sp>
      <p:sp>
        <p:nvSpPr>
          <p:cNvPr id="8" name="TextBox 7"/>
          <p:cNvSpPr txBox="1"/>
          <p:nvPr/>
        </p:nvSpPr>
        <p:spPr>
          <a:xfrm>
            <a:off x="5791200" y="769257"/>
            <a:ext cx="1872343" cy="369332"/>
          </a:xfrm>
          <a:prstGeom prst="rect">
            <a:avLst/>
          </a:prstGeom>
          <a:noFill/>
        </p:spPr>
        <p:txBody>
          <a:bodyPr wrap="square" rtlCol="0">
            <a:spAutoFit/>
          </a:bodyPr>
          <a:lstStyle/>
          <a:p>
            <a:r>
              <a:rPr lang="en-US" dirty="0" smtClean="0"/>
              <a:t>department</a:t>
            </a:r>
            <a:endParaRPr lang="en-US" dirty="0"/>
          </a:p>
        </p:txBody>
      </p:sp>
      <p:sp>
        <p:nvSpPr>
          <p:cNvPr id="9" name="TextBox 8"/>
          <p:cNvSpPr txBox="1"/>
          <p:nvPr/>
        </p:nvSpPr>
        <p:spPr>
          <a:xfrm>
            <a:off x="3207657" y="232229"/>
            <a:ext cx="3904980" cy="369332"/>
          </a:xfrm>
          <a:prstGeom prst="rect">
            <a:avLst/>
          </a:prstGeom>
          <a:noFill/>
        </p:spPr>
        <p:txBody>
          <a:bodyPr wrap="none" rtlCol="0">
            <a:spAutoFit/>
          </a:bodyPr>
          <a:lstStyle/>
          <a:p>
            <a:r>
              <a:rPr lang="en-US" dirty="0" smtClean="0"/>
              <a:t>Right join with writing </a:t>
            </a:r>
            <a:r>
              <a:rPr lang="en-US" dirty="0" err="1" smtClean="0"/>
              <a:t>dept_no</a:t>
            </a:r>
            <a:r>
              <a:rPr lang="en-US" dirty="0" smtClean="0"/>
              <a:t>  column</a:t>
            </a:r>
            <a:endParaRPr lang="en-US" dirty="0"/>
          </a:p>
        </p:txBody>
      </p:sp>
      <p:pic>
        <p:nvPicPr>
          <p:cNvPr id="10" name="Picture 9"/>
          <p:cNvPicPr>
            <a:picLocks noChangeAspect="1"/>
          </p:cNvPicPr>
          <p:nvPr/>
        </p:nvPicPr>
        <p:blipFill>
          <a:blip r:embed="rId4"/>
          <a:stretch>
            <a:fillRect/>
          </a:stretch>
        </p:blipFill>
        <p:spPr>
          <a:xfrm>
            <a:off x="1175657" y="4645929"/>
            <a:ext cx="6807200" cy="1950104"/>
          </a:xfrm>
          <a:prstGeom prst="rect">
            <a:avLst/>
          </a:prstGeom>
        </p:spPr>
      </p:pic>
    </p:spTree>
    <p:extLst>
      <p:ext uri="{BB962C8B-B14F-4D97-AF65-F5344CB8AC3E}">
        <p14:creationId xmlns:p14="http://schemas.microsoft.com/office/powerpoint/2010/main" val="7237756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8640"/>
            <a:ext cx="10515600" cy="849420"/>
          </a:xfr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pPr algn="ctr"/>
            <a:r>
              <a:rPr lang="en-US" sz="4000" dirty="0" smtClean="0"/>
              <a:t> </a:t>
            </a:r>
            <a:br>
              <a:rPr lang="en-US" sz="4000" dirty="0" smtClean="0"/>
            </a:br>
            <a:r>
              <a:rPr lang="en-US" sz="4000" dirty="0" smtClean="0"/>
              <a:t>SQL </a:t>
            </a:r>
            <a:r>
              <a:rPr lang="en-US" sz="4000" dirty="0"/>
              <a:t>FULL OUTER JOIN Keyword</a:t>
            </a:r>
            <a:r>
              <a:rPr lang="en-US" dirty="0"/>
              <a:t/>
            </a:r>
            <a:br>
              <a:rPr lang="en-US" dirty="0"/>
            </a:br>
            <a:endParaRPr lang="en-US" dirty="0"/>
          </a:p>
        </p:txBody>
      </p:sp>
      <p:sp>
        <p:nvSpPr>
          <p:cNvPr id="5" name="Rectangle 1"/>
          <p:cNvSpPr>
            <a:spLocks noGrp="1" noChangeArrowheads="1"/>
          </p:cNvSpPr>
          <p:nvPr>
            <p:ph idx="1"/>
          </p:nvPr>
        </p:nvSpPr>
        <p:spPr bwMode="auto">
          <a:xfrm>
            <a:off x="838200" y="1375059"/>
            <a:ext cx="9637059"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smtClean="0">
                <a:ln>
                  <a:noFill/>
                </a:ln>
                <a:effectLst/>
                <a:latin typeface="Times New Roman" panose="02020603050405020304" pitchFamily="18" charset="0"/>
                <a:cs typeface="Times New Roman" panose="02020603050405020304" pitchFamily="18" charset="0"/>
              </a:rPr>
              <a:t>The FULL OUTER JOIN keyword returns all records when there is a match in left (table1) or right (table2) table records.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smtClean="0">
                <a:ln>
                  <a:noFill/>
                </a:ln>
                <a:effectLst/>
                <a:latin typeface="Times New Roman" panose="02020603050405020304" pitchFamily="18" charset="0"/>
                <a:cs typeface="Times New Roman" panose="02020603050405020304" pitchFamily="18" charset="0"/>
              </a:rPr>
              <a:t>Tip: FULL OUTER JOIN and FULL JOIN are the same.</a:t>
            </a:r>
            <a:endParaRPr kumimoji="0" lang="en-US" altLang="en-US" sz="3200" b="1" i="0" u="none" strike="noStrike" cap="none" normalizeH="0" baseline="0" dirty="0" smtClean="0">
              <a:ln>
                <a:noFill/>
              </a:ln>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22AE8BD-B2ED-4107-811B-DAE9CC0E64B8}" type="slidenum">
              <a:rPr lang="en-US" smtClean="0"/>
              <a:t>60</a:t>
            </a:fld>
            <a:endParaRPr lang="en-US"/>
          </a:p>
        </p:txBody>
      </p:sp>
      <p:sp>
        <p:nvSpPr>
          <p:cNvPr id="6" name="TextBox 5"/>
          <p:cNvSpPr txBox="1"/>
          <p:nvPr/>
        </p:nvSpPr>
        <p:spPr>
          <a:xfrm>
            <a:off x="838200" y="2675965"/>
            <a:ext cx="2740045" cy="677108"/>
          </a:xfrm>
          <a:prstGeom prst="rect">
            <a:avLst/>
          </a:prstGeom>
          <a:noFill/>
        </p:spPr>
        <p:txBody>
          <a:bodyPr wrap="none" rtlCol="0">
            <a:spAutoFit/>
          </a:bodyPr>
          <a:lstStyle/>
          <a:p>
            <a:r>
              <a:rPr lang="en-US" sz="2000" dirty="0"/>
              <a:t>FULL OUTER JOIN Syntax</a:t>
            </a:r>
          </a:p>
          <a:p>
            <a:endParaRPr lang="en-US" dirty="0"/>
          </a:p>
        </p:txBody>
      </p:sp>
      <p:sp>
        <p:nvSpPr>
          <p:cNvPr id="7" name="TextBox 6"/>
          <p:cNvSpPr txBox="1"/>
          <p:nvPr/>
        </p:nvSpPr>
        <p:spPr>
          <a:xfrm>
            <a:off x="960188" y="3322296"/>
            <a:ext cx="4722255" cy="1477328"/>
          </a:xfrm>
          <a:prstGeom prst="rect">
            <a:avLst/>
          </a:prstGeom>
          <a:noFill/>
        </p:spPr>
        <p:txBody>
          <a:bodyPr wrap="none" rtlCol="0">
            <a:spAutoFit/>
          </a:bodyPr>
          <a:lstStyle/>
          <a:p>
            <a:r>
              <a:rPr lang="en-US" dirty="0"/>
              <a:t>SELECT </a:t>
            </a:r>
            <a:r>
              <a:rPr lang="en-US" i="1" dirty="0" err="1"/>
              <a:t>column_name</a:t>
            </a:r>
            <a:r>
              <a:rPr lang="en-US" i="1" dirty="0"/>
              <a:t>(s)</a:t>
            </a:r>
            <a:r>
              <a:rPr lang="en-US" dirty="0"/>
              <a:t/>
            </a:r>
            <a:br>
              <a:rPr lang="en-US" dirty="0"/>
            </a:br>
            <a:r>
              <a:rPr lang="en-US" dirty="0"/>
              <a:t>FROM </a:t>
            </a:r>
            <a:r>
              <a:rPr lang="en-US" i="1" dirty="0"/>
              <a:t>table1</a:t>
            </a:r>
            <a:r>
              <a:rPr lang="en-US" dirty="0"/>
              <a:t/>
            </a:r>
            <a:br>
              <a:rPr lang="en-US" dirty="0"/>
            </a:br>
            <a:r>
              <a:rPr lang="en-US" dirty="0"/>
              <a:t>FULL OUTER JOIN </a:t>
            </a:r>
            <a:r>
              <a:rPr lang="en-US" i="1" dirty="0"/>
              <a:t>table2</a:t>
            </a:r>
            <a:br>
              <a:rPr lang="en-US" i="1" dirty="0"/>
            </a:br>
            <a:r>
              <a:rPr lang="en-US" dirty="0"/>
              <a:t>ON </a:t>
            </a:r>
            <a:r>
              <a:rPr lang="en-US" i="1" dirty="0"/>
              <a:t>table1.column_name </a:t>
            </a:r>
            <a:r>
              <a:rPr lang="en-US" dirty="0"/>
              <a:t>=</a:t>
            </a:r>
            <a:r>
              <a:rPr lang="en-US" i="1" dirty="0"/>
              <a:t> table2.column_name</a:t>
            </a:r>
            <a:br>
              <a:rPr lang="en-US" i="1" dirty="0"/>
            </a:br>
            <a:r>
              <a:rPr lang="en-US" dirty="0"/>
              <a:t>WHERE </a:t>
            </a:r>
            <a:r>
              <a:rPr lang="en-US" i="1" dirty="0"/>
              <a:t>condition</a:t>
            </a:r>
            <a:r>
              <a:rPr lang="en-US" dirty="0"/>
              <a:t>;</a:t>
            </a:r>
          </a:p>
        </p:txBody>
      </p:sp>
      <p:pic>
        <p:nvPicPr>
          <p:cNvPr id="3" name="Picture 2"/>
          <p:cNvPicPr>
            <a:picLocks noChangeAspect="1"/>
          </p:cNvPicPr>
          <p:nvPr/>
        </p:nvPicPr>
        <p:blipFill>
          <a:blip r:embed="rId2"/>
          <a:stretch>
            <a:fillRect/>
          </a:stretch>
        </p:blipFill>
        <p:spPr>
          <a:xfrm>
            <a:off x="6322423" y="2298389"/>
            <a:ext cx="4807132" cy="1989518"/>
          </a:xfrm>
          <a:prstGeom prst="rect">
            <a:avLst/>
          </a:prstGeom>
        </p:spPr>
      </p:pic>
    </p:spTree>
    <p:extLst>
      <p:ext uri="{BB962C8B-B14F-4D97-AF65-F5344CB8AC3E}">
        <p14:creationId xmlns:p14="http://schemas.microsoft.com/office/powerpoint/2010/main" val="28033650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61</a:t>
            </a:fld>
            <a:endParaRPr lang="en-US"/>
          </a:p>
        </p:txBody>
      </p:sp>
      <p:pic>
        <p:nvPicPr>
          <p:cNvPr id="3" name="Picture 2"/>
          <p:cNvPicPr>
            <a:picLocks noChangeAspect="1"/>
          </p:cNvPicPr>
          <p:nvPr/>
        </p:nvPicPr>
        <p:blipFill>
          <a:blip r:embed="rId2"/>
          <a:stretch>
            <a:fillRect/>
          </a:stretch>
        </p:blipFill>
        <p:spPr>
          <a:xfrm>
            <a:off x="464458" y="1074057"/>
            <a:ext cx="3514498" cy="1889805"/>
          </a:xfrm>
          <a:prstGeom prst="rect">
            <a:avLst/>
          </a:prstGeom>
        </p:spPr>
      </p:pic>
      <p:pic>
        <p:nvPicPr>
          <p:cNvPr id="4" name="Picture 3"/>
          <p:cNvPicPr>
            <a:picLocks noChangeAspect="1"/>
          </p:cNvPicPr>
          <p:nvPr/>
        </p:nvPicPr>
        <p:blipFill>
          <a:blip r:embed="rId3"/>
          <a:stretch>
            <a:fillRect/>
          </a:stretch>
        </p:blipFill>
        <p:spPr>
          <a:xfrm>
            <a:off x="5248275" y="1074057"/>
            <a:ext cx="3362325" cy="1487612"/>
          </a:xfrm>
          <a:prstGeom prst="rect">
            <a:avLst/>
          </a:prstGeom>
        </p:spPr>
      </p:pic>
      <p:sp>
        <p:nvSpPr>
          <p:cNvPr id="5" name="TextBox 4"/>
          <p:cNvSpPr txBox="1"/>
          <p:nvPr/>
        </p:nvSpPr>
        <p:spPr>
          <a:xfrm>
            <a:off x="339478" y="2963862"/>
            <a:ext cx="10590271" cy="1569660"/>
          </a:xfrm>
          <a:prstGeom prst="rect">
            <a:avLst/>
          </a:prstGeom>
          <a:noFill/>
        </p:spPr>
        <p:txBody>
          <a:bodyPr wrap="none" rtlCol="0">
            <a:spAutoFit/>
          </a:bodyPr>
          <a:lstStyle/>
          <a:p>
            <a:endParaRPr lang="en-US" sz="2400" b="1" dirty="0"/>
          </a:p>
          <a:p>
            <a:r>
              <a:rPr lang="en-US" sz="2400" b="1" dirty="0"/>
              <a:t>select </a:t>
            </a:r>
            <a:r>
              <a:rPr lang="en-US" sz="2400" b="1" dirty="0" err="1"/>
              <a:t>emp_no</a:t>
            </a:r>
            <a:r>
              <a:rPr lang="en-US" sz="2400" b="1" dirty="0"/>
              <a:t> ,</a:t>
            </a:r>
            <a:r>
              <a:rPr lang="en-US" sz="2400" b="1" dirty="0" err="1"/>
              <a:t>ename,dept_name,department.dept_no,location</a:t>
            </a:r>
            <a:r>
              <a:rPr lang="en-US" sz="2400" b="1" dirty="0"/>
              <a:t> from employee </a:t>
            </a:r>
            <a:endParaRPr lang="en-US" sz="2400" b="1" dirty="0" smtClean="0"/>
          </a:p>
          <a:p>
            <a:r>
              <a:rPr lang="en-US" sz="2400" b="1" dirty="0" smtClean="0"/>
              <a:t>Full join </a:t>
            </a:r>
          </a:p>
          <a:p>
            <a:r>
              <a:rPr lang="en-US" sz="2400" b="1" dirty="0" smtClean="0"/>
              <a:t>department </a:t>
            </a:r>
            <a:r>
              <a:rPr lang="en-US" sz="2400" b="1" dirty="0"/>
              <a:t>on </a:t>
            </a:r>
            <a:r>
              <a:rPr lang="en-US" sz="2400" b="1" dirty="0" err="1"/>
              <a:t>employee.dept_no</a:t>
            </a:r>
            <a:r>
              <a:rPr lang="en-US" sz="2400" b="1" dirty="0"/>
              <a:t> = </a:t>
            </a:r>
            <a:r>
              <a:rPr lang="en-US" sz="2400" b="1" dirty="0" err="1"/>
              <a:t>department.dept_no</a:t>
            </a:r>
            <a:r>
              <a:rPr lang="en-US" sz="2400" b="1" dirty="0"/>
              <a:t> order by </a:t>
            </a:r>
            <a:r>
              <a:rPr lang="en-US" sz="2400" b="1" dirty="0" err="1"/>
              <a:t>emp_no</a:t>
            </a:r>
            <a:r>
              <a:rPr lang="en-US" sz="2400" b="1" dirty="0"/>
              <a:t>;</a:t>
            </a:r>
          </a:p>
        </p:txBody>
      </p:sp>
      <p:sp>
        <p:nvSpPr>
          <p:cNvPr id="7" name="TextBox 6"/>
          <p:cNvSpPr txBox="1"/>
          <p:nvPr/>
        </p:nvSpPr>
        <p:spPr>
          <a:xfrm>
            <a:off x="624114" y="769257"/>
            <a:ext cx="2046515" cy="369332"/>
          </a:xfrm>
          <a:prstGeom prst="rect">
            <a:avLst/>
          </a:prstGeom>
          <a:noFill/>
        </p:spPr>
        <p:txBody>
          <a:bodyPr wrap="square" rtlCol="0">
            <a:spAutoFit/>
          </a:bodyPr>
          <a:lstStyle/>
          <a:p>
            <a:r>
              <a:rPr lang="en-US" dirty="0" smtClean="0"/>
              <a:t>Employee </a:t>
            </a:r>
            <a:endParaRPr lang="en-US" dirty="0"/>
          </a:p>
        </p:txBody>
      </p:sp>
      <p:sp>
        <p:nvSpPr>
          <p:cNvPr id="8" name="TextBox 7"/>
          <p:cNvSpPr txBox="1"/>
          <p:nvPr/>
        </p:nvSpPr>
        <p:spPr>
          <a:xfrm>
            <a:off x="5791200" y="769257"/>
            <a:ext cx="1872343" cy="369332"/>
          </a:xfrm>
          <a:prstGeom prst="rect">
            <a:avLst/>
          </a:prstGeom>
          <a:noFill/>
        </p:spPr>
        <p:txBody>
          <a:bodyPr wrap="square" rtlCol="0">
            <a:spAutoFit/>
          </a:bodyPr>
          <a:lstStyle/>
          <a:p>
            <a:r>
              <a:rPr lang="en-US" dirty="0" smtClean="0"/>
              <a:t>department</a:t>
            </a:r>
            <a:endParaRPr lang="en-US" dirty="0"/>
          </a:p>
        </p:txBody>
      </p:sp>
      <p:sp>
        <p:nvSpPr>
          <p:cNvPr id="9" name="TextBox 8"/>
          <p:cNvSpPr txBox="1"/>
          <p:nvPr/>
        </p:nvSpPr>
        <p:spPr>
          <a:xfrm>
            <a:off x="3213554" y="122926"/>
            <a:ext cx="4122057" cy="646331"/>
          </a:xfrm>
          <a:prstGeom prst="rect">
            <a:avLst/>
          </a:prstGeom>
          <a:solidFill>
            <a:srgbClr val="92D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US" sz="3600" dirty="0" smtClean="0"/>
              <a:t>Full join</a:t>
            </a:r>
            <a:endParaRPr lang="en-US" sz="3600" dirty="0"/>
          </a:p>
        </p:txBody>
      </p:sp>
      <p:pic>
        <p:nvPicPr>
          <p:cNvPr id="6" name="Picture 5"/>
          <p:cNvPicPr>
            <a:picLocks noChangeAspect="1"/>
          </p:cNvPicPr>
          <p:nvPr/>
        </p:nvPicPr>
        <p:blipFill>
          <a:blip r:embed="rId4"/>
          <a:stretch>
            <a:fillRect/>
          </a:stretch>
        </p:blipFill>
        <p:spPr>
          <a:xfrm>
            <a:off x="1214846" y="4533522"/>
            <a:ext cx="7040879" cy="2050157"/>
          </a:xfrm>
          <a:prstGeom prst="rect">
            <a:avLst/>
          </a:prstGeom>
        </p:spPr>
      </p:pic>
    </p:spTree>
    <p:extLst>
      <p:ext uri="{BB962C8B-B14F-4D97-AF65-F5344CB8AC3E}">
        <p14:creationId xmlns:p14="http://schemas.microsoft.com/office/powerpoint/2010/main" val="23482517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0422"/>
          </a:xfrm>
          <a:ln w="762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r>
              <a:rPr lang="en-US" dirty="0" smtClean="0"/>
              <a:t>Self join query</a:t>
            </a: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62</a:t>
            </a:fld>
            <a:endParaRPr lang="en-US"/>
          </a:p>
        </p:txBody>
      </p:sp>
      <p:sp>
        <p:nvSpPr>
          <p:cNvPr id="5" name="TextBox 4"/>
          <p:cNvSpPr txBox="1"/>
          <p:nvPr/>
        </p:nvSpPr>
        <p:spPr>
          <a:xfrm>
            <a:off x="972458" y="1506022"/>
            <a:ext cx="9324091" cy="523220"/>
          </a:xfrm>
          <a:prstGeom prst="rect">
            <a:avLst/>
          </a:prstGeom>
          <a:noFill/>
        </p:spPr>
        <p:txBody>
          <a:bodyPr wrap="none" rtlCol="0">
            <a:spAutoFit/>
          </a:bodyPr>
          <a:lstStyle/>
          <a:p>
            <a:pPr marL="457200" indent="-457200">
              <a:buFont typeface="Wingdings" panose="05000000000000000000" pitchFamily="2" charset="2"/>
              <a:buChar char="Ø"/>
            </a:pPr>
            <a:r>
              <a:rPr lang="en-US" sz="2800" dirty="0"/>
              <a:t>A self join is a regular join, but the table is joined with itself.</a:t>
            </a:r>
          </a:p>
        </p:txBody>
      </p:sp>
      <p:pic>
        <p:nvPicPr>
          <p:cNvPr id="6" name="Picture 5"/>
          <p:cNvPicPr>
            <a:picLocks noChangeAspect="1"/>
          </p:cNvPicPr>
          <p:nvPr/>
        </p:nvPicPr>
        <p:blipFill>
          <a:blip r:embed="rId2"/>
          <a:stretch>
            <a:fillRect/>
          </a:stretch>
        </p:blipFill>
        <p:spPr>
          <a:xfrm>
            <a:off x="1301428" y="3016251"/>
            <a:ext cx="6942685" cy="2859314"/>
          </a:xfrm>
          <a:prstGeom prst="rect">
            <a:avLst/>
          </a:prstGeom>
        </p:spPr>
      </p:pic>
      <p:sp>
        <p:nvSpPr>
          <p:cNvPr id="7" name="TextBox 6"/>
          <p:cNvSpPr txBox="1"/>
          <p:nvPr/>
        </p:nvSpPr>
        <p:spPr>
          <a:xfrm>
            <a:off x="1301428" y="2291914"/>
            <a:ext cx="2641600" cy="461665"/>
          </a:xfrm>
          <a:prstGeom prst="rect">
            <a:avLst/>
          </a:prstGeom>
          <a:noFill/>
          <a:ln>
            <a:solidFill>
              <a:schemeClr val="tx1"/>
            </a:solidFill>
          </a:ln>
        </p:spPr>
        <p:txBody>
          <a:bodyPr wrap="square" rtlCol="0">
            <a:spAutoFit/>
          </a:bodyPr>
          <a:lstStyle/>
          <a:p>
            <a:r>
              <a:rPr lang="en-US" sz="2400" dirty="0" err="1" smtClean="0"/>
              <a:t>Emp_tbl</a:t>
            </a:r>
            <a:endParaRPr lang="en-US" sz="2400" dirty="0"/>
          </a:p>
        </p:txBody>
      </p:sp>
      <p:pic>
        <p:nvPicPr>
          <p:cNvPr id="3" name="Picture 2"/>
          <p:cNvPicPr>
            <a:picLocks noChangeAspect="1"/>
          </p:cNvPicPr>
          <p:nvPr/>
        </p:nvPicPr>
        <p:blipFill>
          <a:blip r:embed="rId3"/>
          <a:stretch>
            <a:fillRect/>
          </a:stretch>
        </p:blipFill>
        <p:spPr>
          <a:xfrm>
            <a:off x="1301428" y="6142037"/>
            <a:ext cx="6942685" cy="428625"/>
          </a:xfrm>
          <a:prstGeom prst="rect">
            <a:avLst/>
          </a:prstGeom>
        </p:spPr>
      </p:pic>
    </p:spTree>
    <p:extLst>
      <p:ext uri="{BB962C8B-B14F-4D97-AF65-F5344CB8AC3E}">
        <p14:creationId xmlns:p14="http://schemas.microsoft.com/office/powerpoint/2010/main" val="39479902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63</a:t>
            </a:fld>
            <a:endParaRPr lang="en-US"/>
          </a:p>
        </p:txBody>
      </p:sp>
      <p:pic>
        <p:nvPicPr>
          <p:cNvPr id="3" name="Picture 2"/>
          <p:cNvPicPr>
            <a:picLocks noChangeAspect="1"/>
          </p:cNvPicPr>
          <p:nvPr/>
        </p:nvPicPr>
        <p:blipFill>
          <a:blip r:embed="rId2"/>
          <a:stretch>
            <a:fillRect/>
          </a:stretch>
        </p:blipFill>
        <p:spPr>
          <a:xfrm>
            <a:off x="499381" y="1352916"/>
            <a:ext cx="5335361" cy="1828800"/>
          </a:xfrm>
          <a:prstGeom prst="rect">
            <a:avLst/>
          </a:prstGeom>
        </p:spPr>
      </p:pic>
      <p:pic>
        <p:nvPicPr>
          <p:cNvPr id="4" name="Picture 3"/>
          <p:cNvPicPr>
            <a:picLocks noChangeAspect="1"/>
          </p:cNvPicPr>
          <p:nvPr/>
        </p:nvPicPr>
        <p:blipFill>
          <a:blip r:embed="rId2"/>
          <a:stretch>
            <a:fillRect/>
          </a:stretch>
        </p:blipFill>
        <p:spPr>
          <a:xfrm>
            <a:off x="6792686" y="1352917"/>
            <a:ext cx="4561114" cy="1846702"/>
          </a:xfrm>
          <a:prstGeom prst="rect">
            <a:avLst/>
          </a:prstGeom>
        </p:spPr>
      </p:pic>
      <p:sp>
        <p:nvSpPr>
          <p:cNvPr id="5" name="TextBox 4"/>
          <p:cNvSpPr txBox="1"/>
          <p:nvPr/>
        </p:nvSpPr>
        <p:spPr>
          <a:xfrm>
            <a:off x="2902857" y="928914"/>
            <a:ext cx="1509486" cy="369332"/>
          </a:xfrm>
          <a:prstGeom prst="rect">
            <a:avLst/>
          </a:prstGeom>
          <a:noFill/>
          <a:ln>
            <a:solidFill>
              <a:schemeClr val="tx1">
                <a:lumMod val="50000"/>
                <a:lumOff val="50000"/>
              </a:schemeClr>
            </a:solidFill>
          </a:ln>
        </p:spPr>
        <p:txBody>
          <a:bodyPr wrap="square" rtlCol="0">
            <a:spAutoFit/>
          </a:bodyPr>
          <a:lstStyle/>
          <a:p>
            <a:r>
              <a:rPr lang="en-US" b="1" dirty="0" smtClean="0"/>
              <a:t>employee</a:t>
            </a:r>
            <a:endParaRPr lang="en-US" b="1" dirty="0"/>
          </a:p>
        </p:txBody>
      </p:sp>
      <p:sp>
        <p:nvSpPr>
          <p:cNvPr id="6" name="TextBox 5"/>
          <p:cNvSpPr txBox="1"/>
          <p:nvPr/>
        </p:nvSpPr>
        <p:spPr>
          <a:xfrm>
            <a:off x="7835384" y="957373"/>
            <a:ext cx="1026948" cy="369332"/>
          </a:xfrm>
          <a:prstGeom prst="rect">
            <a:avLst/>
          </a:prstGeom>
          <a:noFill/>
          <a:ln>
            <a:solidFill>
              <a:schemeClr val="tx2">
                <a:lumMod val="60000"/>
                <a:lumOff val="40000"/>
              </a:schemeClr>
            </a:solidFill>
          </a:ln>
        </p:spPr>
        <p:txBody>
          <a:bodyPr wrap="none" rtlCol="0">
            <a:spAutoFit/>
          </a:bodyPr>
          <a:lstStyle/>
          <a:p>
            <a:r>
              <a:rPr lang="en-US" b="1" dirty="0" smtClean="0"/>
              <a:t>manager</a:t>
            </a:r>
            <a:endParaRPr lang="en-US" b="1" dirty="0"/>
          </a:p>
        </p:txBody>
      </p:sp>
      <p:pic>
        <p:nvPicPr>
          <p:cNvPr id="7" name="Picture 6"/>
          <p:cNvPicPr>
            <a:picLocks noChangeAspect="1"/>
          </p:cNvPicPr>
          <p:nvPr/>
        </p:nvPicPr>
        <p:blipFill>
          <a:blip r:embed="rId3"/>
          <a:stretch>
            <a:fillRect/>
          </a:stretch>
        </p:blipFill>
        <p:spPr>
          <a:xfrm>
            <a:off x="1944915" y="4680903"/>
            <a:ext cx="5602514" cy="2124200"/>
          </a:xfrm>
          <a:prstGeom prst="rect">
            <a:avLst/>
          </a:prstGeom>
        </p:spPr>
      </p:pic>
      <p:sp>
        <p:nvSpPr>
          <p:cNvPr id="8" name="TextBox 7"/>
          <p:cNvSpPr txBox="1"/>
          <p:nvPr/>
        </p:nvSpPr>
        <p:spPr>
          <a:xfrm>
            <a:off x="3846285" y="238981"/>
            <a:ext cx="4310743" cy="584775"/>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3200" dirty="0" smtClean="0">
                <a:solidFill>
                  <a:srgbClr val="FFFF00"/>
                </a:solidFill>
              </a:rPr>
              <a:t>Self join</a:t>
            </a:r>
            <a:endParaRPr lang="en-US" sz="3200" dirty="0">
              <a:solidFill>
                <a:srgbClr val="FFFF00"/>
              </a:solidFill>
            </a:endParaRPr>
          </a:p>
        </p:txBody>
      </p:sp>
      <p:sp>
        <p:nvSpPr>
          <p:cNvPr id="9" name="Rectangle 8"/>
          <p:cNvSpPr/>
          <p:nvPr/>
        </p:nvSpPr>
        <p:spPr>
          <a:xfrm>
            <a:off x="232229" y="2955625"/>
            <a:ext cx="11959771" cy="2246769"/>
          </a:xfrm>
          <a:prstGeom prst="rect">
            <a:avLst/>
          </a:prstGeom>
        </p:spPr>
        <p:txBody>
          <a:bodyPr wrap="square">
            <a:spAutoFit/>
          </a:bodyPr>
          <a:lstStyle/>
          <a:p>
            <a:endParaRPr lang="en-US" sz="2000" b="1" dirty="0">
              <a:latin typeface="Arial Narrow" panose="020B0606020202030204" pitchFamily="34" charset="0"/>
            </a:endParaRPr>
          </a:p>
          <a:p>
            <a:r>
              <a:rPr lang="en-US" sz="2000" dirty="0"/>
              <a:t>SELECT </a:t>
            </a:r>
            <a:r>
              <a:rPr lang="en-US" sz="2000" dirty="0" err="1"/>
              <a:t>employee.emp_id,employee.name,employee.Manager_id,manager.name</a:t>
            </a:r>
            <a:r>
              <a:rPr lang="en-US" sz="2000" dirty="0"/>
              <a:t> as </a:t>
            </a:r>
            <a:r>
              <a:rPr lang="en-US" sz="2000" dirty="0" err="1"/>
              <a:t>managername</a:t>
            </a:r>
            <a:endParaRPr lang="en-US" sz="2000" dirty="0"/>
          </a:p>
          <a:p>
            <a:r>
              <a:rPr lang="en-US" sz="2000" dirty="0"/>
              <a:t>FROM </a:t>
            </a:r>
            <a:r>
              <a:rPr lang="en-US" sz="2000" dirty="0" err="1" smtClean="0"/>
              <a:t>emp_tbl</a:t>
            </a:r>
            <a:r>
              <a:rPr lang="en-US" sz="2000" dirty="0"/>
              <a:t> </a:t>
            </a:r>
            <a:r>
              <a:rPr lang="en-US" sz="2000" dirty="0" smtClean="0"/>
              <a:t>employee</a:t>
            </a:r>
            <a:endParaRPr lang="en-US" sz="2000" dirty="0"/>
          </a:p>
          <a:p>
            <a:r>
              <a:rPr lang="en-US" sz="2000" dirty="0"/>
              <a:t>JOIN </a:t>
            </a:r>
            <a:r>
              <a:rPr lang="en-US" sz="2000" dirty="0" err="1"/>
              <a:t>emp_tbl</a:t>
            </a:r>
            <a:r>
              <a:rPr lang="en-US" sz="2000" dirty="0"/>
              <a:t> </a:t>
            </a:r>
            <a:r>
              <a:rPr lang="en-US" sz="2000" dirty="0" smtClean="0"/>
              <a:t>manager</a:t>
            </a:r>
            <a:endParaRPr lang="en-US" sz="2000" dirty="0"/>
          </a:p>
          <a:p>
            <a:r>
              <a:rPr lang="en-US" sz="2000" dirty="0"/>
              <a:t>ON </a:t>
            </a:r>
            <a:r>
              <a:rPr lang="en-US" sz="2000" dirty="0" err="1"/>
              <a:t>employee.manager_id</a:t>
            </a:r>
            <a:r>
              <a:rPr lang="en-US" sz="2000" dirty="0"/>
              <a:t> = </a:t>
            </a:r>
            <a:r>
              <a:rPr lang="en-US" sz="2000" dirty="0" err="1"/>
              <a:t>manager.emp_id</a:t>
            </a:r>
            <a:r>
              <a:rPr lang="en-US" sz="2000" dirty="0"/>
              <a:t> order by </a:t>
            </a:r>
            <a:r>
              <a:rPr lang="en-US" sz="2000" dirty="0" err="1"/>
              <a:t>emp_id</a:t>
            </a:r>
            <a:r>
              <a:rPr lang="en-US" sz="2000" dirty="0"/>
              <a:t>;</a:t>
            </a:r>
          </a:p>
          <a:p>
            <a:endParaRPr lang="en-US" sz="2000" b="1" dirty="0">
              <a:latin typeface="Arial Narrow" panose="020B0606020202030204" pitchFamily="34" charset="0"/>
            </a:endParaRPr>
          </a:p>
          <a:p>
            <a:endParaRPr lang="en-US" sz="2000" b="1" dirty="0">
              <a:latin typeface="Arial Narrow" panose="020B0606020202030204" pitchFamily="34" charset="0"/>
            </a:endParaRPr>
          </a:p>
        </p:txBody>
      </p:sp>
    </p:spTree>
    <p:extLst>
      <p:ext uri="{BB962C8B-B14F-4D97-AF65-F5344CB8AC3E}">
        <p14:creationId xmlns:p14="http://schemas.microsoft.com/office/powerpoint/2010/main" val="328599333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employees whose salary is greater than their managers salary.[self join]</a:t>
            </a:r>
          </a:p>
        </p:txBody>
      </p:sp>
      <p:sp>
        <p:nvSpPr>
          <p:cNvPr id="3" name="Content Placeholder 2"/>
          <p:cNvSpPr>
            <a:spLocks noGrp="1"/>
          </p:cNvSpPr>
          <p:nvPr>
            <p:ph idx="1"/>
          </p:nvPr>
        </p:nvSpPr>
        <p:spPr>
          <a:xfrm>
            <a:off x="838200" y="1825625"/>
            <a:ext cx="10515600" cy="2863941"/>
          </a:xfrm>
        </p:spPr>
        <p:txBody>
          <a:bodyPr/>
          <a:lstStyle/>
          <a:p>
            <a:pPr marL="0" indent="0">
              <a:buNone/>
            </a:pPr>
            <a:r>
              <a:rPr lang="en-US" dirty="0" smtClean="0"/>
              <a:t>;</a:t>
            </a: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64</a:t>
            </a:fld>
            <a:endParaRPr lang="en-US"/>
          </a:p>
        </p:txBody>
      </p:sp>
      <p:pic>
        <p:nvPicPr>
          <p:cNvPr id="6" name="Picture 5"/>
          <p:cNvPicPr>
            <a:picLocks noChangeAspect="1"/>
          </p:cNvPicPr>
          <p:nvPr/>
        </p:nvPicPr>
        <p:blipFill>
          <a:blip r:embed="rId2"/>
          <a:stretch>
            <a:fillRect/>
          </a:stretch>
        </p:blipFill>
        <p:spPr>
          <a:xfrm>
            <a:off x="979714" y="1825626"/>
            <a:ext cx="8412480" cy="3350668"/>
          </a:xfrm>
          <a:prstGeom prst="rect">
            <a:avLst/>
          </a:prstGeom>
        </p:spPr>
      </p:pic>
      <p:pic>
        <p:nvPicPr>
          <p:cNvPr id="7" name="Picture 6"/>
          <p:cNvPicPr>
            <a:picLocks noChangeAspect="1"/>
          </p:cNvPicPr>
          <p:nvPr/>
        </p:nvPicPr>
        <p:blipFill>
          <a:blip r:embed="rId3"/>
          <a:stretch>
            <a:fillRect/>
          </a:stretch>
        </p:blipFill>
        <p:spPr>
          <a:xfrm>
            <a:off x="979714" y="5206500"/>
            <a:ext cx="7434943" cy="1332412"/>
          </a:xfrm>
          <a:prstGeom prst="rect">
            <a:avLst/>
          </a:prstGeom>
        </p:spPr>
      </p:pic>
    </p:spTree>
    <p:extLst>
      <p:ext uri="{BB962C8B-B14F-4D97-AF65-F5344CB8AC3E}">
        <p14:creationId xmlns:p14="http://schemas.microsoft.com/office/powerpoint/2010/main" val="24643655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65</a:t>
            </a:fld>
            <a:endParaRPr lang="en-US"/>
          </a:p>
        </p:txBody>
      </p:sp>
      <p:pic>
        <p:nvPicPr>
          <p:cNvPr id="3" name="Picture 2"/>
          <p:cNvPicPr>
            <a:picLocks noChangeAspect="1"/>
          </p:cNvPicPr>
          <p:nvPr/>
        </p:nvPicPr>
        <p:blipFill>
          <a:blip r:embed="rId2"/>
          <a:stretch>
            <a:fillRect/>
          </a:stretch>
        </p:blipFill>
        <p:spPr>
          <a:xfrm>
            <a:off x="834572" y="417740"/>
            <a:ext cx="5058229" cy="3350668"/>
          </a:xfrm>
          <a:prstGeom prst="rect">
            <a:avLst/>
          </a:prstGeom>
        </p:spPr>
      </p:pic>
      <p:pic>
        <p:nvPicPr>
          <p:cNvPr id="4" name="Picture 3"/>
          <p:cNvPicPr>
            <a:picLocks noChangeAspect="1"/>
          </p:cNvPicPr>
          <p:nvPr/>
        </p:nvPicPr>
        <p:blipFill>
          <a:blip r:embed="rId2"/>
          <a:stretch>
            <a:fillRect/>
          </a:stretch>
        </p:blipFill>
        <p:spPr>
          <a:xfrm>
            <a:off x="6694713" y="417740"/>
            <a:ext cx="4659087" cy="3350668"/>
          </a:xfrm>
          <a:prstGeom prst="rect">
            <a:avLst/>
          </a:prstGeom>
        </p:spPr>
      </p:pic>
      <p:sp>
        <p:nvSpPr>
          <p:cNvPr id="5" name="TextBox 4"/>
          <p:cNvSpPr txBox="1"/>
          <p:nvPr/>
        </p:nvSpPr>
        <p:spPr>
          <a:xfrm>
            <a:off x="1831703" y="169863"/>
            <a:ext cx="1669143" cy="369332"/>
          </a:xfrm>
          <a:prstGeom prst="rect">
            <a:avLst/>
          </a:prstGeom>
          <a:noFill/>
        </p:spPr>
        <p:txBody>
          <a:bodyPr wrap="square" rtlCol="0">
            <a:spAutoFit/>
          </a:bodyPr>
          <a:lstStyle/>
          <a:p>
            <a:r>
              <a:rPr lang="en-US" dirty="0" err="1" smtClean="0"/>
              <a:t>emp</a:t>
            </a:r>
            <a:endParaRPr lang="en-US" dirty="0"/>
          </a:p>
        </p:txBody>
      </p:sp>
      <p:sp>
        <p:nvSpPr>
          <p:cNvPr id="6" name="TextBox 5"/>
          <p:cNvSpPr txBox="1"/>
          <p:nvPr/>
        </p:nvSpPr>
        <p:spPr>
          <a:xfrm>
            <a:off x="7344229" y="220663"/>
            <a:ext cx="2133600" cy="369332"/>
          </a:xfrm>
          <a:prstGeom prst="rect">
            <a:avLst/>
          </a:prstGeom>
          <a:noFill/>
        </p:spPr>
        <p:txBody>
          <a:bodyPr wrap="square" rtlCol="0">
            <a:spAutoFit/>
          </a:bodyPr>
          <a:lstStyle/>
          <a:p>
            <a:r>
              <a:rPr lang="en-US" dirty="0" smtClean="0"/>
              <a:t>manager</a:t>
            </a:r>
            <a:endParaRPr lang="en-US" dirty="0"/>
          </a:p>
        </p:txBody>
      </p:sp>
      <p:pic>
        <p:nvPicPr>
          <p:cNvPr id="7" name="Picture 6"/>
          <p:cNvPicPr>
            <a:picLocks noChangeAspect="1"/>
          </p:cNvPicPr>
          <p:nvPr/>
        </p:nvPicPr>
        <p:blipFill>
          <a:blip r:embed="rId3"/>
          <a:stretch>
            <a:fillRect/>
          </a:stretch>
        </p:blipFill>
        <p:spPr>
          <a:xfrm>
            <a:off x="2364014" y="5206500"/>
            <a:ext cx="7434943" cy="1332412"/>
          </a:xfrm>
          <a:prstGeom prst="rect">
            <a:avLst/>
          </a:prstGeom>
        </p:spPr>
      </p:pic>
      <p:sp>
        <p:nvSpPr>
          <p:cNvPr id="8" name="Rectangle 7"/>
          <p:cNvSpPr/>
          <p:nvPr/>
        </p:nvSpPr>
        <p:spPr>
          <a:xfrm>
            <a:off x="1117600" y="3768408"/>
            <a:ext cx="9332686" cy="1200329"/>
          </a:xfrm>
          <a:prstGeom prst="rect">
            <a:avLst/>
          </a:prstGeom>
        </p:spPr>
        <p:txBody>
          <a:bodyPr wrap="square">
            <a:spAutoFit/>
          </a:bodyPr>
          <a:lstStyle/>
          <a:p>
            <a:r>
              <a:rPr lang="en-US" dirty="0"/>
              <a:t>select emp.emp_id,emp.name,emp.salary,emp.manager_id,manager.name,manager.salary from </a:t>
            </a:r>
            <a:r>
              <a:rPr lang="en-US" dirty="0" err="1"/>
              <a:t>emp_tbl</a:t>
            </a:r>
            <a:r>
              <a:rPr lang="en-US" dirty="0"/>
              <a:t>  </a:t>
            </a:r>
            <a:r>
              <a:rPr lang="en-US" dirty="0" err="1"/>
              <a:t>emp</a:t>
            </a:r>
            <a:r>
              <a:rPr lang="en-US" dirty="0"/>
              <a:t> inner join </a:t>
            </a:r>
            <a:r>
              <a:rPr lang="en-US" dirty="0" err="1"/>
              <a:t>emp_tbl</a:t>
            </a:r>
            <a:r>
              <a:rPr lang="en-US" dirty="0"/>
              <a:t>  manager</a:t>
            </a:r>
          </a:p>
          <a:p>
            <a:r>
              <a:rPr lang="en-US" dirty="0"/>
              <a:t>on </a:t>
            </a:r>
            <a:r>
              <a:rPr lang="en-US" dirty="0" err="1"/>
              <a:t>emp.manager_id</a:t>
            </a:r>
            <a:r>
              <a:rPr lang="en-US" dirty="0"/>
              <a:t> = </a:t>
            </a:r>
            <a:r>
              <a:rPr lang="en-US" dirty="0" err="1"/>
              <a:t>manager.emp_id</a:t>
            </a:r>
            <a:r>
              <a:rPr lang="en-US" dirty="0"/>
              <a:t> </a:t>
            </a:r>
          </a:p>
          <a:p>
            <a:r>
              <a:rPr lang="en-US" dirty="0"/>
              <a:t>where </a:t>
            </a:r>
            <a:r>
              <a:rPr lang="en-US" dirty="0" err="1"/>
              <a:t>emp.salary</a:t>
            </a:r>
            <a:r>
              <a:rPr lang="en-US" dirty="0"/>
              <a:t> &gt;</a:t>
            </a:r>
            <a:r>
              <a:rPr lang="en-US" dirty="0" err="1"/>
              <a:t>manager.salary</a:t>
            </a:r>
            <a:r>
              <a:rPr lang="en-US" dirty="0"/>
              <a:t>;</a:t>
            </a:r>
          </a:p>
        </p:txBody>
      </p:sp>
    </p:spTree>
    <p:extLst>
      <p:ext uri="{BB962C8B-B14F-4D97-AF65-F5344CB8AC3E}">
        <p14:creationId xmlns:p14="http://schemas.microsoft.com/office/powerpoint/2010/main" val="1165306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employees whose salary is greater than their managers salary.[self join]</a:t>
            </a:r>
          </a:p>
        </p:txBody>
      </p:sp>
      <p:sp>
        <p:nvSpPr>
          <p:cNvPr id="3" name="Content Placeholder 2"/>
          <p:cNvSpPr>
            <a:spLocks noGrp="1"/>
          </p:cNvSpPr>
          <p:nvPr>
            <p:ph idx="1"/>
          </p:nvPr>
        </p:nvSpPr>
        <p:spPr>
          <a:xfrm>
            <a:off x="838200" y="1825625"/>
            <a:ext cx="10515600" cy="2863941"/>
          </a:xfrm>
        </p:spPr>
        <p:txBody>
          <a:bodyPr/>
          <a:lstStyle/>
          <a:p>
            <a:pPr marL="0" indent="0">
              <a:buNone/>
            </a:pPr>
            <a:r>
              <a:rPr lang="en-US" dirty="0"/>
              <a:t>select emp.emp_id,emp.name,emp.salary,emp.manager_id,manager.name,manager.salary from </a:t>
            </a:r>
            <a:r>
              <a:rPr lang="en-US" dirty="0" err="1"/>
              <a:t>emp_tbl</a:t>
            </a:r>
            <a:r>
              <a:rPr lang="en-US" dirty="0"/>
              <a:t>  </a:t>
            </a:r>
            <a:r>
              <a:rPr lang="en-US" dirty="0" err="1"/>
              <a:t>emp</a:t>
            </a:r>
            <a:r>
              <a:rPr lang="en-US" dirty="0"/>
              <a:t> inner join </a:t>
            </a:r>
            <a:r>
              <a:rPr lang="en-US" dirty="0" err="1"/>
              <a:t>emp_tbl</a:t>
            </a:r>
            <a:r>
              <a:rPr lang="en-US" dirty="0"/>
              <a:t>  manager</a:t>
            </a:r>
          </a:p>
          <a:p>
            <a:pPr marL="0" indent="0">
              <a:buNone/>
            </a:pPr>
            <a:r>
              <a:rPr lang="en-US" dirty="0"/>
              <a:t>on </a:t>
            </a:r>
            <a:r>
              <a:rPr lang="en-US" dirty="0" err="1"/>
              <a:t>emp.manager_id</a:t>
            </a:r>
            <a:r>
              <a:rPr lang="en-US" dirty="0"/>
              <a:t> = </a:t>
            </a:r>
            <a:r>
              <a:rPr lang="en-US" dirty="0" err="1"/>
              <a:t>manager.emp_id</a:t>
            </a:r>
            <a:r>
              <a:rPr lang="en-US" dirty="0"/>
              <a:t> </a:t>
            </a:r>
          </a:p>
          <a:p>
            <a:pPr marL="0" indent="0">
              <a:buNone/>
            </a:pPr>
            <a:r>
              <a:rPr lang="en-US" dirty="0"/>
              <a:t>where </a:t>
            </a:r>
            <a:r>
              <a:rPr lang="en-US" dirty="0" err="1"/>
              <a:t>emp.salary</a:t>
            </a:r>
            <a:r>
              <a:rPr lang="en-US" dirty="0"/>
              <a:t> &gt;</a:t>
            </a:r>
            <a:r>
              <a:rPr lang="en-US" dirty="0" err="1"/>
              <a:t>manager.salary</a:t>
            </a:r>
            <a:r>
              <a:rPr lang="en-US" dirty="0"/>
              <a:t>;</a:t>
            </a:r>
          </a:p>
        </p:txBody>
      </p:sp>
      <p:sp>
        <p:nvSpPr>
          <p:cNvPr id="4" name="Slide Number Placeholder 3"/>
          <p:cNvSpPr>
            <a:spLocks noGrp="1"/>
          </p:cNvSpPr>
          <p:nvPr>
            <p:ph type="sldNum" sz="quarter" idx="12"/>
          </p:nvPr>
        </p:nvSpPr>
        <p:spPr/>
        <p:txBody>
          <a:bodyPr/>
          <a:lstStyle/>
          <a:p>
            <a:fld id="{922AE8BD-B2ED-4107-811B-DAE9CC0E64B8}" type="slidenum">
              <a:rPr lang="en-US" smtClean="0"/>
              <a:t>66</a:t>
            </a:fld>
            <a:endParaRPr lang="en-US"/>
          </a:p>
        </p:txBody>
      </p:sp>
      <p:pic>
        <p:nvPicPr>
          <p:cNvPr id="5" name="Picture 4"/>
          <p:cNvPicPr>
            <a:picLocks noChangeAspect="1"/>
          </p:cNvPicPr>
          <p:nvPr/>
        </p:nvPicPr>
        <p:blipFill>
          <a:blip r:embed="rId2"/>
          <a:stretch>
            <a:fillRect/>
          </a:stretch>
        </p:blipFill>
        <p:spPr>
          <a:xfrm>
            <a:off x="1175656" y="4349932"/>
            <a:ext cx="7434943" cy="1332412"/>
          </a:xfrm>
          <a:prstGeom prst="rect">
            <a:avLst/>
          </a:prstGeom>
        </p:spPr>
      </p:pic>
    </p:spTree>
    <p:extLst>
      <p:ext uri="{BB962C8B-B14F-4D97-AF65-F5344CB8AC3E}">
        <p14:creationId xmlns:p14="http://schemas.microsoft.com/office/powerpoint/2010/main" val="11323536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67</a:t>
            </a:fld>
            <a:endParaRPr lang="en-US"/>
          </a:p>
        </p:txBody>
      </p:sp>
      <p:sp>
        <p:nvSpPr>
          <p:cNvPr id="3" name="Rectangle 2"/>
          <p:cNvSpPr/>
          <p:nvPr/>
        </p:nvSpPr>
        <p:spPr>
          <a:xfrm>
            <a:off x="1616262" y="2757951"/>
            <a:ext cx="9262664" cy="646331"/>
          </a:xfrm>
          <a:prstGeom prst="rect">
            <a:avLst/>
          </a:prstGeom>
        </p:spPr>
        <p:txBody>
          <a:bodyPr wrap="none">
            <a:spAutoFit/>
          </a:bodyPr>
          <a:lstStyle/>
          <a:p>
            <a:r>
              <a:rPr lang="en-US" sz="3600" b="1" dirty="0">
                <a:solidFill>
                  <a:srgbClr val="FF0000"/>
                </a:solidFill>
              </a:rPr>
              <a:t>Q2.Update salary by 10% for </a:t>
            </a:r>
            <a:r>
              <a:rPr lang="en-US" sz="3600" b="1" dirty="0" err="1">
                <a:solidFill>
                  <a:srgbClr val="FF0000"/>
                </a:solidFill>
              </a:rPr>
              <a:t>employee_id</a:t>
            </a:r>
            <a:r>
              <a:rPr lang="en-US" sz="3600" b="1" dirty="0">
                <a:solidFill>
                  <a:srgbClr val="FF0000"/>
                </a:solidFill>
              </a:rPr>
              <a:t> =100</a:t>
            </a:r>
          </a:p>
        </p:txBody>
      </p:sp>
    </p:spTree>
    <p:extLst>
      <p:ext uri="{BB962C8B-B14F-4D97-AF65-F5344CB8AC3E}">
        <p14:creationId xmlns:p14="http://schemas.microsoft.com/office/powerpoint/2010/main" val="1782538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68</a:t>
            </a:fld>
            <a:endParaRPr lang="en-US"/>
          </a:p>
        </p:txBody>
      </p:sp>
      <p:sp>
        <p:nvSpPr>
          <p:cNvPr id="3" name="TextBox 2"/>
          <p:cNvSpPr txBox="1"/>
          <p:nvPr/>
        </p:nvSpPr>
        <p:spPr>
          <a:xfrm>
            <a:off x="836023" y="1541417"/>
            <a:ext cx="10906034" cy="954107"/>
          </a:xfrm>
          <a:prstGeom prst="rect">
            <a:avLst/>
          </a:prstGeom>
          <a:noFill/>
        </p:spPr>
        <p:txBody>
          <a:bodyPr wrap="square" rtlCol="0">
            <a:spAutoFit/>
          </a:bodyPr>
          <a:lstStyle/>
          <a:p>
            <a:r>
              <a:rPr lang="en-US" sz="2800" dirty="0"/>
              <a:t>update </a:t>
            </a:r>
            <a:r>
              <a:rPr lang="en-US" sz="2800" dirty="0" smtClean="0"/>
              <a:t>employees </a:t>
            </a:r>
            <a:r>
              <a:rPr lang="en-US" sz="2800" dirty="0"/>
              <a:t>set salary = salary*1.1 where </a:t>
            </a:r>
            <a:r>
              <a:rPr lang="en-US" sz="2800" dirty="0" err="1"/>
              <a:t>employee_id</a:t>
            </a:r>
            <a:r>
              <a:rPr lang="en-US" sz="2800" dirty="0"/>
              <a:t> = 100;</a:t>
            </a:r>
          </a:p>
          <a:p>
            <a:r>
              <a:rPr lang="en-US" sz="2800"/>
              <a:t>update </a:t>
            </a:r>
            <a:r>
              <a:rPr lang="en-US" sz="2800" smtClean="0"/>
              <a:t>employees </a:t>
            </a:r>
            <a:r>
              <a:rPr lang="en-US" sz="2800" dirty="0"/>
              <a:t>set salary = salary * 1.1;</a:t>
            </a:r>
          </a:p>
        </p:txBody>
      </p:sp>
    </p:spTree>
    <p:extLst>
      <p:ext uri="{BB962C8B-B14F-4D97-AF65-F5344CB8AC3E}">
        <p14:creationId xmlns:p14="http://schemas.microsoft.com/office/powerpoint/2010/main" val="6277555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9640" y="480151"/>
            <a:ext cx="10515600" cy="4351338"/>
          </a:xfrm>
        </p:spPr>
        <p:txBody>
          <a:bodyPr>
            <a:normAutofit fontScale="92500" lnSpcReduction="20000"/>
          </a:bodyPr>
          <a:lstStyle/>
          <a:p>
            <a:pPr marL="0" indent="0">
              <a:buNone/>
            </a:pPr>
            <a:r>
              <a:rPr lang="en-US" dirty="0" smtClean="0"/>
              <a:t>Q.1 Consider the following database</a:t>
            </a:r>
          </a:p>
          <a:p>
            <a:pPr marL="0" indent="0">
              <a:buNone/>
            </a:pPr>
            <a:r>
              <a:rPr lang="en-US" dirty="0" smtClean="0"/>
              <a:t>Student(</a:t>
            </a:r>
            <a:r>
              <a:rPr lang="en-US" dirty="0" err="1" smtClean="0"/>
              <a:t>sid,name,age</a:t>
            </a:r>
            <a:r>
              <a:rPr lang="en-US" dirty="0" smtClean="0"/>
              <a:t>)</a:t>
            </a:r>
          </a:p>
          <a:p>
            <a:pPr marL="0" indent="0">
              <a:buNone/>
            </a:pPr>
            <a:r>
              <a:rPr lang="en-US" dirty="0" smtClean="0"/>
              <a:t>Has(</a:t>
            </a:r>
            <a:r>
              <a:rPr lang="en-US" dirty="0" err="1" smtClean="0"/>
              <a:t>sid,cid</a:t>
            </a:r>
            <a:r>
              <a:rPr lang="en-US" dirty="0" smtClean="0"/>
              <a:t>)</a:t>
            </a:r>
          </a:p>
          <a:p>
            <a:pPr marL="0" indent="0">
              <a:buNone/>
            </a:pPr>
            <a:r>
              <a:rPr lang="en-US" dirty="0" smtClean="0"/>
              <a:t>College(</a:t>
            </a:r>
            <a:r>
              <a:rPr lang="en-US" dirty="0" err="1" smtClean="0"/>
              <a:t>cid,cname</a:t>
            </a:r>
            <a:r>
              <a:rPr lang="en-US" dirty="0" smtClean="0"/>
              <a:t>)</a:t>
            </a:r>
          </a:p>
          <a:p>
            <a:pPr marL="0" indent="0">
              <a:buNone/>
            </a:pPr>
            <a:r>
              <a:rPr lang="en-US" dirty="0" smtClean="0"/>
              <a:t>Write </a:t>
            </a:r>
            <a:r>
              <a:rPr lang="en-US" dirty="0" err="1" smtClean="0"/>
              <a:t>sql</a:t>
            </a:r>
            <a:r>
              <a:rPr lang="en-US" dirty="0" smtClean="0"/>
              <a:t> queries to perform the following</a:t>
            </a:r>
          </a:p>
          <a:p>
            <a:pPr marL="0" indent="0">
              <a:buNone/>
            </a:pPr>
            <a:r>
              <a:rPr lang="en-US" dirty="0" err="1" smtClean="0"/>
              <a:t>i</a:t>
            </a:r>
            <a:r>
              <a:rPr lang="en-US" dirty="0" smtClean="0"/>
              <a:t>)Find average age of student</a:t>
            </a:r>
          </a:p>
          <a:p>
            <a:pPr marL="0" indent="0">
              <a:buNone/>
            </a:pPr>
            <a:r>
              <a:rPr lang="en-US" dirty="0" smtClean="0"/>
              <a:t>ii)Display name of student who studies in </a:t>
            </a:r>
            <a:r>
              <a:rPr lang="en-US" dirty="0" err="1" smtClean="0"/>
              <a:t>dav</a:t>
            </a:r>
            <a:r>
              <a:rPr lang="en-US" dirty="0" smtClean="0"/>
              <a:t> college</a:t>
            </a:r>
          </a:p>
          <a:p>
            <a:pPr marL="0" indent="0">
              <a:buNone/>
            </a:pPr>
            <a:r>
              <a:rPr lang="en-US" dirty="0" smtClean="0"/>
              <a:t>iii)Insert a new student</a:t>
            </a:r>
          </a:p>
          <a:p>
            <a:pPr marL="0" indent="0">
              <a:buNone/>
            </a:pPr>
            <a:r>
              <a:rPr lang="en-US" dirty="0" smtClean="0"/>
              <a:t>iv)Display name of students whose name begin from ‘s’.</a:t>
            </a:r>
          </a:p>
          <a:p>
            <a:pPr marL="0" indent="0">
              <a:buNone/>
            </a:pPr>
            <a:r>
              <a:rPr lang="en-US" dirty="0" smtClean="0"/>
              <a:t>v)Delete record of ‘</a:t>
            </a:r>
            <a:r>
              <a:rPr lang="en-US" dirty="0" err="1" smtClean="0"/>
              <a:t>nast</a:t>
            </a:r>
            <a:r>
              <a:rPr lang="en-US" dirty="0" smtClean="0"/>
              <a:t>’ college from college relation.</a:t>
            </a:r>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69</a:t>
            </a:fld>
            <a:endParaRPr lang="en-US"/>
          </a:p>
        </p:txBody>
      </p:sp>
    </p:spTree>
    <p:extLst>
      <p:ext uri="{BB962C8B-B14F-4D97-AF65-F5344CB8AC3E}">
        <p14:creationId xmlns:p14="http://schemas.microsoft.com/office/powerpoint/2010/main" val="10163810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70</a:t>
            </a:fld>
            <a:endParaRPr lang="en-US"/>
          </a:p>
        </p:txBody>
      </p:sp>
      <p:sp>
        <p:nvSpPr>
          <p:cNvPr id="4" name="TextBox 3"/>
          <p:cNvSpPr txBox="1"/>
          <p:nvPr/>
        </p:nvSpPr>
        <p:spPr>
          <a:xfrm>
            <a:off x="561703" y="2751157"/>
            <a:ext cx="10293531" cy="3970318"/>
          </a:xfrm>
          <a:prstGeom prst="rect">
            <a:avLst/>
          </a:prstGeom>
          <a:solidFill>
            <a:srgbClr val="99FF99"/>
          </a:solidFill>
        </p:spPr>
        <p:txBody>
          <a:bodyPr wrap="square" rtlCol="0">
            <a:spAutoFit/>
          </a:bodyPr>
          <a:lstStyle/>
          <a:p>
            <a:r>
              <a:rPr lang="en-US" dirty="0" err="1" smtClean="0"/>
              <a:t>i.Select</a:t>
            </a:r>
            <a:r>
              <a:rPr lang="en-US" dirty="0" smtClean="0"/>
              <a:t> </a:t>
            </a:r>
            <a:r>
              <a:rPr lang="en-US" dirty="0" err="1" smtClean="0"/>
              <a:t>avg</a:t>
            </a:r>
            <a:r>
              <a:rPr lang="en-US" dirty="0" smtClean="0"/>
              <a:t>(age) as </a:t>
            </a:r>
            <a:r>
              <a:rPr lang="en-US" dirty="0" err="1" smtClean="0"/>
              <a:t>average_age</a:t>
            </a:r>
            <a:r>
              <a:rPr lang="en-US" dirty="0" smtClean="0"/>
              <a:t> from student; </a:t>
            </a:r>
          </a:p>
          <a:p>
            <a:r>
              <a:rPr lang="en-US" dirty="0"/>
              <a:t> </a:t>
            </a:r>
            <a:r>
              <a:rPr lang="en-US" dirty="0" smtClean="0"/>
              <a:t>     </a:t>
            </a:r>
            <a:r>
              <a:rPr lang="en-US" dirty="0" err="1" smtClean="0"/>
              <a:t>F</a:t>
            </a:r>
            <a:r>
              <a:rPr lang="en-US" sz="1600" dirty="0" err="1" smtClean="0"/>
              <a:t>avg</a:t>
            </a:r>
            <a:r>
              <a:rPr lang="en-US" dirty="0" smtClean="0"/>
              <a:t>(salary)(student)</a:t>
            </a:r>
          </a:p>
          <a:p>
            <a:endParaRPr lang="en-US" dirty="0" smtClean="0"/>
          </a:p>
          <a:p>
            <a:r>
              <a:rPr lang="en-US" dirty="0" smtClean="0"/>
              <a:t>ii. </a:t>
            </a:r>
            <a:r>
              <a:rPr lang="en-US" dirty="0"/>
              <a:t>select </a:t>
            </a:r>
            <a:r>
              <a:rPr lang="en-US" dirty="0" err="1"/>
              <a:t>student.sid,student.name,college.cname</a:t>
            </a:r>
            <a:r>
              <a:rPr lang="en-US" dirty="0"/>
              <a:t> from student</a:t>
            </a:r>
          </a:p>
          <a:p>
            <a:r>
              <a:rPr lang="en-US" dirty="0"/>
              <a:t>inner join has on </a:t>
            </a:r>
            <a:r>
              <a:rPr lang="en-US" dirty="0" err="1"/>
              <a:t>student.sid</a:t>
            </a:r>
            <a:r>
              <a:rPr lang="en-US" dirty="0"/>
              <a:t> = </a:t>
            </a:r>
            <a:r>
              <a:rPr lang="en-US" dirty="0" err="1"/>
              <a:t>has.sid</a:t>
            </a:r>
            <a:endParaRPr lang="en-US" dirty="0"/>
          </a:p>
          <a:p>
            <a:r>
              <a:rPr lang="en-US" dirty="0"/>
              <a:t>inner join college on </a:t>
            </a:r>
            <a:r>
              <a:rPr lang="en-US" dirty="0" err="1"/>
              <a:t>has.cid</a:t>
            </a:r>
            <a:r>
              <a:rPr lang="en-US" dirty="0"/>
              <a:t> = </a:t>
            </a:r>
            <a:r>
              <a:rPr lang="en-US" dirty="0" err="1"/>
              <a:t>college.cid</a:t>
            </a:r>
            <a:r>
              <a:rPr lang="en-US" dirty="0"/>
              <a:t> where </a:t>
            </a:r>
            <a:r>
              <a:rPr lang="en-US" dirty="0" err="1"/>
              <a:t>cname</a:t>
            </a:r>
            <a:r>
              <a:rPr lang="en-US" dirty="0"/>
              <a:t>= '</a:t>
            </a:r>
            <a:r>
              <a:rPr lang="en-US" dirty="0" err="1"/>
              <a:t>dav</a:t>
            </a:r>
            <a:r>
              <a:rPr lang="en-US" dirty="0" smtClean="0"/>
              <a:t>';</a:t>
            </a:r>
          </a:p>
          <a:p>
            <a:endParaRPr lang="en-US" dirty="0"/>
          </a:p>
          <a:p>
            <a:endParaRPr lang="en-US" dirty="0" smtClean="0"/>
          </a:p>
          <a:p>
            <a:endParaRPr lang="en-US" dirty="0"/>
          </a:p>
          <a:p>
            <a:r>
              <a:rPr lang="en-US" dirty="0" err="1" smtClean="0"/>
              <a:t>iii.Insert</a:t>
            </a:r>
            <a:r>
              <a:rPr lang="en-US" dirty="0" smtClean="0"/>
              <a:t> </a:t>
            </a:r>
            <a:r>
              <a:rPr lang="en-US" dirty="0"/>
              <a:t>into student (</a:t>
            </a:r>
            <a:r>
              <a:rPr lang="en-US" dirty="0" err="1"/>
              <a:t>sid,name,age</a:t>
            </a:r>
            <a:r>
              <a:rPr lang="en-US" dirty="0"/>
              <a:t>) values(2,’ram’,16</a:t>
            </a:r>
            <a:r>
              <a:rPr lang="en-US" dirty="0" smtClean="0"/>
              <a:t>);</a:t>
            </a:r>
          </a:p>
          <a:p>
            <a:endParaRPr lang="en-US" dirty="0" smtClean="0"/>
          </a:p>
          <a:p>
            <a:r>
              <a:rPr lang="en-US" dirty="0" err="1" smtClean="0"/>
              <a:t>iv.Select</a:t>
            </a:r>
            <a:r>
              <a:rPr lang="en-US" dirty="0" smtClean="0"/>
              <a:t> name  from student where  name like ‘s%’;</a:t>
            </a:r>
          </a:p>
          <a:p>
            <a:endParaRPr lang="en-US" dirty="0" smtClean="0"/>
          </a:p>
          <a:p>
            <a:r>
              <a:rPr lang="en-US" dirty="0" err="1" smtClean="0"/>
              <a:t>v.Delete</a:t>
            </a:r>
            <a:r>
              <a:rPr lang="en-US" dirty="0" smtClean="0"/>
              <a:t> from college where </a:t>
            </a:r>
            <a:r>
              <a:rPr lang="en-US" dirty="0" err="1" smtClean="0"/>
              <a:t>cname</a:t>
            </a:r>
            <a:r>
              <a:rPr lang="en-US" dirty="0" smtClean="0"/>
              <a:t> =‘</a:t>
            </a:r>
            <a:r>
              <a:rPr lang="en-US" dirty="0" err="1" smtClean="0"/>
              <a:t>nast</a:t>
            </a:r>
            <a:r>
              <a:rPr lang="en-US" dirty="0" smtClean="0"/>
              <a:t>’;</a:t>
            </a:r>
            <a:endParaRPr lang="en-US" dirty="0"/>
          </a:p>
        </p:txBody>
      </p:sp>
      <p:sp>
        <p:nvSpPr>
          <p:cNvPr id="5" name="TextBox 4"/>
          <p:cNvSpPr txBox="1"/>
          <p:nvPr/>
        </p:nvSpPr>
        <p:spPr>
          <a:xfrm>
            <a:off x="561703" y="0"/>
            <a:ext cx="7236823" cy="3139321"/>
          </a:xfrm>
          <a:prstGeom prst="rect">
            <a:avLst/>
          </a:prstGeom>
          <a:noFill/>
        </p:spPr>
        <p:txBody>
          <a:bodyPr wrap="square" rtlCol="0">
            <a:spAutoFit/>
          </a:bodyPr>
          <a:lstStyle/>
          <a:p>
            <a:r>
              <a:rPr lang="en-US" dirty="0"/>
              <a:t>Student(</a:t>
            </a:r>
            <a:r>
              <a:rPr lang="en-US" dirty="0" err="1"/>
              <a:t>sid,name,age</a:t>
            </a:r>
            <a:r>
              <a:rPr lang="en-US" dirty="0"/>
              <a:t>)</a:t>
            </a:r>
          </a:p>
          <a:p>
            <a:r>
              <a:rPr lang="en-US" dirty="0"/>
              <a:t>Has(</a:t>
            </a:r>
            <a:r>
              <a:rPr lang="en-US" dirty="0" err="1"/>
              <a:t>sid,cid</a:t>
            </a:r>
            <a:r>
              <a:rPr lang="en-US" dirty="0"/>
              <a:t>)</a:t>
            </a:r>
          </a:p>
          <a:p>
            <a:r>
              <a:rPr lang="en-US" dirty="0"/>
              <a:t>College(</a:t>
            </a:r>
            <a:r>
              <a:rPr lang="en-US" dirty="0" err="1"/>
              <a:t>cid,cname</a:t>
            </a:r>
            <a:r>
              <a:rPr lang="en-US" dirty="0" smtClean="0"/>
              <a:t>)</a:t>
            </a:r>
          </a:p>
          <a:p>
            <a:r>
              <a:rPr lang="en-US" dirty="0"/>
              <a:t>Write </a:t>
            </a:r>
            <a:r>
              <a:rPr lang="en-US" dirty="0" err="1"/>
              <a:t>sql</a:t>
            </a:r>
            <a:r>
              <a:rPr lang="en-US" dirty="0"/>
              <a:t> queries to perform the following</a:t>
            </a:r>
          </a:p>
          <a:p>
            <a:r>
              <a:rPr lang="en-US" dirty="0" err="1"/>
              <a:t>i</a:t>
            </a:r>
            <a:r>
              <a:rPr lang="en-US" dirty="0"/>
              <a:t>)Find average age of student</a:t>
            </a:r>
          </a:p>
          <a:p>
            <a:r>
              <a:rPr lang="en-US" dirty="0"/>
              <a:t>ii)Display name of student who studies in </a:t>
            </a:r>
            <a:r>
              <a:rPr lang="en-US" dirty="0" err="1"/>
              <a:t>dav</a:t>
            </a:r>
            <a:r>
              <a:rPr lang="en-US" dirty="0"/>
              <a:t> college</a:t>
            </a:r>
          </a:p>
          <a:p>
            <a:r>
              <a:rPr lang="en-US" dirty="0"/>
              <a:t>iii)Insert a new student</a:t>
            </a:r>
          </a:p>
          <a:p>
            <a:r>
              <a:rPr lang="en-US" dirty="0"/>
              <a:t>iv)Display name of students whose name begin from ‘s’.</a:t>
            </a:r>
          </a:p>
          <a:p>
            <a:r>
              <a:rPr lang="en-US" dirty="0"/>
              <a:t>v)Delete record of ‘</a:t>
            </a:r>
            <a:r>
              <a:rPr lang="en-US" dirty="0" err="1"/>
              <a:t>nast</a:t>
            </a:r>
            <a:r>
              <a:rPr lang="en-US" dirty="0"/>
              <a:t>’ college from college relation.</a:t>
            </a:r>
          </a:p>
          <a:p>
            <a:endParaRPr lang="en-US" dirty="0"/>
          </a:p>
          <a:p>
            <a:endParaRPr lang="en-US" dirty="0"/>
          </a:p>
        </p:txBody>
      </p:sp>
    </p:spTree>
    <p:extLst>
      <p:ext uri="{BB962C8B-B14F-4D97-AF65-F5344CB8AC3E}">
        <p14:creationId xmlns:p14="http://schemas.microsoft.com/office/powerpoint/2010/main" val="20547658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71</a:t>
            </a:fld>
            <a:endParaRPr lang="en-US"/>
          </a:p>
        </p:txBody>
      </p:sp>
      <p:pic>
        <p:nvPicPr>
          <p:cNvPr id="3" name="Picture 2"/>
          <p:cNvPicPr>
            <a:picLocks noChangeAspect="1"/>
          </p:cNvPicPr>
          <p:nvPr/>
        </p:nvPicPr>
        <p:blipFill>
          <a:blip r:embed="rId2"/>
          <a:stretch>
            <a:fillRect/>
          </a:stretch>
        </p:blipFill>
        <p:spPr>
          <a:xfrm>
            <a:off x="757646" y="1267097"/>
            <a:ext cx="3022147" cy="2371453"/>
          </a:xfrm>
          <a:prstGeom prst="rect">
            <a:avLst/>
          </a:prstGeom>
        </p:spPr>
      </p:pic>
      <p:pic>
        <p:nvPicPr>
          <p:cNvPr id="4" name="Picture 3"/>
          <p:cNvPicPr>
            <a:picLocks noChangeAspect="1"/>
          </p:cNvPicPr>
          <p:nvPr/>
        </p:nvPicPr>
        <p:blipFill>
          <a:blip r:embed="rId3"/>
          <a:stretch>
            <a:fillRect/>
          </a:stretch>
        </p:blipFill>
        <p:spPr>
          <a:xfrm>
            <a:off x="4284617" y="1410788"/>
            <a:ext cx="2351314" cy="1649730"/>
          </a:xfrm>
          <a:prstGeom prst="rect">
            <a:avLst/>
          </a:prstGeom>
        </p:spPr>
      </p:pic>
      <p:pic>
        <p:nvPicPr>
          <p:cNvPr id="5" name="Picture 4"/>
          <p:cNvPicPr>
            <a:picLocks noChangeAspect="1"/>
          </p:cNvPicPr>
          <p:nvPr/>
        </p:nvPicPr>
        <p:blipFill>
          <a:blip r:embed="rId4"/>
          <a:stretch>
            <a:fillRect/>
          </a:stretch>
        </p:blipFill>
        <p:spPr>
          <a:xfrm>
            <a:off x="7140755" y="1410788"/>
            <a:ext cx="3531598" cy="1354863"/>
          </a:xfrm>
          <a:prstGeom prst="rect">
            <a:avLst/>
          </a:prstGeom>
        </p:spPr>
      </p:pic>
      <p:cxnSp>
        <p:nvCxnSpPr>
          <p:cNvPr id="14" name="Straight Connector 13"/>
          <p:cNvCxnSpPr/>
          <p:nvPr/>
        </p:nvCxnSpPr>
        <p:spPr>
          <a:xfrm>
            <a:off x="1371600" y="574766"/>
            <a:ext cx="13063" cy="8360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689566" y="574766"/>
            <a:ext cx="0" cy="953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087291" y="587829"/>
            <a:ext cx="13063" cy="836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087291" y="587829"/>
            <a:ext cx="175463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841930" y="574766"/>
            <a:ext cx="0" cy="953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1371600" y="574766"/>
            <a:ext cx="3317966" cy="13063"/>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593669" y="3827417"/>
            <a:ext cx="8388531" cy="940526"/>
          </a:xfrm>
          <a:prstGeom prst="rect">
            <a:avLst/>
          </a:prstGeom>
          <a:noFill/>
        </p:spPr>
        <p:txBody>
          <a:bodyPr wrap="square" rtlCol="0">
            <a:spAutoFit/>
          </a:bodyPr>
          <a:lstStyle/>
          <a:p>
            <a:r>
              <a:rPr lang="en-US" dirty="0"/>
              <a:t>select </a:t>
            </a:r>
            <a:r>
              <a:rPr lang="en-US" dirty="0" err="1"/>
              <a:t>student.sid,student.name,college.cname</a:t>
            </a:r>
            <a:r>
              <a:rPr lang="en-US" dirty="0"/>
              <a:t> from student </a:t>
            </a:r>
          </a:p>
          <a:p>
            <a:r>
              <a:rPr lang="en-US" dirty="0"/>
              <a:t>inner join has on </a:t>
            </a:r>
            <a:r>
              <a:rPr lang="en-US" dirty="0" err="1"/>
              <a:t>student.sid</a:t>
            </a:r>
            <a:r>
              <a:rPr lang="en-US" dirty="0"/>
              <a:t> = </a:t>
            </a:r>
            <a:r>
              <a:rPr lang="en-US" dirty="0" err="1"/>
              <a:t>has.sid</a:t>
            </a:r>
            <a:r>
              <a:rPr lang="en-US" dirty="0"/>
              <a:t> </a:t>
            </a:r>
          </a:p>
          <a:p>
            <a:r>
              <a:rPr lang="en-US" dirty="0"/>
              <a:t>inner join college on </a:t>
            </a:r>
            <a:r>
              <a:rPr lang="en-US" dirty="0" err="1"/>
              <a:t>has.cid</a:t>
            </a:r>
            <a:r>
              <a:rPr lang="en-US" dirty="0"/>
              <a:t> = </a:t>
            </a:r>
            <a:r>
              <a:rPr lang="en-US" dirty="0" err="1"/>
              <a:t>college.cid</a:t>
            </a:r>
            <a:r>
              <a:rPr lang="en-US" dirty="0"/>
              <a:t>;</a:t>
            </a:r>
          </a:p>
        </p:txBody>
      </p:sp>
      <p:sp>
        <p:nvSpPr>
          <p:cNvPr id="33" name="TextBox 32"/>
          <p:cNvSpPr txBox="1"/>
          <p:nvPr/>
        </p:nvSpPr>
        <p:spPr>
          <a:xfrm>
            <a:off x="1545633" y="5145657"/>
            <a:ext cx="6296297" cy="923330"/>
          </a:xfrm>
          <a:prstGeom prst="rect">
            <a:avLst/>
          </a:prstGeom>
          <a:noFill/>
        </p:spPr>
        <p:txBody>
          <a:bodyPr wrap="square" rtlCol="0">
            <a:spAutoFit/>
          </a:bodyPr>
          <a:lstStyle/>
          <a:p>
            <a:r>
              <a:rPr lang="en-US" dirty="0"/>
              <a:t>select </a:t>
            </a:r>
            <a:r>
              <a:rPr lang="en-US" dirty="0" err="1"/>
              <a:t>student.sid,student.name,college.cname</a:t>
            </a:r>
            <a:r>
              <a:rPr lang="en-US" dirty="0"/>
              <a:t> from student </a:t>
            </a:r>
          </a:p>
          <a:p>
            <a:r>
              <a:rPr lang="en-US" dirty="0"/>
              <a:t>inner join has on </a:t>
            </a:r>
            <a:r>
              <a:rPr lang="en-US" dirty="0" err="1"/>
              <a:t>student.sid</a:t>
            </a:r>
            <a:r>
              <a:rPr lang="en-US" dirty="0"/>
              <a:t> = </a:t>
            </a:r>
            <a:r>
              <a:rPr lang="en-US" dirty="0" err="1"/>
              <a:t>has.sid</a:t>
            </a:r>
            <a:r>
              <a:rPr lang="en-US" dirty="0"/>
              <a:t> </a:t>
            </a:r>
          </a:p>
          <a:p>
            <a:r>
              <a:rPr lang="en-US" dirty="0"/>
              <a:t>inner join college on </a:t>
            </a:r>
            <a:r>
              <a:rPr lang="en-US" dirty="0" err="1"/>
              <a:t>has.cid</a:t>
            </a:r>
            <a:r>
              <a:rPr lang="en-US" dirty="0"/>
              <a:t> = </a:t>
            </a:r>
            <a:r>
              <a:rPr lang="en-US" dirty="0" err="1"/>
              <a:t>college.cid</a:t>
            </a:r>
            <a:r>
              <a:rPr lang="en-US" dirty="0"/>
              <a:t> where </a:t>
            </a:r>
            <a:r>
              <a:rPr lang="en-US" dirty="0" err="1"/>
              <a:t>cname</a:t>
            </a:r>
            <a:r>
              <a:rPr lang="en-US" dirty="0"/>
              <a:t> = '</a:t>
            </a:r>
            <a:r>
              <a:rPr lang="en-US" dirty="0" err="1"/>
              <a:t>dav</a:t>
            </a:r>
            <a:r>
              <a:rPr lang="en-US" dirty="0"/>
              <a:t>';</a:t>
            </a:r>
          </a:p>
        </p:txBody>
      </p:sp>
      <p:sp>
        <p:nvSpPr>
          <p:cNvPr id="6" name="TextBox 5"/>
          <p:cNvSpPr txBox="1"/>
          <p:nvPr/>
        </p:nvSpPr>
        <p:spPr>
          <a:xfrm>
            <a:off x="1593669" y="1018903"/>
            <a:ext cx="1136468" cy="369332"/>
          </a:xfrm>
          <a:prstGeom prst="rect">
            <a:avLst/>
          </a:prstGeom>
          <a:noFill/>
          <a:ln>
            <a:solidFill>
              <a:schemeClr val="tx1"/>
            </a:solidFill>
          </a:ln>
        </p:spPr>
        <p:txBody>
          <a:bodyPr wrap="square" rtlCol="0">
            <a:spAutoFit/>
          </a:bodyPr>
          <a:lstStyle/>
          <a:p>
            <a:r>
              <a:rPr lang="en-US" dirty="0" smtClean="0"/>
              <a:t>student</a:t>
            </a:r>
            <a:endParaRPr lang="en-US" dirty="0"/>
          </a:p>
        </p:txBody>
      </p:sp>
      <p:sp>
        <p:nvSpPr>
          <p:cNvPr id="7" name="TextBox 6"/>
          <p:cNvSpPr txBox="1"/>
          <p:nvPr/>
        </p:nvSpPr>
        <p:spPr>
          <a:xfrm>
            <a:off x="5133703" y="1018903"/>
            <a:ext cx="627017" cy="369332"/>
          </a:xfrm>
          <a:prstGeom prst="rect">
            <a:avLst/>
          </a:prstGeom>
          <a:noFill/>
          <a:ln>
            <a:solidFill>
              <a:schemeClr val="tx2"/>
            </a:solidFill>
          </a:ln>
        </p:spPr>
        <p:txBody>
          <a:bodyPr wrap="square" rtlCol="0">
            <a:spAutoFit/>
          </a:bodyPr>
          <a:lstStyle/>
          <a:p>
            <a:r>
              <a:rPr lang="en-US" dirty="0" smtClean="0"/>
              <a:t>has</a:t>
            </a:r>
            <a:endParaRPr lang="en-US" dirty="0"/>
          </a:p>
        </p:txBody>
      </p:sp>
      <p:sp>
        <p:nvSpPr>
          <p:cNvPr id="8" name="TextBox 7"/>
          <p:cNvSpPr txBox="1"/>
          <p:nvPr/>
        </p:nvSpPr>
        <p:spPr>
          <a:xfrm>
            <a:off x="8390570" y="1082431"/>
            <a:ext cx="1058092" cy="369332"/>
          </a:xfrm>
          <a:prstGeom prst="rect">
            <a:avLst/>
          </a:prstGeom>
          <a:noFill/>
          <a:ln>
            <a:solidFill>
              <a:schemeClr val="tx2"/>
            </a:solidFill>
          </a:ln>
        </p:spPr>
        <p:txBody>
          <a:bodyPr wrap="square" rtlCol="0">
            <a:spAutoFit/>
          </a:bodyPr>
          <a:lstStyle/>
          <a:p>
            <a:r>
              <a:rPr lang="en-US" dirty="0" smtClean="0"/>
              <a:t>college</a:t>
            </a:r>
            <a:endParaRPr lang="en-US" dirty="0"/>
          </a:p>
        </p:txBody>
      </p:sp>
      <p:pic>
        <p:nvPicPr>
          <p:cNvPr id="9" name="Picture 8"/>
          <p:cNvPicPr>
            <a:picLocks noChangeAspect="1"/>
          </p:cNvPicPr>
          <p:nvPr/>
        </p:nvPicPr>
        <p:blipFill>
          <a:blip r:embed="rId5"/>
          <a:stretch>
            <a:fillRect/>
          </a:stretch>
        </p:blipFill>
        <p:spPr>
          <a:xfrm>
            <a:off x="7841930" y="3732984"/>
            <a:ext cx="3137399" cy="1129391"/>
          </a:xfrm>
          <a:prstGeom prst="rect">
            <a:avLst/>
          </a:prstGeom>
        </p:spPr>
      </p:pic>
      <p:pic>
        <p:nvPicPr>
          <p:cNvPr id="10" name="Picture 9"/>
          <p:cNvPicPr>
            <a:picLocks noChangeAspect="1"/>
          </p:cNvPicPr>
          <p:nvPr/>
        </p:nvPicPr>
        <p:blipFill>
          <a:blip r:embed="rId6"/>
          <a:stretch>
            <a:fillRect/>
          </a:stretch>
        </p:blipFill>
        <p:spPr>
          <a:xfrm>
            <a:off x="8003445" y="5202399"/>
            <a:ext cx="3099983" cy="721742"/>
          </a:xfrm>
          <a:prstGeom prst="rect">
            <a:avLst/>
          </a:prstGeom>
        </p:spPr>
      </p:pic>
    </p:spTree>
    <p:extLst>
      <p:ext uri="{BB962C8B-B14F-4D97-AF65-F5344CB8AC3E}">
        <p14:creationId xmlns:p14="http://schemas.microsoft.com/office/powerpoint/2010/main" val="25274306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Cross join</a:t>
            </a:r>
            <a:endParaRPr lang="en-US" dirty="0"/>
          </a:p>
        </p:txBody>
      </p:sp>
      <p:sp>
        <p:nvSpPr>
          <p:cNvPr id="4" name="Content Placeholder 3"/>
          <p:cNvSpPr>
            <a:spLocks noGrp="1"/>
          </p:cNvSpPr>
          <p:nvPr>
            <p:ph idx="1"/>
          </p:nvPr>
        </p:nvSpPr>
        <p:spPr>
          <a:xfrm>
            <a:off x="838200" y="1825625"/>
            <a:ext cx="10515600" cy="1126581"/>
          </a:xfrm>
        </p:spPr>
        <p:txBody>
          <a:bodyPr/>
          <a:lstStyle/>
          <a:p>
            <a:r>
              <a:rPr lang="en-US" dirty="0"/>
              <a:t>A cross join is a join operation that produces the Cartesian product of two or more tables.</a:t>
            </a:r>
          </a:p>
        </p:txBody>
      </p:sp>
      <p:sp>
        <p:nvSpPr>
          <p:cNvPr id="2" name="Slide Number Placeholder 1"/>
          <p:cNvSpPr>
            <a:spLocks noGrp="1"/>
          </p:cNvSpPr>
          <p:nvPr>
            <p:ph type="sldNum" sz="quarter" idx="12"/>
          </p:nvPr>
        </p:nvSpPr>
        <p:spPr/>
        <p:txBody>
          <a:bodyPr/>
          <a:lstStyle/>
          <a:p>
            <a:fld id="{922AE8BD-B2ED-4107-811B-DAE9CC0E64B8}" type="slidenum">
              <a:rPr lang="en-US" smtClean="0"/>
              <a:t>72</a:t>
            </a:fld>
            <a:endParaRPr lang="en-US"/>
          </a:p>
        </p:txBody>
      </p:sp>
    </p:spTree>
    <p:extLst>
      <p:ext uri="{BB962C8B-B14F-4D97-AF65-F5344CB8AC3E}">
        <p14:creationId xmlns:p14="http://schemas.microsoft.com/office/powerpoint/2010/main" val="35611185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73</a:t>
            </a:fld>
            <a:endParaRPr lang="en-US"/>
          </a:p>
        </p:txBody>
      </p:sp>
      <p:pic>
        <p:nvPicPr>
          <p:cNvPr id="3" name="Picture 2"/>
          <p:cNvPicPr>
            <a:picLocks noChangeAspect="1"/>
          </p:cNvPicPr>
          <p:nvPr/>
        </p:nvPicPr>
        <p:blipFill>
          <a:blip r:embed="rId2"/>
          <a:stretch>
            <a:fillRect/>
          </a:stretch>
        </p:blipFill>
        <p:spPr>
          <a:xfrm>
            <a:off x="522514" y="469719"/>
            <a:ext cx="11038114" cy="6069193"/>
          </a:xfrm>
          <a:prstGeom prst="rect">
            <a:avLst/>
          </a:prstGeom>
        </p:spPr>
      </p:pic>
    </p:spTree>
    <p:extLst>
      <p:ext uri="{BB962C8B-B14F-4D97-AF65-F5344CB8AC3E}">
        <p14:creationId xmlns:p14="http://schemas.microsoft.com/office/powerpoint/2010/main" val="39183759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74</a:t>
            </a:fld>
            <a:endParaRPr lang="en-US"/>
          </a:p>
        </p:txBody>
      </p:sp>
      <p:pic>
        <p:nvPicPr>
          <p:cNvPr id="3" name="Picture 2"/>
          <p:cNvPicPr>
            <a:picLocks noChangeAspect="1"/>
          </p:cNvPicPr>
          <p:nvPr/>
        </p:nvPicPr>
        <p:blipFill>
          <a:blip r:embed="rId2"/>
          <a:stretch>
            <a:fillRect/>
          </a:stretch>
        </p:blipFill>
        <p:spPr>
          <a:xfrm>
            <a:off x="235131" y="2651760"/>
            <a:ext cx="9248503" cy="3566160"/>
          </a:xfrm>
          <a:prstGeom prst="rect">
            <a:avLst/>
          </a:prstGeom>
        </p:spPr>
      </p:pic>
      <p:pic>
        <p:nvPicPr>
          <p:cNvPr id="4" name="Picture 3"/>
          <p:cNvPicPr>
            <a:picLocks noChangeAspect="1"/>
          </p:cNvPicPr>
          <p:nvPr/>
        </p:nvPicPr>
        <p:blipFill>
          <a:blip r:embed="rId3"/>
          <a:stretch>
            <a:fillRect/>
          </a:stretch>
        </p:blipFill>
        <p:spPr>
          <a:xfrm>
            <a:off x="235131" y="174262"/>
            <a:ext cx="2991395" cy="2339068"/>
          </a:xfrm>
          <a:prstGeom prst="rect">
            <a:avLst/>
          </a:prstGeom>
        </p:spPr>
      </p:pic>
      <p:pic>
        <p:nvPicPr>
          <p:cNvPr id="5" name="Picture 4"/>
          <p:cNvPicPr>
            <a:picLocks noChangeAspect="1"/>
          </p:cNvPicPr>
          <p:nvPr/>
        </p:nvPicPr>
        <p:blipFill>
          <a:blip r:embed="rId4"/>
          <a:stretch>
            <a:fillRect/>
          </a:stretch>
        </p:blipFill>
        <p:spPr>
          <a:xfrm>
            <a:off x="7171507" y="174262"/>
            <a:ext cx="3448595" cy="1938563"/>
          </a:xfrm>
          <a:prstGeom prst="rect">
            <a:avLst/>
          </a:prstGeom>
        </p:spPr>
      </p:pic>
      <p:sp>
        <p:nvSpPr>
          <p:cNvPr id="6" name="Rectangle 5"/>
          <p:cNvSpPr/>
          <p:nvPr/>
        </p:nvSpPr>
        <p:spPr>
          <a:xfrm>
            <a:off x="3435531" y="997298"/>
            <a:ext cx="3526971" cy="923330"/>
          </a:xfrm>
          <a:prstGeom prst="rect">
            <a:avLst/>
          </a:prstGeom>
          <a:ln>
            <a:solidFill>
              <a:schemeClr val="tx1"/>
            </a:solidFill>
          </a:ln>
        </p:spPr>
        <p:txBody>
          <a:bodyPr wrap="square">
            <a:spAutoFit/>
          </a:bodyPr>
          <a:lstStyle/>
          <a:p>
            <a:r>
              <a:rPr lang="en-US" dirty="0"/>
              <a:t>select * from employee</a:t>
            </a:r>
          </a:p>
          <a:p>
            <a:r>
              <a:rPr lang="en-US" dirty="0"/>
              <a:t>cross join</a:t>
            </a:r>
          </a:p>
          <a:p>
            <a:r>
              <a:rPr lang="en-US" dirty="0"/>
              <a:t>department order by </a:t>
            </a:r>
            <a:r>
              <a:rPr lang="en-US" dirty="0" err="1"/>
              <a:t>emp_no</a:t>
            </a:r>
            <a:r>
              <a:rPr lang="en-US" dirty="0"/>
              <a:t>;</a:t>
            </a:r>
          </a:p>
        </p:txBody>
      </p:sp>
    </p:spTree>
    <p:extLst>
      <p:ext uri="{BB962C8B-B14F-4D97-AF65-F5344CB8AC3E}">
        <p14:creationId xmlns:p14="http://schemas.microsoft.com/office/powerpoint/2010/main" val="39638056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75</a:t>
            </a:fld>
            <a:endParaRPr lang="en-US"/>
          </a:p>
        </p:txBody>
      </p:sp>
      <p:sp>
        <p:nvSpPr>
          <p:cNvPr id="3" name="TextBox 2"/>
          <p:cNvSpPr txBox="1"/>
          <p:nvPr/>
        </p:nvSpPr>
        <p:spPr>
          <a:xfrm>
            <a:off x="1515290" y="678899"/>
            <a:ext cx="6202147" cy="523220"/>
          </a:xfrm>
          <a:prstGeom prst="rect">
            <a:avLst/>
          </a:prstGeom>
          <a:noFill/>
        </p:spPr>
        <p:txBody>
          <a:bodyPr wrap="none" rtlCol="0">
            <a:spAutoFit/>
          </a:bodyPr>
          <a:lstStyle/>
          <a:p>
            <a:r>
              <a:rPr lang="en-US" sz="2800" b="1" dirty="0" smtClean="0"/>
              <a:t>Consider the following database schema</a:t>
            </a:r>
            <a:endParaRPr lang="en-US" sz="2800" b="1" dirty="0"/>
          </a:p>
        </p:txBody>
      </p:sp>
      <p:sp>
        <p:nvSpPr>
          <p:cNvPr id="4" name="TextBox 3"/>
          <p:cNvSpPr txBox="1"/>
          <p:nvPr/>
        </p:nvSpPr>
        <p:spPr>
          <a:xfrm>
            <a:off x="1515290" y="1332411"/>
            <a:ext cx="9483635" cy="4893647"/>
          </a:xfrm>
          <a:prstGeom prst="rect">
            <a:avLst/>
          </a:prstGeom>
          <a:noFill/>
        </p:spPr>
        <p:txBody>
          <a:bodyPr wrap="square" rtlCol="0">
            <a:spAutoFit/>
          </a:bodyPr>
          <a:lstStyle/>
          <a:p>
            <a:r>
              <a:rPr lang="en-US" sz="2400" dirty="0" smtClean="0"/>
              <a:t>Employee(</a:t>
            </a:r>
            <a:r>
              <a:rPr lang="en-US" sz="2400" dirty="0" err="1" smtClean="0"/>
              <a:t>empname,street,city</a:t>
            </a:r>
            <a:r>
              <a:rPr lang="en-US" sz="2400" dirty="0" smtClean="0"/>
              <a:t>)</a:t>
            </a:r>
          </a:p>
          <a:p>
            <a:r>
              <a:rPr lang="en-US" sz="2400" dirty="0" smtClean="0"/>
              <a:t>Works(</a:t>
            </a:r>
            <a:r>
              <a:rPr lang="en-US" sz="2400" dirty="0" err="1" smtClean="0"/>
              <a:t>empname,cmpname,salary</a:t>
            </a:r>
            <a:r>
              <a:rPr lang="en-US" sz="2400" dirty="0" smtClean="0"/>
              <a:t>)</a:t>
            </a:r>
          </a:p>
          <a:p>
            <a:r>
              <a:rPr lang="en-US" sz="2400" dirty="0" smtClean="0"/>
              <a:t>Company(</a:t>
            </a:r>
            <a:r>
              <a:rPr lang="en-US" sz="2400" dirty="0" err="1" smtClean="0"/>
              <a:t>cmpname,city</a:t>
            </a:r>
            <a:r>
              <a:rPr lang="en-US" sz="2400" dirty="0" smtClean="0"/>
              <a:t>)</a:t>
            </a:r>
          </a:p>
          <a:p>
            <a:r>
              <a:rPr lang="en-US" sz="2400" dirty="0" smtClean="0"/>
              <a:t>Manages(</a:t>
            </a:r>
            <a:r>
              <a:rPr lang="en-US" sz="2400" dirty="0" err="1" smtClean="0"/>
              <a:t>empname,cmpname</a:t>
            </a:r>
            <a:r>
              <a:rPr lang="en-US" sz="2400" dirty="0" smtClean="0"/>
              <a:t>)</a:t>
            </a:r>
          </a:p>
          <a:p>
            <a:endParaRPr lang="en-US" sz="2400" dirty="0"/>
          </a:p>
          <a:p>
            <a:r>
              <a:rPr lang="en-US" sz="2400" dirty="0" smtClean="0"/>
              <a:t>1.Modify the database so that </a:t>
            </a:r>
            <a:r>
              <a:rPr lang="en-US" sz="2400" dirty="0" err="1" smtClean="0"/>
              <a:t>Amrit</a:t>
            </a:r>
            <a:r>
              <a:rPr lang="en-US" sz="2400" dirty="0" smtClean="0"/>
              <a:t> now lives in </a:t>
            </a:r>
            <a:r>
              <a:rPr lang="en-US" sz="2400" dirty="0" err="1" smtClean="0"/>
              <a:t>Naxal</a:t>
            </a:r>
            <a:r>
              <a:rPr lang="en-US" sz="2400" dirty="0" smtClean="0"/>
              <a:t>.</a:t>
            </a:r>
          </a:p>
          <a:p>
            <a:r>
              <a:rPr lang="en-US" sz="2400" dirty="0" smtClean="0"/>
              <a:t>2.Delete all the tuples in the works relation for employee of XYZ corporation</a:t>
            </a:r>
          </a:p>
          <a:p>
            <a:r>
              <a:rPr lang="en-US" sz="2400" dirty="0" smtClean="0"/>
              <a:t>3.Increase salary of all employee of ABC company by 10%.</a:t>
            </a:r>
          </a:p>
          <a:p>
            <a:r>
              <a:rPr lang="en-US" sz="2400" dirty="0" smtClean="0"/>
              <a:t>4.Display all </a:t>
            </a:r>
            <a:r>
              <a:rPr lang="en-US" sz="2400" dirty="0" err="1" smtClean="0"/>
              <a:t>companyname</a:t>
            </a:r>
            <a:r>
              <a:rPr lang="en-US" sz="2400" dirty="0" smtClean="0"/>
              <a:t> located at city </a:t>
            </a:r>
            <a:r>
              <a:rPr lang="en-US" sz="2400" dirty="0" err="1" smtClean="0"/>
              <a:t>pokhara</a:t>
            </a:r>
            <a:r>
              <a:rPr lang="en-US" sz="2400" dirty="0" smtClean="0"/>
              <a:t> or Kathmandu from company details.</a:t>
            </a:r>
          </a:p>
          <a:p>
            <a:r>
              <a:rPr lang="en-US" sz="2400" dirty="0" smtClean="0"/>
              <a:t>5.Display all </a:t>
            </a:r>
            <a:r>
              <a:rPr lang="en-US" sz="2400" dirty="0" err="1" smtClean="0"/>
              <a:t>employeename</a:t>
            </a:r>
            <a:r>
              <a:rPr lang="en-US" sz="2400" dirty="0" smtClean="0"/>
              <a:t> who have salary greater than 50000 from works table.</a:t>
            </a:r>
          </a:p>
        </p:txBody>
      </p:sp>
    </p:spTree>
    <p:extLst>
      <p:ext uri="{BB962C8B-B14F-4D97-AF65-F5344CB8AC3E}">
        <p14:creationId xmlns:p14="http://schemas.microsoft.com/office/powerpoint/2010/main" val="24493925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76</a:t>
            </a:fld>
            <a:endParaRPr lang="en-US"/>
          </a:p>
        </p:txBody>
      </p:sp>
      <p:pic>
        <p:nvPicPr>
          <p:cNvPr id="4" name="Picture 3"/>
          <p:cNvPicPr>
            <a:picLocks noChangeAspect="1"/>
          </p:cNvPicPr>
          <p:nvPr/>
        </p:nvPicPr>
        <p:blipFill>
          <a:blip r:embed="rId2"/>
          <a:stretch>
            <a:fillRect/>
          </a:stretch>
        </p:blipFill>
        <p:spPr>
          <a:xfrm>
            <a:off x="681264" y="159658"/>
            <a:ext cx="9580336" cy="3344092"/>
          </a:xfrm>
          <a:prstGeom prst="rect">
            <a:avLst/>
          </a:prstGeom>
        </p:spPr>
      </p:pic>
      <p:sp>
        <p:nvSpPr>
          <p:cNvPr id="5" name="TextBox 4"/>
          <p:cNvSpPr txBox="1"/>
          <p:nvPr/>
        </p:nvSpPr>
        <p:spPr>
          <a:xfrm>
            <a:off x="1033236" y="3678694"/>
            <a:ext cx="10364651" cy="2677656"/>
          </a:xfrm>
          <a:prstGeom prst="rect">
            <a:avLst/>
          </a:prstGeom>
          <a:noFill/>
        </p:spPr>
        <p:txBody>
          <a:bodyPr wrap="square" rtlCol="0">
            <a:spAutoFit/>
          </a:bodyPr>
          <a:lstStyle/>
          <a:p>
            <a:r>
              <a:rPr lang="en-US" sz="2800" dirty="0" err="1" smtClean="0"/>
              <a:t>i.Update</a:t>
            </a:r>
            <a:r>
              <a:rPr lang="en-US" sz="2800" dirty="0" smtClean="0"/>
              <a:t> employee set  street=‘</a:t>
            </a:r>
            <a:r>
              <a:rPr lang="en-US" sz="2800" dirty="0" err="1" smtClean="0"/>
              <a:t>naxal</a:t>
            </a:r>
            <a:r>
              <a:rPr lang="en-US" sz="2800" dirty="0" smtClean="0"/>
              <a:t>’ where </a:t>
            </a:r>
            <a:r>
              <a:rPr lang="en-US" sz="2800" dirty="0" err="1" smtClean="0"/>
              <a:t>empname</a:t>
            </a:r>
            <a:r>
              <a:rPr lang="en-US" sz="2800" dirty="0" smtClean="0"/>
              <a:t> =‘</a:t>
            </a:r>
            <a:r>
              <a:rPr lang="en-US" sz="2800" dirty="0" err="1" smtClean="0"/>
              <a:t>amrit</a:t>
            </a:r>
            <a:r>
              <a:rPr lang="en-US" sz="2800" dirty="0" smtClean="0"/>
              <a:t>’;</a:t>
            </a:r>
          </a:p>
          <a:p>
            <a:r>
              <a:rPr lang="en-US" sz="2800" dirty="0" err="1" smtClean="0"/>
              <a:t>ii.Delete</a:t>
            </a:r>
            <a:r>
              <a:rPr lang="en-US" sz="2800" dirty="0" smtClean="0"/>
              <a:t>  from works where </a:t>
            </a:r>
            <a:r>
              <a:rPr lang="en-US" sz="2800" dirty="0" err="1" smtClean="0"/>
              <a:t>cmpname</a:t>
            </a:r>
            <a:r>
              <a:rPr lang="en-US" sz="2800" dirty="0" smtClean="0"/>
              <a:t> =‘xyz’;</a:t>
            </a:r>
          </a:p>
          <a:p>
            <a:r>
              <a:rPr lang="en-US" sz="2800" dirty="0" err="1" smtClean="0"/>
              <a:t>iii.Update</a:t>
            </a:r>
            <a:r>
              <a:rPr lang="en-US" sz="2800" dirty="0" smtClean="0"/>
              <a:t> employee set salary =salary * 1.1;</a:t>
            </a:r>
          </a:p>
          <a:p>
            <a:r>
              <a:rPr lang="en-US" sz="2800" dirty="0" err="1" smtClean="0"/>
              <a:t>iv.Select</a:t>
            </a:r>
            <a:r>
              <a:rPr lang="en-US" sz="2800" dirty="0" smtClean="0"/>
              <a:t> </a:t>
            </a:r>
            <a:r>
              <a:rPr lang="en-US" sz="2800" dirty="0" err="1" smtClean="0"/>
              <a:t>cmpname</a:t>
            </a:r>
            <a:r>
              <a:rPr lang="en-US" sz="2800" dirty="0" smtClean="0"/>
              <a:t> ,city from company where city =‘</a:t>
            </a:r>
            <a:r>
              <a:rPr lang="en-US" sz="2800" dirty="0" err="1" smtClean="0"/>
              <a:t>pokhara</a:t>
            </a:r>
            <a:r>
              <a:rPr lang="en-US" sz="2800" dirty="0" smtClean="0"/>
              <a:t>’ or city=‘Kathmandu’;</a:t>
            </a:r>
          </a:p>
          <a:p>
            <a:r>
              <a:rPr lang="en-US" sz="2800" dirty="0" err="1" smtClean="0"/>
              <a:t>v.Select</a:t>
            </a:r>
            <a:r>
              <a:rPr lang="en-US" sz="2800" dirty="0" smtClean="0"/>
              <a:t> </a:t>
            </a:r>
            <a:r>
              <a:rPr lang="en-US" sz="2800" dirty="0" err="1" smtClean="0"/>
              <a:t>empname</a:t>
            </a:r>
            <a:r>
              <a:rPr lang="en-US" sz="2800" dirty="0" smtClean="0"/>
              <a:t> from works where salary &gt; 50000;</a:t>
            </a:r>
            <a:endParaRPr lang="en-US" sz="2800" dirty="0"/>
          </a:p>
        </p:txBody>
      </p:sp>
    </p:spTree>
    <p:extLst>
      <p:ext uri="{BB962C8B-B14F-4D97-AF65-F5344CB8AC3E}">
        <p14:creationId xmlns:p14="http://schemas.microsoft.com/office/powerpoint/2010/main" val="15362680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8675915" y="5180693"/>
            <a:ext cx="2743200" cy="365125"/>
          </a:xfrm>
        </p:spPr>
        <p:txBody>
          <a:bodyPr/>
          <a:lstStyle/>
          <a:p>
            <a:fld id="{922AE8BD-B2ED-4107-811B-DAE9CC0E64B8}" type="slidenum">
              <a:rPr lang="en-US" sz="2000" b="1" smtClean="0"/>
              <a:t>77</a:t>
            </a:fld>
            <a:endParaRPr lang="en-US" sz="2000" b="1"/>
          </a:p>
        </p:txBody>
      </p:sp>
      <p:sp>
        <p:nvSpPr>
          <p:cNvPr id="3" name="Rectangle 1"/>
          <p:cNvSpPr>
            <a:spLocks noChangeArrowheads="1"/>
          </p:cNvSpPr>
          <p:nvPr/>
        </p:nvSpPr>
        <p:spPr bwMode="auto">
          <a:xfrm>
            <a:off x="522513" y="900831"/>
            <a:ext cx="11077303" cy="2887914"/>
          </a:xfrm>
          <a:prstGeom prst="rect">
            <a:avLst/>
          </a:prstGeom>
          <a:solidFill>
            <a:schemeClr val="tx2">
              <a:lumMod val="20000"/>
              <a:lumOff val="80000"/>
            </a:schemeClr>
          </a:solidFill>
          <a:ln>
            <a:noFill/>
          </a:ln>
          <a:effectLst/>
          <a:extLst/>
        </p:spPr>
        <p:txBody>
          <a:bodyPr vert="horz" wrap="squar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The SQL UNION Operator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smtClean="0">
                <a:ln>
                  <a:noFill/>
                </a:ln>
                <a:solidFill>
                  <a:srgbClr val="000000"/>
                </a:solidFill>
                <a:effectLst/>
                <a:latin typeface="+mn-lt"/>
              </a:rPr>
              <a:t>The </a:t>
            </a:r>
            <a:r>
              <a:rPr kumimoji="0" lang="en-US" altLang="en-US" sz="2000" i="0" u="none" strike="noStrike" cap="none" normalizeH="0" baseline="0" dirty="0" smtClean="0">
                <a:ln>
                  <a:noFill/>
                </a:ln>
                <a:solidFill>
                  <a:srgbClr val="DC143C"/>
                </a:solidFill>
                <a:effectLst/>
                <a:latin typeface="+mn-lt"/>
              </a:rPr>
              <a:t>UNION</a:t>
            </a:r>
            <a:r>
              <a:rPr kumimoji="0" lang="en-US" altLang="en-US" sz="2000" i="0" u="none" strike="noStrike" cap="none" normalizeH="0" baseline="0" dirty="0" smtClean="0">
                <a:ln>
                  <a:noFill/>
                </a:ln>
                <a:solidFill>
                  <a:srgbClr val="000000"/>
                </a:solidFill>
                <a:effectLst/>
                <a:latin typeface="+mn-lt"/>
              </a:rPr>
              <a:t> operator is used to combine the result-set of two or more </a:t>
            </a:r>
            <a:r>
              <a:rPr kumimoji="0" lang="en-US" altLang="en-US" sz="2000" i="0" u="none" strike="noStrike" cap="none" normalizeH="0" baseline="0" dirty="0" smtClean="0">
                <a:ln>
                  <a:noFill/>
                </a:ln>
                <a:solidFill>
                  <a:srgbClr val="DC143C"/>
                </a:solidFill>
                <a:effectLst/>
                <a:latin typeface="+mn-lt"/>
              </a:rPr>
              <a:t>SELECT</a:t>
            </a:r>
            <a:r>
              <a:rPr kumimoji="0" lang="en-US" altLang="en-US" sz="2000" i="0" u="none" strike="noStrike" cap="none" normalizeH="0" baseline="0" dirty="0" smtClean="0">
                <a:ln>
                  <a:noFill/>
                </a:ln>
                <a:solidFill>
                  <a:srgbClr val="000000"/>
                </a:solidFill>
                <a:effectLst/>
                <a:latin typeface="+mn-lt"/>
              </a:rPr>
              <a:t> statement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smtClean="0">
                <a:ln>
                  <a:noFill/>
                </a:ln>
                <a:solidFill>
                  <a:srgbClr val="000000"/>
                </a:solidFill>
                <a:effectLst/>
                <a:latin typeface="+mn-lt"/>
              </a:rPr>
              <a:t>Every </a:t>
            </a:r>
            <a:r>
              <a:rPr kumimoji="0" lang="en-US" altLang="en-US" sz="2000" i="0" u="none" strike="noStrike" cap="none" normalizeH="0" baseline="0" dirty="0" smtClean="0">
                <a:ln>
                  <a:noFill/>
                </a:ln>
                <a:solidFill>
                  <a:srgbClr val="DC143C"/>
                </a:solidFill>
                <a:effectLst/>
                <a:latin typeface="+mn-lt"/>
              </a:rPr>
              <a:t>SELECT</a:t>
            </a:r>
            <a:r>
              <a:rPr kumimoji="0" lang="en-US" altLang="en-US" sz="2000" i="0" u="none" strike="noStrike" cap="none" normalizeH="0" baseline="0" dirty="0" smtClean="0">
                <a:ln>
                  <a:noFill/>
                </a:ln>
                <a:solidFill>
                  <a:srgbClr val="000000"/>
                </a:solidFill>
                <a:effectLst/>
                <a:latin typeface="+mn-lt"/>
              </a:rPr>
              <a:t> statement within </a:t>
            </a:r>
            <a:r>
              <a:rPr kumimoji="0" lang="en-US" altLang="en-US" sz="2000" i="0" u="none" strike="noStrike" cap="none" normalizeH="0" baseline="0" dirty="0" smtClean="0">
                <a:ln>
                  <a:noFill/>
                </a:ln>
                <a:solidFill>
                  <a:srgbClr val="DC143C"/>
                </a:solidFill>
                <a:effectLst/>
                <a:latin typeface="+mn-lt"/>
              </a:rPr>
              <a:t>UNION</a:t>
            </a:r>
            <a:r>
              <a:rPr kumimoji="0" lang="en-US" altLang="en-US" sz="2000" i="0" u="none" strike="noStrike" cap="none" normalizeH="0" baseline="0" dirty="0" smtClean="0">
                <a:ln>
                  <a:noFill/>
                </a:ln>
                <a:solidFill>
                  <a:srgbClr val="000000"/>
                </a:solidFill>
                <a:effectLst/>
                <a:latin typeface="+mn-lt"/>
              </a:rPr>
              <a:t> must have the same number of columns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smtClean="0">
                <a:ln>
                  <a:noFill/>
                </a:ln>
                <a:solidFill>
                  <a:srgbClr val="000000"/>
                </a:solidFill>
                <a:effectLst/>
                <a:latin typeface="+mn-lt"/>
              </a:rPr>
              <a:t>The columns must also have similar data types</a:t>
            </a:r>
          </a:p>
          <a:p>
            <a:pPr marR="0" lvl="0" algn="l" defTabSz="914400" rtl="0" eaLnBrk="0" fontAlgn="base" latinLnBrk="0" hangingPunct="0">
              <a:lnSpc>
                <a:spcPct val="100000"/>
              </a:lnSpc>
              <a:spcBef>
                <a:spcPct val="0"/>
              </a:spcBef>
              <a:spcAft>
                <a:spcPct val="0"/>
              </a:spcAft>
              <a:buClrTx/>
              <a:buSzTx/>
              <a:tabLst/>
            </a:pPr>
            <a:endParaRPr kumimoji="0" lang="en-US" altLang="en-US" sz="3600" i="0" u="none" strike="noStrike" cap="none" normalizeH="0" baseline="0" dirty="0" smtClean="0">
              <a:ln>
                <a:noFill/>
              </a:ln>
              <a:solidFill>
                <a:schemeClr val="tx1"/>
              </a:solidFill>
              <a:effectLst/>
              <a:latin typeface="+mn-lt"/>
            </a:endParaRPr>
          </a:p>
        </p:txBody>
      </p:sp>
    </p:spTree>
    <p:extLst>
      <p:ext uri="{BB962C8B-B14F-4D97-AF65-F5344CB8AC3E}">
        <p14:creationId xmlns:p14="http://schemas.microsoft.com/office/powerpoint/2010/main" val="26826853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78</a:t>
            </a:fld>
            <a:endParaRPr lang="en-US"/>
          </a:p>
        </p:txBody>
      </p:sp>
      <p:pic>
        <p:nvPicPr>
          <p:cNvPr id="3" name="Picture 2"/>
          <p:cNvPicPr>
            <a:picLocks noChangeAspect="1"/>
          </p:cNvPicPr>
          <p:nvPr/>
        </p:nvPicPr>
        <p:blipFill>
          <a:blip r:embed="rId2"/>
          <a:stretch>
            <a:fillRect/>
          </a:stretch>
        </p:blipFill>
        <p:spPr>
          <a:xfrm>
            <a:off x="768939" y="822960"/>
            <a:ext cx="4599895" cy="1746476"/>
          </a:xfrm>
          <a:prstGeom prst="rect">
            <a:avLst/>
          </a:prstGeom>
          <a:ln>
            <a:solidFill>
              <a:schemeClr val="tx1"/>
            </a:solidFill>
          </a:ln>
        </p:spPr>
      </p:pic>
      <p:pic>
        <p:nvPicPr>
          <p:cNvPr id="4" name="Picture 3"/>
          <p:cNvPicPr>
            <a:picLocks noChangeAspect="1"/>
          </p:cNvPicPr>
          <p:nvPr/>
        </p:nvPicPr>
        <p:blipFill>
          <a:blip r:embed="rId3"/>
          <a:stretch>
            <a:fillRect/>
          </a:stretch>
        </p:blipFill>
        <p:spPr>
          <a:xfrm>
            <a:off x="6570617" y="627017"/>
            <a:ext cx="4389120" cy="1746476"/>
          </a:xfrm>
          <a:prstGeom prst="rect">
            <a:avLst/>
          </a:prstGeom>
          <a:ln>
            <a:solidFill>
              <a:schemeClr val="tx1"/>
            </a:solidFill>
          </a:ln>
        </p:spPr>
      </p:pic>
      <p:pic>
        <p:nvPicPr>
          <p:cNvPr id="5" name="Picture 4"/>
          <p:cNvPicPr>
            <a:picLocks noChangeAspect="1"/>
          </p:cNvPicPr>
          <p:nvPr/>
        </p:nvPicPr>
        <p:blipFill>
          <a:blip r:embed="rId4"/>
          <a:stretch>
            <a:fillRect/>
          </a:stretch>
        </p:blipFill>
        <p:spPr>
          <a:xfrm>
            <a:off x="3592287" y="4570413"/>
            <a:ext cx="2050868" cy="1785937"/>
          </a:xfrm>
          <a:prstGeom prst="rect">
            <a:avLst/>
          </a:prstGeom>
          <a:ln>
            <a:solidFill>
              <a:schemeClr val="tx1"/>
            </a:solidFill>
          </a:ln>
        </p:spPr>
      </p:pic>
      <p:sp>
        <p:nvSpPr>
          <p:cNvPr id="6" name="Rectangle 5"/>
          <p:cNvSpPr/>
          <p:nvPr/>
        </p:nvSpPr>
        <p:spPr>
          <a:xfrm>
            <a:off x="936173" y="2953099"/>
            <a:ext cx="6096000" cy="923330"/>
          </a:xfrm>
          <a:prstGeom prst="rect">
            <a:avLst/>
          </a:prstGeom>
          <a:ln>
            <a:solidFill>
              <a:schemeClr val="tx1"/>
            </a:solidFill>
          </a:ln>
        </p:spPr>
        <p:txBody>
          <a:bodyPr>
            <a:spAutoFit/>
          </a:bodyPr>
          <a:lstStyle/>
          <a:p>
            <a:r>
              <a:rPr lang="en-US" dirty="0"/>
              <a:t>SELECT city FROM customer</a:t>
            </a:r>
          </a:p>
          <a:p>
            <a:r>
              <a:rPr lang="en-US" dirty="0"/>
              <a:t>UNION </a:t>
            </a:r>
          </a:p>
          <a:p>
            <a:r>
              <a:rPr lang="en-US" dirty="0"/>
              <a:t>SELECT city FROM supplier;</a:t>
            </a:r>
          </a:p>
        </p:txBody>
      </p:sp>
    </p:spTree>
    <p:extLst>
      <p:ext uri="{BB962C8B-B14F-4D97-AF65-F5344CB8AC3E}">
        <p14:creationId xmlns:p14="http://schemas.microsoft.com/office/powerpoint/2010/main" val="34712913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Intersect operator</a:t>
            </a:r>
            <a:endParaRPr lang="en-US" dirty="0"/>
          </a:p>
        </p:txBody>
      </p:sp>
      <p:sp>
        <p:nvSpPr>
          <p:cNvPr id="3" name="Content Placeholder 2"/>
          <p:cNvSpPr>
            <a:spLocks noGrp="1"/>
          </p:cNvSpPr>
          <p:nvPr>
            <p:ph idx="1"/>
          </p:nvPr>
        </p:nvSpPr>
        <p:spPr/>
        <p:txBody>
          <a:bodyPr/>
          <a:lstStyle/>
          <a:p>
            <a:r>
              <a:rPr lang="en-US" dirty="0"/>
              <a:t>The INTERSECT operator is a set operator that returns distinct rows of two or more result sets from </a:t>
            </a:r>
            <a:r>
              <a:rPr lang="en-US" dirty="0">
                <a:hlinkClick r:id="rId2"/>
              </a:rPr>
              <a:t>SELECT</a:t>
            </a:r>
            <a:r>
              <a:rPr lang="en-US" dirty="0"/>
              <a:t> statements.</a:t>
            </a:r>
          </a:p>
        </p:txBody>
      </p:sp>
      <p:sp>
        <p:nvSpPr>
          <p:cNvPr id="4" name="Slide Number Placeholder 3"/>
          <p:cNvSpPr>
            <a:spLocks noGrp="1"/>
          </p:cNvSpPr>
          <p:nvPr>
            <p:ph type="sldNum" sz="quarter" idx="12"/>
          </p:nvPr>
        </p:nvSpPr>
        <p:spPr/>
        <p:txBody>
          <a:bodyPr/>
          <a:lstStyle/>
          <a:p>
            <a:fld id="{922AE8BD-B2ED-4107-811B-DAE9CC0E64B8}" type="slidenum">
              <a:rPr lang="en-US" smtClean="0"/>
              <a:t>79</a:t>
            </a:fld>
            <a:endParaRPr lang="en-US"/>
          </a:p>
        </p:txBody>
      </p:sp>
    </p:spTree>
    <p:extLst>
      <p:ext uri="{BB962C8B-B14F-4D97-AF65-F5344CB8AC3E}">
        <p14:creationId xmlns:p14="http://schemas.microsoft.com/office/powerpoint/2010/main" val="39197788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80</a:t>
            </a:fld>
            <a:endParaRPr lang="en-US"/>
          </a:p>
        </p:txBody>
      </p:sp>
      <p:sp>
        <p:nvSpPr>
          <p:cNvPr id="3" name="Rectangle 2"/>
          <p:cNvSpPr/>
          <p:nvPr/>
        </p:nvSpPr>
        <p:spPr>
          <a:xfrm>
            <a:off x="3339736" y="2590541"/>
            <a:ext cx="6096000" cy="923330"/>
          </a:xfrm>
          <a:prstGeom prst="rect">
            <a:avLst/>
          </a:prstGeom>
          <a:ln>
            <a:solidFill>
              <a:schemeClr val="accent1"/>
            </a:solidFill>
          </a:ln>
        </p:spPr>
        <p:txBody>
          <a:bodyPr>
            <a:spAutoFit/>
          </a:bodyPr>
          <a:lstStyle/>
          <a:p>
            <a:r>
              <a:rPr lang="en-US" dirty="0"/>
              <a:t>SELECT city FROM </a:t>
            </a:r>
            <a:r>
              <a:rPr lang="en-US" dirty="0" smtClean="0"/>
              <a:t>customer</a:t>
            </a:r>
          </a:p>
          <a:p>
            <a:r>
              <a:rPr lang="en-US" dirty="0" smtClean="0"/>
              <a:t>intersect</a:t>
            </a:r>
            <a:endParaRPr lang="en-US" dirty="0"/>
          </a:p>
          <a:p>
            <a:r>
              <a:rPr lang="en-US" dirty="0"/>
              <a:t>SELECT city FROM supplier;</a:t>
            </a:r>
          </a:p>
        </p:txBody>
      </p:sp>
      <p:pic>
        <p:nvPicPr>
          <p:cNvPr id="5" name="Picture 4"/>
          <p:cNvPicPr>
            <a:picLocks noChangeAspect="1"/>
          </p:cNvPicPr>
          <p:nvPr/>
        </p:nvPicPr>
        <p:blipFill>
          <a:blip r:embed="rId2"/>
          <a:stretch>
            <a:fillRect/>
          </a:stretch>
        </p:blipFill>
        <p:spPr>
          <a:xfrm>
            <a:off x="195943" y="605740"/>
            <a:ext cx="4599895" cy="1746476"/>
          </a:xfrm>
          <a:prstGeom prst="rect">
            <a:avLst/>
          </a:prstGeom>
          <a:ln>
            <a:solidFill>
              <a:schemeClr val="tx1"/>
            </a:solidFill>
          </a:ln>
        </p:spPr>
      </p:pic>
      <p:pic>
        <p:nvPicPr>
          <p:cNvPr id="6" name="Picture 5"/>
          <p:cNvPicPr>
            <a:picLocks noChangeAspect="1"/>
          </p:cNvPicPr>
          <p:nvPr/>
        </p:nvPicPr>
        <p:blipFill>
          <a:blip r:embed="rId3"/>
          <a:stretch>
            <a:fillRect/>
          </a:stretch>
        </p:blipFill>
        <p:spPr>
          <a:xfrm>
            <a:off x="7053942" y="844065"/>
            <a:ext cx="4763589" cy="1746476"/>
          </a:xfrm>
          <a:prstGeom prst="rect">
            <a:avLst/>
          </a:prstGeom>
          <a:ln>
            <a:solidFill>
              <a:schemeClr val="tx1"/>
            </a:solidFill>
          </a:ln>
        </p:spPr>
      </p:pic>
      <p:pic>
        <p:nvPicPr>
          <p:cNvPr id="9" name="Picture 8"/>
          <p:cNvPicPr>
            <a:picLocks noChangeAspect="1"/>
          </p:cNvPicPr>
          <p:nvPr/>
        </p:nvPicPr>
        <p:blipFill>
          <a:blip r:embed="rId4"/>
          <a:stretch>
            <a:fillRect/>
          </a:stretch>
        </p:blipFill>
        <p:spPr>
          <a:xfrm>
            <a:off x="4230869" y="4098692"/>
            <a:ext cx="1424017" cy="567793"/>
          </a:xfrm>
          <a:prstGeom prst="rect">
            <a:avLst/>
          </a:prstGeom>
        </p:spPr>
      </p:pic>
      <p:sp>
        <p:nvSpPr>
          <p:cNvPr id="4" name="TextBox 3"/>
          <p:cNvSpPr txBox="1"/>
          <p:nvPr/>
        </p:nvSpPr>
        <p:spPr>
          <a:xfrm>
            <a:off x="4230869" y="4558937"/>
            <a:ext cx="1307782" cy="369332"/>
          </a:xfrm>
          <a:prstGeom prst="rect">
            <a:avLst/>
          </a:prstGeom>
          <a:noFill/>
          <a:ln>
            <a:solidFill>
              <a:schemeClr val="tx1"/>
            </a:solidFill>
          </a:ln>
        </p:spPr>
        <p:txBody>
          <a:bodyPr wrap="square" rtlCol="0">
            <a:spAutoFit/>
          </a:bodyPr>
          <a:lstStyle/>
          <a:p>
            <a:r>
              <a:rPr lang="en-US" dirty="0" err="1" smtClean="0"/>
              <a:t>siraha</a:t>
            </a:r>
            <a:endParaRPr lang="en-US" dirty="0"/>
          </a:p>
        </p:txBody>
      </p:sp>
    </p:spTree>
    <p:extLst>
      <p:ext uri="{BB962C8B-B14F-4D97-AF65-F5344CB8AC3E}">
        <p14:creationId xmlns:p14="http://schemas.microsoft.com/office/powerpoint/2010/main" val="37199144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81</a:t>
            </a:fld>
            <a:endParaRPr lang="en-US"/>
          </a:p>
        </p:txBody>
      </p:sp>
      <p:pic>
        <p:nvPicPr>
          <p:cNvPr id="3" name="Picture 2"/>
          <p:cNvPicPr>
            <a:picLocks noChangeAspect="1"/>
          </p:cNvPicPr>
          <p:nvPr/>
        </p:nvPicPr>
        <p:blipFill>
          <a:blip r:embed="rId2"/>
          <a:stretch>
            <a:fillRect/>
          </a:stretch>
        </p:blipFill>
        <p:spPr>
          <a:xfrm>
            <a:off x="1358538" y="940526"/>
            <a:ext cx="6204856" cy="5157515"/>
          </a:xfrm>
          <a:prstGeom prst="rect">
            <a:avLst/>
          </a:prstGeom>
        </p:spPr>
      </p:pic>
    </p:spTree>
    <p:extLst>
      <p:ext uri="{BB962C8B-B14F-4D97-AF65-F5344CB8AC3E}">
        <p14:creationId xmlns:p14="http://schemas.microsoft.com/office/powerpoint/2010/main" val="5027047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82</a:t>
            </a:fld>
            <a:endParaRPr lang="en-US"/>
          </a:p>
        </p:txBody>
      </p:sp>
      <p:pic>
        <p:nvPicPr>
          <p:cNvPr id="4" name="Picture 3"/>
          <p:cNvPicPr>
            <a:picLocks noChangeAspect="1"/>
          </p:cNvPicPr>
          <p:nvPr/>
        </p:nvPicPr>
        <p:blipFill>
          <a:blip r:embed="rId2"/>
          <a:stretch>
            <a:fillRect/>
          </a:stretch>
        </p:blipFill>
        <p:spPr>
          <a:xfrm>
            <a:off x="1123406" y="927463"/>
            <a:ext cx="9274627" cy="3473087"/>
          </a:xfrm>
          <a:prstGeom prst="rect">
            <a:avLst/>
          </a:prstGeom>
        </p:spPr>
      </p:pic>
    </p:spTree>
    <p:extLst>
      <p:ext uri="{BB962C8B-B14F-4D97-AF65-F5344CB8AC3E}">
        <p14:creationId xmlns:p14="http://schemas.microsoft.com/office/powerpoint/2010/main" val="990465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83</a:t>
            </a:fld>
            <a:endParaRPr lang="en-US"/>
          </a:p>
        </p:txBody>
      </p:sp>
      <p:pic>
        <p:nvPicPr>
          <p:cNvPr id="3" name="Picture 2"/>
          <p:cNvPicPr>
            <a:picLocks noChangeAspect="1"/>
          </p:cNvPicPr>
          <p:nvPr/>
        </p:nvPicPr>
        <p:blipFill>
          <a:blip r:embed="rId2"/>
          <a:stretch>
            <a:fillRect/>
          </a:stretch>
        </p:blipFill>
        <p:spPr>
          <a:xfrm>
            <a:off x="431075" y="4208736"/>
            <a:ext cx="8895806" cy="2220685"/>
          </a:xfrm>
          <a:prstGeom prst="rect">
            <a:avLst/>
          </a:prstGeom>
        </p:spPr>
      </p:pic>
      <p:pic>
        <p:nvPicPr>
          <p:cNvPr id="4" name="Picture 3"/>
          <p:cNvPicPr>
            <a:picLocks noChangeAspect="1"/>
          </p:cNvPicPr>
          <p:nvPr/>
        </p:nvPicPr>
        <p:blipFill>
          <a:blip r:embed="rId3"/>
          <a:stretch>
            <a:fillRect/>
          </a:stretch>
        </p:blipFill>
        <p:spPr>
          <a:xfrm>
            <a:off x="1045029" y="313644"/>
            <a:ext cx="6021977" cy="2638562"/>
          </a:xfrm>
          <a:prstGeom prst="rect">
            <a:avLst/>
          </a:prstGeom>
        </p:spPr>
      </p:pic>
      <p:sp>
        <p:nvSpPr>
          <p:cNvPr id="6" name="Rectangle 1"/>
          <p:cNvSpPr>
            <a:spLocks noChangeArrowheads="1"/>
          </p:cNvSpPr>
          <p:nvPr/>
        </p:nvSpPr>
        <p:spPr bwMode="auto">
          <a:xfrm>
            <a:off x="261257" y="3547350"/>
            <a:ext cx="11821886" cy="369332"/>
          </a:xfrm>
          <a:prstGeom prst="rect">
            <a:avLst/>
          </a:prstGeom>
          <a:solidFill>
            <a:srgbClr val="38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C678DD"/>
                </a:solidFill>
                <a:effectLst/>
                <a:latin typeface="Droid Sans Mono"/>
              </a:rPr>
              <a:t>INSERT</a:t>
            </a:r>
            <a:r>
              <a:rPr kumimoji="0" lang="en-US" altLang="en-US" b="0" i="0" u="none" strike="noStrike" cap="none" normalizeH="0" baseline="0" dirty="0" smtClean="0">
                <a:ln>
                  <a:noFill/>
                </a:ln>
                <a:solidFill>
                  <a:srgbClr val="D3D3D3"/>
                </a:solidFill>
                <a:effectLst/>
                <a:latin typeface="Droid Sans Mono"/>
              </a:rPr>
              <a:t> </a:t>
            </a:r>
            <a:r>
              <a:rPr kumimoji="0" lang="en-US" altLang="en-US" b="0" i="0" u="none" strike="noStrike" cap="none" normalizeH="0" baseline="0" dirty="0" smtClean="0">
                <a:ln>
                  <a:noFill/>
                </a:ln>
                <a:solidFill>
                  <a:srgbClr val="C678DD"/>
                </a:solidFill>
                <a:effectLst/>
                <a:latin typeface="Droid Sans Mono"/>
              </a:rPr>
              <a:t>INTO</a:t>
            </a:r>
            <a:r>
              <a:rPr kumimoji="0" lang="en-US" altLang="en-US" b="0" i="0" u="none" strike="noStrike" cap="none" normalizeH="0" baseline="0" dirty="0" smtClean="0">
                <a:ln>
                  <a:noFill/>
                </a:ln>
                <a:solidFill>
                  <a:srgbClr val="D3D3D3"/>
                </a:solidFill>
                <a:effectLst/>
                <a:latin typeface="Droid Sans Mono"/>
              </a:rPr>
              <a:t> </a:t>
            </a:r>
            <a:r>
              <a:rPr kumimoji="0" lang="en-US" altLang="en-US" b="0" i="0" u="none" strike="noStrike" cap="none" normalizeH="0" baseline="0" dirty="0" smtClean="0">
                <a:ln>
                  <a:noFill/>
                </a:ln>
                <a:solidFill>
                  <a:srgbClr val="C678DD"/>
                </a:solidFill>
                <a:effectLst/>
                <a:latin typeface="Droid Sans Mono"/>
              </a:rPr>
              <a:t>Users</a:t>
            </a:r>
            <a:r>
              <a:rPr kumimoji="0" lang="en-US" altLang="en-US" b="0" i="0" u="none" strike="noStrike" cap="none" normalizeH="0" baseline="0" dirty="0" smtClean="0">
                <a:ln>
                  <a:noFill/>
                </a:ln>
                <a:solidFill>
                  <a:srgbClr val="D3D3D3"/>
                </a:solidFill>
                <a:effectLst/>
                <a:latin typeface="Droid Sans Mono"/>
              </a:rPr>
              <a:t> </a:t>
            </a:r>
            <a:r>
              <a:rPr kumimoji="0" lang="en-US" altLang="en-US" b="0" i="0" u="none" strike="noStrike" cap="none" normalizeH="0" baseline="0" dirty="0" smtClean="0">
                <a:ln>
                  <a:noFill/>
                </a:ln>
                <a:solidFill>
                  <a:srgbClr val="C678DD"/>
                </a:solidFill>
                <a:effectLst/>
                <a:latin typeface="Droid Sans Mono"/>
              </a:rPr>
              <a:t>VALUES</a:t>
            </a:r>
            <a:r>
              <a:rPr kumimoji="0" lang="en-US" altLang="en-US" b="0" i="0" u="none" strike="noStrike" cap="none" normalizeH="0" baseline="0" dirty="0" smtClean="0">
                <a:ln>
                  <a:noFill/>
                </a:ln>
                <a:solidFill>
                  <a:srgbClr val="D3D3D3"/>
                </a:solidFill>
                <a:effectLst/>
                <a:latin typeface="Droid Sans Mono"/>
              </a:rPr>
              <a:t> (</a:t>
            </a:r>
            <a:r>
              <a:rPr kumimoji="0" lang="en-US" altLang="en-US" b="0" i="0" u="none" strike="noStrike" cap="none" normalizeH="0" baseline="0" dirty="0" smtClean="0">
                <a:ln>
                  <a:noFill/>
                </a:ln>
                <a:solidFill>
                  <a:srgbClr val="D19A66"/>
                </a:solidFill>
                <a:effectLst/>
                <a:latin typeface="Droid Sans Mono"/>
              </a:rPr>
              <a:t>1</a:t>
            </a:r>
            <a:r>
              <a:rPr kumimoji="0" lang="en-US" altLang="en-US" b="0" i="0" u="none" strike="noStrike" cap="none" normalizeH="0" baseline="0" dirty="0" smtClean="0">
                <a:ln>
                  <a:noFill/>
                </a:ln>
                <a:solidFill>
                  <a:srgbClr val="D3D3D3"/>
                </a:solidFill>
                <a:effectLst/>
                <a:latin typeface="Droid Sans Mono"/>
              </a:rPr>
              <a:t>, </a:t>
            </a:r>
            <a:r>
              <a:rPr kumimoji="0" lang="en-US" altLang="en-US" b="0" i="0" u="none" strike="noStrike" cap="none" normalizeH="0" baseline="0" dirty="0" smtClean="0">
                <a:ln>
                  <a:noFill/>
                </a:ln>
                <a:solidFill>
                  <a:srgbClr val="98C379"/>
                </a:solidFill>
                <a:effectLst/>
                <a:latin typeface="Droid Sans Mono"/>
              </a:rPr>
              <a:t>'Harry Potter'</a:t>
            </a:r>
            <a:r>
              <a:rPr kumimoji="0" lang="en-US" altLang="en-US" b="0" i="0" u="none" strike="noStrike" cap="none" normalizeH="0" baseline="0" dirty="0" smtClean="0">
                <a:ln>
                  <a:noFill/>
                </a:ln>
                <a:solidFill>
                  <a:srgbClr val="D3D3D3"/>
                </a:solidFill>
                <a:effectLst/>
                <a:latin typeface="Droid Sans Mono"/>
              </a:rPr>
              <a:t>, </a:t>
            </a:r>
            <a:r>
              <a:rPr kumimoji="0" lang="en-US" altLang="en-US" b="0" i="0" u="none" strike="noStrike" cap="none" normalizeH="0" baseline="0" dirty="0" smtClean="0">
                <a:ln>
                  <a:noFill/>
                </a:ln>
                <a:solidFill>
                  <a:srgbClr val="98C379"/>
                </a:solidFill>
                <a:effectLst/>
                <a:latin typeface="Droid Sans Mono"/>
              </a:rPr>
              <a:t>'1999-04-14'</a:t>
            </a:r>
            <a:r>
              <a:rPr kumimoji="0" lang="en-US" altLang="en-US" b="0" i="0" u="none" strike="noStrike" cap="none" normalizeH="0" baseline="0" dirty="0" smtClean="0">
                <a:ln>
                  <a:noFill/>
                </a:ln>
                <a:solidFill>
                  <a:srgbClr val="D3D3D3"/>
                </a:solidFill>
                <a:effectLst/>
                <a:latin typeface="Droid Sans Mono"/>
              </a:rPr>
              <a:t>, </a:t>
            </a:r>
            <a:r>
              <a:rPr kumimoji="0" lang="en-US" altLang="en-US" b="0" i="0" u="none" strike="noStrike" cap="none" normalizeH="0" baseline="0" dirty="0" smtClean="0">
                <a:ln>
                  <a:noFill/>
                </a:ln>
                <a:solidFill>
                  <a:srgbClr val="98C379"/>
                </a:solidFill>
                <a:effectLst/>
                <a:latin typeface="Droid Sans Mono"/>
              </a:rPr>
              <a:t>'2022-04-22 10:34:53'</a:t>
            </a:r>
            <a:r>
              <a:rPr kumimoji="0" lang="en-US" altLang="en-US" b="0" i="0" u="none" strike="noStrike" cap="none" normalizeH="0" baseline="0" dirty="0" smtClean="0">
                <a:ln>
                  <a:noFill/>
                </a:ln>
                <a:solidFill>
                  <a:srgbClr val="D3D3D3"/>
                </a:solidFill>
                <a:effectLst/>
                <a:latin typeface="Droid Sans Mono"/>
              </a:rPr>
              <a:t>, </a:t>
            </a:r>
            <a:r>
              <a:rPr kumimoji="0" lang="en-US" altLang="en-US" b="0" i="0" u="none" strike="noStrike" cap="none" normalizeH="0" baseline="0" dirty="0" smtClean="0">
                <a:ln>
                  <a:noFill/>
                </a:ln>
                <a:solidFill>
                  <a:srgbClr val="98C379"/>
                </a:solidFill>
                <a:effectLst/>
                <a:latin typeface="Droid Sans Mono"/>
              </a:rPr>
              <a:t>'2020-03-15 07:31:42'</a:t>
            </a:r>
            <a:r>
              <a:rPr kumimoji="0" lang="en-US" altLang="en-US" b="0" i="0" u="none" strike="noStrike" cap="none" normalizeH="0" baseline="0" dirty="0" smtClean="0">
                <a:ln>
                  <a:noFill/>
                </a:ln>
                <a:solidFill>
                  <a:srgbClr val="D3D3D3"/>
                </a:solidFill>
                <a:effectLst/>
                <a:latin typeface="Droid Sans Mono"/>
              </a:rPr>
              <a:t>);</a:t>
            </a:r>
            <a:r>
              <a:rPr kumimoji="0" lang="en-US" altLang="en-US" sz="2400" b="0" i="0" u="none" strike="noStrike" cap="none" normalizeH="0" baseline="0" dirty="0" smtClean="0">
                <a:ln>
                  <a:noFill/>
                </a:ln>
                <a:solidFill>
                  <a:schemeClr val="tx1"/>
                </a:solidFill>
                <a:effectLst/>
              </a:rPr>
              <a:t> </a:t>
            </a:r>
            <a:endParaRPr kumimoji="0" lang="en-US" altLang="en-US" sz="4000" b="0" i="0" u="none" strike="noStrike" cap="none" normalizeH="0" baseline="0" dirty="0" smtClean="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26496596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305390"/>
            <a:ext cx="10515600" cy="1325563"/>
          </a:xfrm>
          <a:solidFill>
            <a:schemeClr val="tx2">
              <a:lumMod val="20000"/>
              <a:lumOff val="80000"/>
            </a:schemeClr>
          </a:solidFill>
          <a:ln>
            <a:solidFill>
              <a:schemeClr val="accent1"/>
            </a:solidFill>
          </a:ln>
        </p:spPr>
        <p:txBody>
          <a:bodyPr/>
          <a:lstStyle/>
          <a:p>
            <a:r>
              <a:rPr lang="en-US" dirty="0" smtClean="0"/>
              <a:t>Stored procedure</a:t>
            </a:r>
            <a:endParaRPr lang="en-US" dirty="0"/>
          </a:p>
        </p:txBody>
      </p:sp>
      <p:sp>
        <p:nvSpPr>
          <p:cNvPr id="3" name="Content Placeholder 2"/>
          <p:cNvSpPr>
            <a:spLocks noGrp="1"/>
          </p:cNvSpPr>
          <p:nvPr>
            <p:ph idx="1"/>
          </p:nvPr>
        </p:nvSpPr>
        <p:spPr>
          <a:xfrm>
            <a:off x="655320" y="1630953"/>
            <a:ext cx="10515600" cy="2144213"/>
          </a:xfrm>
          <a:solidFill>
            <a:schemeClr val="bg2">
              <a:lumMod val="75000"/>
            </a:schemeClr>
          </a:solidFill>
        </p:spPr>
        <p:txBody>
          <a:bodyPr/>
          <a:lstStyle/>
          <a:p>
            <a:r>
              <a:rPr lang="en-US" dirty="0"/>
              <a:t>A stored procedure is a prepared SQL code that you can save, so the code can be reused over and over again.</a:t>
            </a:r>
          </a:p>
          <a:p>
            <a:r>
              <a:rPr lang="en-US" dirty="0"/>
              <a:t>So if you have an SQL query that you write over and over again, save it as a stored procedure, and then just call it to execute it.</a:t>
            </a:r>
          </a:p>
          <a:p>
            <a:endParaRPr lang="en-US" dirty="0"/>
          </a:p>
        </p:txBody>
      </p:sp>
      <p:sp>
        <p:nvSpPr>
          <p:cNvPr id="4" name="Slide Number Placeholder 3"/>
          <p:cNvSpPr>
            <a:spLocks noGrp="1"/>
          </p:cNvSpPr>
          <p:nvPr>
            <p:ph type="sldNum" sz="quarter" idx="12"/>
          </p:nvPr>
        </p:nvSpPr>
        <p:spPr/>
        <p:txBody>
          <a:bodyPr/>
          <a:lstStyle/>
          <a:p>
            <a:fld id="{922AE8BD-B2ED-4107-811B-DAE9CC0E64B8}" type="slidenum">
              <a:rPr lang="en-US" smtClean="0"/>
              <a:t>84</a:t>
            </a:fld>
            <a:endParaRPr lang="en-US"/>
          </a:p>
        </p:txBody>
      </p:sp>
      <p:pic>
        <p:nvPicPr>
          <p:cNvPr id="5" name="Picture 4"/>
          <p:cNvPicPr>
            <a:picLocks noChangeAspect="1"/>
          </p:cNvPicPr>
          <p:nvPr/>
        </p:nvPicPr>
        <p:blipFill>
          <a:blip r:embed="rId2"/>
          <a:stretch>
            <a:fillRect/>
          </a:stretch>
        </p:blipFill>
        <p:spPr>
          <a:xfrm>
            <a:off x="940527" y="3775167"/>
            <a:ext cx="6361610" cy="2946308"/>
          </a:xfrm>
          <a:prstGeom prst="rect">
            <a:avLst/>
          </a:prstGeom>
        </p:spPr>
      </p:pic>
    </p:spTree>
    <p:extLst>
      <p:ext uri="{BB962C8B-B14F-4D97-AF65-F5344CB8AC3E}">
        <p14:creationId xmlns:p14="http://schemas.microsoft.com/office/powerpoint/2010/main" val="6464054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85</a:t>
            </a:fld>
            <a:endParaRPr lang="en-US"/>
          </a:p>
        </p:txBody>
      </p:sp>
      <p:pic>
        <p:nvPicPr>
          <p:cNvPr id="3" name="Picture 2"/>
          <p:cNvPicPr>
            <a:picLocks noChangeAspect="1"/>
          </p:cNvPicPr>
          <p:nvPr/>
        </p:nvPicPr>
        <p:blipFill>
          <a:blip r:embed="rId2"/>
          <a:stretch>
            <a:fillRect/>
          </a:stretch>
        </p:blipFill>
        <p:spPr>
          <a:xfrm>
            <a:off x="169817" y="352699"/>
            <a:ext cx="7641772" cy="4840468"/>
          </a:xfrm>
          <a:prstGeom prst="rect">
            <a:avLst/>
          </a:prstGeom>
        </p:spPr>
      </p:pic>
    </p:spTree>
    <p:extLst>
      <p:ext uri="{BB962C8B-B14F-4D97-AF65-F5344CB8AC3E}">
        <p14:creationId xmlns:p14="http://schemas.microsoft.com/office/powerpoint/2010/main" val="42708688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Query by example</a:t>
            </a:r>
            <a:endParaRPr lang="en-US" dirty="0"/>
          </a:p>
        </p:txBody>
      </p:sp>
      <p:sp>
        <p:nvSpPr>
          <p:cNvPr id="3" name="Content Placeholder 2"/>
          <p:cNvSpPr>
            <a:spLocks noGrp="1"/>
          </p:cNvSpPr>
          <p:nvPr>
            <p:ph idx="1"/>
          </p:nvPr>
        </p:nvSpPr>
        <p:spPr>
          <a:xfrm>
            <a:off x="838200" y="1449977"/>
            <a:ext cx="10515600" cy="4726986"/>
          </a:xfrm>
        </p:spPr>
        <p:txBody>
          <a:bodyPr/>
          <a:lstStyle/>
          <a:p>
            <a:r>
              <a:rPr lang="en-US" dirty="0"/>
              <a:t>It is a graphical query language where we get a user interface and then we fill some required fields to get our proper result.  </a:t>
            </a:r>
            <a:endParaRPr lang="en-US" dirty="0" smtClean="0"/>
          </a:p>
          <a:p>
            <a:r>
              <a:rPr lang="en-US" dirty="0"/>
              <a:t>In QBE we don’t write complete queries like SQL or other database languages it comes with some blank so we need to just fill that blanks and we will get our required result.</a:t>
            </a:r>
          </a:p>
        </p:txBody>
      </p:sp>
      <p:sp>
        <p:nvSpPr>
          <p:cNvPr id="4" name="Slide Number Placeholder 3"/>
          <p:cNvSpPr>
            <a:spLocks noGrp="1"/>
          </p:cNvSpPr>
          <p:nvPr>
            <p:ph type="sldNum" sz="quarter" idx="12"/>
          </p:nvPr>
        </p:nvSpPr>
        <p:spPr/>
        <p:txBody>
          <a:bodyPr/>
          <a:lstStyle/>
          <a:p>
            <a:fld id="{922AE8BD-B2ED-4107-811B-DAE9CC0E64B8}" type="slidenum">
              <a:rPr lang="en-US" smtClean="0"/>
              <a:t>86</a:t>
            </a:fld>
            <a:endParaRPr lang="en-US"/>
          </a:p>
        </p:txBody>
      </p:sp>
    </p:spTree>
    <p:extLst>
      <p:ext uri="{BB962C8B-B14F-4D97-AF65-F5344CB8AC3E}">
        <p14:creationId xmlns:p14="http://schemas.microsoft.com/office/powerpoint/2010/main" val="38021030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87</a:t>
            </a:fld>
            <a:endParaRPr lang="en-US"/>
          </a:p>
        </p:txBody>
      </p:sp>
      <p:pic>
        <p:nvPicPr>
          <p:cNvPr id="4" name="Picture 3"/>
          <p:cNvPicPr>
            <a:picLocks noChangeAspect="1"/>
          </p:cNvPicPr>
          <p:nvPr/>
        </p:nvPicPr>
        <p:blipFill>
          <a:blip r:embed="rId2"/>
          <a:stretch>
            <a:fillRect/>
          </a:stretch>
        </p:blipFill>
        <p:spPr>
          <a:xfrm>
            <a:off x="156754" y="365760"/>
            <a:ext cx="11821886" cy="6492240"/>
          </a:xfrm>
          <a:prstGeom prst="rect">
            <a:avLst/>
          </a:prstGeom>
        </p:spPr>
      </p:pic>
    </p:spTree>
    <p:extLst>
      <p:ext uri="{BB962C8B-B14F-4D97-AF65-F5344CB8AC3E}">
        <p14:creationId xmlns:p14="http://schemas.microsoft.com/office/powerpoint/2010/main" val="25301893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88</a:t>
            </a:fld>
            <a:endParaRPr lang="en-US"/>
          </a:p>
        </p:txBody>
      </p:sp>
      <p:sp>
        <p:nvSpPr>
          <p:cNvPr id="3" name="TextBox 2"/>
          <p:cNvSpPr txBox="1"/>
          <p:nvPr/>
        </p:nvSpPr>
        <p:spPr>
          <a:xfrm>
            <a:off x="1645920" y="0"/>
            <a:ext cx="4992200" cy="523220"/>
          </a:xfrm>
          <a:prstGeom prst="rect">
            <a:avLst/>
          </a:prstGeom>
          <a:noFill/>
        </p:spPr>
        <p:txBody>
          <a:bodyPr wrap="none" rtlCol="0">
            <a:spAutoFit/>
          </a:bodyPr>
          <a:lstStyle/>
          <a:p>
            <a:r>
              <a:rPr lang="en-US" sz="2800" b="1" dirty="0" smtClean="0"/>
              <a:t>Presentation on following topics</a:t>
            </a:r>
            <a:endParaRPr lang="en-US" sz="2800" b="1" dirty="0"/>
          </a:p>
        </p:txBody>
      </p:sp>
      <p:sp>
        <p:nvSpPr>
          <p:cNvPr id="4" name="TextBox 3"/>
          <p:cNvSpPr txBox="1"/>
          <p:nvPr/>
        </p:nvSpPr>
        <p:spPr>
          <a:xfrm>
            <a:off x="459377" y="442833"/>
            <a:ext cx="10683239" cy="6278642"/>
          </a:xfrm>
          <a:prstGeom prst="rect">
            <a:avLst/>
          </a:prstGeom>
          <a:solidFill>
            <a:srgbClr val="00B0F0"/>
          </a:solidFill>
        </p:spPr>
        <p:txBody>
          <a:bodyPr wrap="square" rtlCol="0">
            <a:spAutoFit/>
          </a:bodyPr>
          <a:lstStyle/>
          <a:p>
            <a:pPr marL="514350" indent="-514350">
              <a:buFont typeface="+mj-lt"/>
              <a:buAutoNum type="arabicPeriod"/>
            </a:pPr>
            <a:r>
              <a:rPr lang="en-US" sz="3200" dirty="0" smtClean="0"/>
              <a:t>Integrity constraints</a:t>
            </a:r>
          </a:p>
          <a:p>
            <a:pPr marL="514350" indent="-514350">
              <a:buFont typeface="+mj-lt"/>
              <a:buAutoNum type="arabicPeriod"/>
            </a:pPr>
            <a:r>
              <a:rPr lang="en-US" sz="3200" dirty="0" smtClean="0"/>
              <a:t>Types of keys</a:t>
            </a:r>
          </a:p>
          <a:p>
            <a:pPr marL="514350" indent="-514350">
              <a:buFont typeface="+mj-lt"/>
              <a:buAutoNum type="arabicPeriod"/>
            </a:pPr>
            <a:r>
              <a:rPr lang="en-US" sz="3200" dirty="0" smtClean="0"/>
              <a:t>Types of attributes</a:t>
            </a:r>
          </a:p>
          <a:p>
            <a:pPr marL="514350" indent="-514350">
              <a:buFont typeface="+mj-lt"/>
              <a:buAutoNum type="arabicPeriod"/>
            </a:pPr>
            <a:r>
              <a:rPr lang="en-US" sz="3200" dirty="0" smtClean="0"/>
              <a:t>ER diagram of library management </a:t>
            </a:r>
            <a:r>
              <a:rPr lang="en-US" sz="3200" dirty="0" err="1" smtClean="0"/>
              <a:t>system,banking</a:t>
            </a:r>
            <a:r>
              <a:rPr lang="en-US" sz="3200" dirty="0" smtClean="0"/>
              <a:t> </a:t>
            </a:r>
            <a:r>
              <a:rPr lang="en-US" sz="3200" dirty="0" err="1" smtClean="0"/>
              <a:t>system,hospital</a:t>
            </a:r>
            <a:r>
              <a:rPr lang="en-US" sz="3200" dirty="0" smtClean="0"/>
              <a:t> management </a:t>
            </a:r>
            <a:r>
              <a:rPr lang="en-US" sz="3200" dirty="0" err="1" smtClean="0"/>
              <a:t>system,college</a:t>
            </a:r>
            <a:r>
              <a:rPr lang="en-US" sz="3200" dirty="0" smtClean="0"/>
              <a:t> management system</a:t>
            </a:r>
          </a:p>
          <a:p>
            <a:pPr marL="514350" indent="-514350">
              <a:buFont typeface="+mj-lt"/>
              <a:buAutoNum type="arabicPeriod"/>
            </a:pPr>
            <a:r>
              <a:rPr lang="en-US" sz="3200" dirty="0" smtClean="0"/>
              <a:t>EF </a:t>
            </a:r>
            <a:r>
              <a:rPr lang="en-US" sz="3200" dirty="0" err="1" smtClean="0"/>
              <a:t>codd</a:t>
            </a:r>
            <a:r>
              <a:rPr lang="en-US" sz="3200" dirty="0" smtClean="0"/>
              <a:t> rules</a:t>
            </a:r>
          </a:p>
          <a:p>
            <a:pPr marL="514350" indent="-514350">
              <a:buFont typeface="+mj-lt"/>
              <a:buAutoNum type="arabicPeriod"/>
            </a:pPr>
            <a:r>
              <a:rPr lang="en-US" sz="3200" dirty="0" err="1" smtClean="0"/>
              <a:t>Sql</a:t>
            </a:r>
            <a:r>
              <a:rPr lang="en-US" sz="3200" dirty="0" smtClean="0"/>
              <a:t> queries </a:t>
            </a:r>
            <a:r>
              <a:rPr lang="en-US" sz="3200" dirty="0" err="1" smtClean="0"/>
              <a:t>like,inner</a:t>
            </a:r>
            <a:r>
              <a:rPr lang="en-US" sz="3200" dirty="0" smtClean="0"/>
              <a:t> </a:t>
            </a:r>
            <a:r>
              <a:rPr lang="en-US" sz="3200" dirty="0" err="1" smtClean="0"/>
              <a:t>join,left</a:t>
            </a:r>
            <a:r>
              <a:rPr lang="en-US" sz="3200" dirty="0" smtClean="0"/>
              <a:t> </a:t>
            </a:r>
            <a:r>
              <a:rPr lang="en-US" sz="3200" dirty="0" err="1" smtClean="0"/>
              <a:t>join,full</a:t>
            </a:r>
            <a:r>
              <a:rPr lang="en-US" sz="3200" dirty="0" smtClean="0"/>
              <a:t> </a:t>
            </a:r>
            <a:r>
              <a:rPr lang="en-US" sz="3200" dirty="0" err="1" smtClean="0"/>
              <a:t>join,self</a:t>
            </a:r>
            <a:r>
              <a:rPr lang="en-US" sz="3200" dirty="0" smtClean="0"/>
              <a:t> </a:t>
            </a:r>
            <a:r>
              <a:rPr lang="en-US" sz="3200" dirty="0" err="1" smtClean="0"/>
              <a:t>join,right</a:t>
            </a:r>
            <a:r>
              <a:rPr lang="en-US" sz="3200" dirty="0" smtClean="0"/>
              <a:t> join</a:t>
            </a:r>
          </a:p>
          <a:p>
            <a:pPr marL="514350" indent="-514350">
              <a:buFont typeface="+mj-lt"/>
              <a:buAutoNum type="arabicPeriod"/>
            </a:pPr>
            <a:r>
              <a:rPr lang="en-US" sz="3200" dirty="0" smtClean="0"/>
              <a:t>Roles of dba</a:t>
            </a:r>
          </a:p>
          <a:p>
            <a:pPr marL="514350" indent="-514350">
              <a:buFont typeface="+mj-lt"/>
              <a:buAutoNum type="arabicPeriod"/>
            </a:pPr>
            <a:r>
              <a:rPr lang="en-US" sz="3200" dirty="0" smtClean="0"/>
              <a:t>Three schema architecture</a:t>
            </a:r>
          </a:p>
          <a:p>
            <a:pPr marL="514350" indent="-514350">
              <a:buFont typeface="+mj-lt"/>
              <a:buAutoNum type="arabicPeriod"/>
            </a:pPr>
            <a:endParaRPr lang="en-US" sz="3200" dirty="0" smtClean="0"/>
          </a:p>
          <a:p>
            <a:pPr marL="514350" indent="-514350">
              <a:buFont typeface="+mj-lt"/>
              <a:buAutoNum type="arabicPeriod"/>
            </a:pPr>
            <a:endParaRPr lang="en-US" sz="3200" dirty="0" smtClean="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4924395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89</a:t>
            </a:fld>
            <a:endParaRPr lang="en-US"/>
          </a:p>
        </p:txBody>
      </p:sp>
      <p:sp>
        <p:nvSpPr>
          <p:cNvPr id="3" name="TextBox 2"/>
          <p:cNvSpPr txBox="1"/>
          <p:nvPr/>
        </p:nvSpPr>
        <p:spPr>
          <a:xfrm>
            <a:off x="535577" y="587829"/>
            <a:ext cx="10189584" cy="1200329"/>
          </a:xfrm>
          <a:prstGeom prst="rect">
            <a:avLst/>
          </a:prstGeom>
          <a:noFill/>
        </p:spPr>
        <p:txBody>
          <a:bodyPr wrap="none" rtlCol="0">
            <a:spAutoFit/>
          </a:bodyPr>
          <a:lstStyle/>
          <a:p>
            <a:r>
              <a:rPr lang="en-US" dirty="0"/>
              <a:t>insert into </a:t>
            </a:r>
            <a:r>
              <a:rPr lang="en-US" dirty="0" err="1"/>
              <a:t>employeestable</a:t>
            </a:r>
            <a:r>
              <a:rPr lang="en-US" dirty="0"/>
              <a:t>(</a:t>
            </a:r>
            <a:r>
              <a:rPr lang="en-US" dirty="0" err="1"/>
              <a:t>hiredate</a:t>
            </a:r>
            <a:r>
              <a:rPr lang="en-US" dirty="0"/>
              <a:t>) values(</a:t>
            </a:r>
            <a:r>
              <a:rPr lang="en-US" dirty="0" err="1"/>
              <a:t>to_date</a:t>
            </a:r>
            <a:r>
              <a:rPr lang="en-US" dirty="0"/>
              <a:t>('16-may-2021'));</a:t>
            </a:r>
          </a:p>
          <a:p>
            <a:r>
              <a:rPr lang="en-US" dirty="0"/>
              <a:t>select </a:t>
            </a:r>
            <a:r>
              <a:rPr lang="en-US" dirty="0" err="1"/>
              <a:t>sysdate</a:t>
            </a:r>
            <a:r>
              <a:rPr lang="en-US" dirty="0"/>
              <a:t> from dual;</a:t>
            </a:r>
          </a:p>
          <a:p>
            <a:r>
              <a:rPr lang="en-US" dirty="0"/>
              <a:t>SELECT EXTRACT(YEAR FROM </a:t>
            </a:r>
            <a:r>
              <a:rPr lang="en-US" dirty="0" err="1"/>
              <a:t>sysdate</a:t>
            </a:r>
            <a:r>
              <a:rPr lang="en-US" dirty="0"/>
              <a:t>) - EXTRACT(YEAR FROM </a:t>
            </a:r>
            <a:r>
              <a:rPr lang="en-US" dirty="0" err="1"/>
              <a:t>hiredate</a:t>
            </a:r>
            <a:r>
              <a:rPr lang="en-US" dirty="0"/>
              <a:t>) as duration FROM </a:t>
            </a:r>
            <a:r>
              <a:rPr lang="en-US" dirty="0" err="1"/>
              <a:t>employeestable</a:t>
            </a:r>
            <a:r>
              <a:rPr lang="en-US" dirty="0"/>
              <a:t>;</a:t>
            </a:r>
          </a:p>
          <a:p>
            <a:r>
              <a:rPr lang="en-US" dirty="0"/>
              <a:t>delete from </a:t>
            </a:r>
            <a:r>
              <a:rPr lang="en-US" dirty="0" err="1"/>
              <a:t>employeestable</a:t>
            </a:r>
            <a:r>
              <a:rPr lang="en-US" dirty="0"/>
              <a:t> where </a:t>
            </a:r>
            <a:r>
              <a:rPr lang="en-US" dirty="0" err="1"/>
              <a:t>hiredate</a:t>
            </a:r>
            <a:r>
              <a:rPr lang="en-US" dirty="0"/>
              <a:t> = '16-may-2023';</a:t>
            </a:r>
          </a:p>
        </p:txBody>
      </p:sp>
    </p:spTree>
    <p:extLst>
      <p:ext uri="{BB962C8B-B14F-4D97-AF65-F5344CB8AC3E}">
        <p14:creationId xmlns:p14="http://schemas.microsoft.com/office/powerpoint/2010/main" val="405800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22AE8BD-B2ED-4107-811B-DAE9CC0E64B8}" type="slidenum">
              <a:rPr lang="en-US" smtClean="0"/>
              <a:t>90</a:t>
            </a:fld>
            <a:endParaRPr lang="en-US"/>
          </a:p>
        </p:txBody>
      </p:sp>
      <p:sp>
        <p:nvSpPr>
          <p:cNvPr id="3" name="TextBox 2"/>
          <p:cNvSpPr txBox="1"/>
          <p:nvPr/>
        </p:nvSpPr>
        <p:spPr>
          <a:xfrm>
            <a:off x="1175657" y="515196"/>
            <a:ext cx="6386286" cy="1815882"/>
          </a:xfrm>
          <a:prstGeom prst="rect">
            <a:avLst/>
          </a:prstGeom>
          <a:noFill/>
        </p:spPr>
        <p:txBody>
          <a:bodyPr wrap="square" rtlCol="0">
            <a:spAutoFit/>
          </a:bodyPr>
          <a:lstStyle/>
          <a:p>
            <a:r>
              <a:rPr lang="en-US" sz="2800" dirty="0" smtClean="0"/>
              <a:t>For practical</a:t>
            </a:r>
          </a:p>
          <a:p>
            <a:r>
              <a:rPr lang="en-US" sz="2800" dirty="0" smtClean="0"/>
              <a:t>Read all the constraints like primary </a:t>
            </a:r>
            <a:r>
              <a:rPr lang="en-US" sz="2800" dirty="0" err="1" smtClean="0"/>
              <a:t>key,foreign</a:t>
            </a:r>
            <a:r>
              <a:rPr lang="en-US" sz="2800" dirty="0" smtClean="0"/>
              <a:t> </a:t>
            </a:r>
            <a:r>
              <a:rPr lang="en-US" sz="2800" dirty="0" err="1" smtClean="0"/>
              <a:t>key,not</a:t>
            </a:r>
            <a:r>
              <a:rPr lang="en-US" sz="2800" dirty="0" smtClean="0"/>
              <a:t> </a:t>
            </a:r>
            <a:r>
              <a:rPr lang="en-US" sz="2800" dirty="0" err="1" smtClean="0"/>
              <a:t>null,default</a:t>
            </a:r>
            <a:r>
              <a:rPr lang="en-US" sz="2800" dirty="0" smtClean="0"/>
              <a:t> ,check ,unique</a:t>
            </a:r>
            <a:endParaRPr lang="en-US" sz="2800" dirty="0"/>
          </a:p>
        </p:txBody>
      </p:sp>
      <p:graphicFrame>
        <p:nvGraphicFramePr>
          <p:cNvPr id="4" name="Table 3"/>
          <p:cNvGraphicFramePr>
            <a:graphicFrameLocks noGrp="1"/>
          </p:cNvGraphicFramePr>
          <p:nvPr>
            <p:extLst>
              <p:ext uri="{D42A27DB-BD31-4B8C-83A1-F6EECF244321}">
                <p14:modId xmlns:p14="http://schemas.microsoft.com/office/powerpoint/2010/main" val="2109243959"/>
              </p:ext>
            </p:extLst>
          </p:nvPr>
        </p:nvGraphicFramePr>
        <p:xfrm>
          <a:off x="482600" y="3515843"/>
          <a:ext cx="8128000" cy="36576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43095410"/>
                    </a:ext>
                  </a:extLst>
                </a:gridCol>
                <a:gridCol w="2032000">
                  <a:extLst>
                    <a:ext uri="{9D8B030D-6E8A-4147-A177-3AD203B41FA5}">
                      <a16:colId xmlns:a16="http://schemas.microsoft.com/office/drawing/2014/main" val="3836460865"/>
                    </a:ext>
                  </a:extLst>
                </a:gridCol>
                <a:gridCol w="2032000">
                  <a:extLst>
                    <a:ext uri="{9D8B030D-6E8A-4147-A177-3AD203B41FA5}">
                      <a16:colId xmlns:a16="http://schemas.microsoft.com/office/drawing/2014/main" val="1381205176"/>
                    </a:ext>
                  </a:extLst>
                </a:gridCol>
                <a:gridCol w="2032000">
                  <a:extLst>
                    <a:ext uri="{9D8B030D-6E8A-4147-A177-3AD203B41FA5}">
                      <a16:colId xmlns:a16="http://schemas.microsoft.com/office/drawing/2014/main" val="1858192690"/>
                    </a:ext>
                  </a:extLst>
                </a:gridCol>
              </a:tblGrid>
              <a:tr h="0">
                <a:tc>
                  <a:txBody>
                    <a:bodyPr/>
                    <a:lstStyle/>
                    <a:p>
                      <a:r>
                        <a:rPr lang="en-US" dirty="0" err="1" smtClean="0"/>
                        <a:t>Employee_id</a:t>
                      </a:r>
                      <a:r>
                        <a:rPr lang="en-US" baseline="0" dirty="0" smtClean="0"/>
                        <a:t> </a:t>
                      </a:r>
                      <a:endParaRPr lang="en-US" dirty="0"/>
                    </a:p>
                  </a:txBody>
                  <a:tcPr/>
                </a:tc>
                <a:tc>
                  <a:txBody>
                    <a:bodyPr/>
                    <a:lstStyle/>
                    <a:p>
                      <a:r>
                        <a:rPr lang="en-US" dirty="0" err="1" smtClean="0"/>
                        <a:t>Ename</a:t>
                      </a:r>
                      <a:r>
                        <a:rPr lang="en-US" dirty="0" smtClean="0"/>
                        <a:t> </a:t>
                      </a:r>
                      <a:endParaRPr lang="en-US" dirty="0"/>
                    </a:p>
                  </a:txBody>
                  <a:tcPr/>
                </a:tc>
                <a:tc>
                  <a:txBody>
                    <a:bodyPr/>
                    <a:lstStyle/>
                    <a:p>
                      <a:r>
                        <a:rPr lang="en-US" dirty="0" err="1" smtClean="0"/>
                        <a:t>Joindate</a:t>
                      </a:r>
                      <a:r>
                        <a:rPr lang="en-US" dirty="0" smtClean="0"/>
                        <a:t> </a:t>
                      </a:r>
                      <a:endParaRPr lang="en-US" dirty="0"/>
                    </a:p>
                  </a:txBody>
                  <a:tcPr/>
                </a:tc>
                <a:tc>
                  <a:txBody>
                    <a:bodyPr/>
                    <a:lstStyle/>
                    <a:p>
                      <a:r>
                        <a:rPr lang="en-US" dirty="0" err="1" smtClean="0"/>
                        <a:t>Phoneno</a:t>
                      </a:r>
                      <a:endParaRPr lang="en-US" dirty="0"/>
                    </a:p>
                  </a:txBody>
                  <a:tcPr/>
                </a:tc>
                <a:extLst>
                  <a:ext uri="{0D108BD9-81ED-4DB2-BD59-A6C34878D82A}">
                    <a16:rowId xmlns:a16="http://schemas.microsoft.com/office/drawing/2014/main" val="1641375311"/>
                  </a:ext>
                </a:extLst>
              </a:tr>
            </a:tbl>
          </a:graphicData>
        </a:graphic>
      </p:graphicFrame>
      <p:sp>
        <p:nvSpPr>
          <p:cNvPr id="5" name="TextBox 4"/>
          <p:cNvSpPr txBox="1"/>
          <p:nvPr/>
        </p:nvSpPr>
        <p:spPr>
          <a:xfrm>
            <a:off x="482600" y="2989943"/>
            <a:ext cx="1973943" cy="369332"/>
          </a:xfrm>
          <a:prstGeom prst="rect">
            <a:avLst/>
          </a:prstGeom>
          <a:noFill/>
          <a:ln>
            <a:solidFill>
              <a:schemeClr val="tx1"/>
            </a:solidFill>
          </a:ln>
        </p:spPr>
        <p:txBody>
          <a:bodyPr wrap="square" rtlCol="0">
            <a:spAutoFit/>
          </a:bodyPr>
          <a:lstStyle/>
          <a:p>
            <a:r>
              <a:rPr lang="en-US" dirty="0" smtClean="0"/>
              <a:t>employee</a:t>
            </a:r>
            <a:endParaRPr lang="en-US" dirty="0"/>
          </a:p>
        </p:txBody>
      </p:sp>
    </p:spTree>
    <p:extLst>
      <p:ext uri="{BB962C8B-B14F-4D97-AF65-F5344CB8AC3E}">
        <p14:creationId xmlns:p14="http://schemas.microsoft.com/office/powerpoint/2010/main" val="5988428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1883</TotalTime>
  <Words>1741</Words>
  <Application>Microsoft Office PowerPoint</Application>
  <PresentationFormat>Widescreen</PresentationFormat>
  <Paragraphs>454</Paragraphs>
  <Slides>90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90</vt:i4>
      </vt:variant>
    </vt:vector>
  </HeadingPairs>
  <TitlesOfParts>
    <vt:vector size="102" baseType="lpstr">
      <vt:lpstr>Arial</vt:lpstr>
      <vt:lpstr>Arial Narrow</vt:lpstr>
      <vt:lpstr>Calibri</vt:lpstr>
      <vt:lpstr>Calibri Light</vt:lpstr>
      <vt:lpstr>Consolas</vt:lpstr>
      <vt:lpstr>Droid Sans Mono</vt:lpstr>
      <vt:lpstr>Segoe UI</vt:lpstr>
      <vt:lpstr>Times New Roman</vt:lpstr>
      <vt:lpstr>var(--bs-font-monospace)</vt:lpstr>
      <vt:lpstr>Verdana</vt:lpstr>
      <vt:lpstr>Wingdings</vt:lpstr>
      <vt:lpstr>Office Theme</vt:lpstr>
      <vt:lpstr>Integrity constraints</vt:lpstr>
      <vt:lpstr>Types of integrity constraints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Sql queries</vt:lpstr>
      <vt:lpstr>What is SQL? </vt:lpstr>
      <vt:lpstr> What Can SQL do? </vt:lpstr>
      <vt:lpstr>The SQL CREATE TABLE Statement </vt:lpstr>
      <vt:lpstr>PowerPoint Presentation</vt:lpstr>
      <vt:lpstr>PowerPoint Presentation</vt:lpstr>
      <vt:lpstr>PowerPoint Presentation</vt:lpstr>
      <vt:lpstr>SQL Constraints </vt:lpstr>
      <vt:lpstr>SQL ALTER TABLE Statement </vt:lpstr>
      <vt:lpstr>The SQL SELECT Statement </vt:lpstr>
      <vt:lpstr>SELECT DISTINCT Examples </vt:lpstr>
      <vt:lpstr>The SQL WHERE Clause </vt:lpstr>
      <vt:lpstr>The SQL AND, OR and NOT Operators </vt:lpstr>
      <vt:lpstr>PowerPoint Presentation</vt:lpstr>
      <vt:lpstr> What is a NULL Value? </vt:lpstr>
      <vt:lpstr>The SQL INSERT INTO Statement </vt:lpstr>
      <vt:lpstr>The SQL UPDATE Statement </vt:lpstr>
      <vt:lpstr>The SQL DELETE Statement </vt:lpstr>
      <vt:lpstr>Delete All Records </vt:lpstr>
      <vt:lpstr>The SQL ORDER BY Keyword </vt:lpstr>
      <vt:lpstr>PowerPoint Presentation</vt:lpstr>
      <vt:lpstr>SQL MIN() and MAX() Functions </vt:lpstr>
      <vt:lpstr>PowerPoint Presentation</vt:lpstr>
      <vt:lpstr>The SQL COUNT(), AVG() and SUM(),min(),max() </vt:lpstr>
      <vt:lpstr>PowerPoint Presentation</vt:lpstr>
      <vt:lpstr>PowerPoint Presentation</vt:lpstr>
      <vt:lpstr>PowerPoint Presentation</vt:lpstr>
      <vt:lpstr>PowerPoint Presentation</vt:lpstr>
      <vt:lpstr>The SQL LIKE Operator </vt:lpstr>
      <vt:lpstr>PowerPoint Presentation</vt:lpstr>
      <vt:lpstr>The IN operator allows you to specify multiple values in a WHERE clause. </vt:lpstr>
      <vt:lpstr>The SQL BETWEEN Operator </vt:lpstr>
      <vt:lpstr>SQL Aliases </vt:lpstr>
      <vt:lpstr>Alias for Tables Example </vt:lpstr>
      <vt:lpstr>The SQL GROUP BY Statement </vt:lpstr>
      <vt:lpstr>The SQL HAVING Clause </vt:lpstr>
      <vt:lpstr>PowerPoint Presentation</vt:lpstr>
      <vt:lpstr>PowerPoint Presentation</vt:lpstr>
      <vt:lpstr>PowerPoint Presentation</vt:lpstr>
      <vt:lpstr>Sql subquery</vt:lpstr>
      <vt:lpstr> SQL INNER JOIN KEYWORD </vt:lpstr>
      <vt:lpstr>PowerPoint Presentation</vt:lpstr>
      <vt:lpstr>   SQL LEFT JOIN Keyword </vt:lpstr>
      <vt:lpstr>PowerPoint Presentation</vt:lpstr>
      <vt:lpstr>                   SQL RIGHT JOIN Keyword </vt:lpstr>
      <vt:lpstr>PowerPoint Presentation</vt:lpstr>
      <vt:lpstr>PowerPoint Presentation</vt:lpstr>
      <vt:lpstr>  SQL FULL OUTER JOIN Keyword </vt:lpstr>
      <vt:lpstr>PowerPoint Presentation</vt:lpstr>
      <vt:lpstr>Self join query</vt:lpstr>
      <vt:lpstr>PowerPoint Presentation</vt:lpstr>
      <vt:lpstr>find employees whose salary is greater than their managers salary.[self join]</vt:lpstr>
      <vt:lpstr>PowerPoint Presentation</vt:lpstr>
      <vt:lpstr>find employees whose salary is greater than their managers salary.[self join]</vt:lpstr>
      <vt:lpstr>PowerPoint Presentation</vt:lpstr>
      <vt:lpstr>PowerPoint Presentation</vt:lpstr>
      <vt:lpstr>PowerPoint Presentation</vt:lpstr>
      <vt:lpstr>PowerPoint Presentation</vt:lpstr>
      <vt:lpstr>PowerPoint Presentation</vt:lpstr>
      <vt:lpstr>Cross join</vt:lpstr>
      <vt:lpstr>PowerPoint Presentation</vt:lpstr>
      <vt:lpstr>PowerPoint Presentation</vt:lpstr>
      <vt:lpstr>PowerPoint Presentation</vt:lpstr>
      <vt:lpstr>PowerPoint Presentation</vt:lpstr>
      <vt:lpstr>PowerPoint Presentation</vt:lpstr>
      <vt:lpstr>PowerPoint Presentation</vt:lpstr>
      <vt:lpstr>Intersect operator</vt:lpstr>
      <vt:lpstr>PowerPoint Presentation</vt:lpstr>
      <vt:lpstr>PowerPoint Presentation</vt:lpstr>
      <vt:lpstr>PowerPoint Presentation</vt:lpstr>
      <vt:lpstr>PowerPoint Presentation</vt:lpstr>
      <vt:lpstr>Stored procedure</vt:lpstr>
      <vt:lpstr>PowerPoint Presentation</vt:lpstr>
      <vt:lpstr>Query by example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queries</dc:title>
  <dc:creator>Dell</dc:creator>
  <cp:lastModifiedBy>Dell</cp:lastModifiedBy>
  <cp:revision>156</cp:revision>
  <dcterms:created xsi:type="dcterms:W3CDTF">2022-06-04T12:48:41Z</dcterms:created>
  <dcterms:modified xsi:type="dcterms:W3CDTF">2025-11-23T02:33:35Z</dcterms:modified>
</cp:coreProperties>
</file>